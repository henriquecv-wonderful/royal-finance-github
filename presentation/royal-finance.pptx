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media/image1.jpeg" ContentType="image/jpeg"/>
  <Override PartName="/ppt/media/image2.jpeg" ContentType="image/jpe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</p:sldIdLst>
  <p:sldSz cx="18288000" cy="10287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457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914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1371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18288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22860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2743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3200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3657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 b="def" i="def"/>
      <a:tcStyle>
        <a:tcBdr/>
        <a:fill>
          <a:solidFill>
            <a:srgbClr val="EFF3E9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 b="def" i="def"/>
      <a:tcStyle>
        <a:tcBdr/>
        <a:fill>
          <a:solidFill>
            <a:srgbClr val="FDEE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Shape 9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9" name="Shape 9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1200">
        <a:latin typeface="+mn-lt"/>
        <a:ea typeface="+mn-ea"/>
        <a:cs typeface="+mn-cs"/>
        <a:sym typeface="Calibri"/>
      </a:defRPr>
    </a:lvl1pPr>
    <a:lvl2pPr indent="228600" defTabSz="457200" latinLnBrk="0">
      <a:defRPr sz="1200">
        <a:latin typeface="+mn-lt"/>
        <a:ea typeface="+mn-ea"/>
        <a:cs typeface="+mn-cs"/>
        <a:sym typeface="Calibri"/>
      </a:defRPr>
    </a:lvl2pPr>
    <a:lvl3pPr indent="457200" defTabSz="457200" latinLnBrk="0">
      <a:defRPr sz="1200">
        <a:latin typeface="+mn-lt"/>
        <a:ea typeface="+mn-ea"/>
        <a:cs typeface="+mn-cs"/>
        <a:sym typeface="Calibri"/>
      </a:defRPr>
    </a:lvl3pPr>
    <a:lvl4pPr indent="685800" defTabSz="457200" latinLnBrk="0">
      <a:defRPr sz="1200">
        <a:latin typeface="+mn-lt"/>
        <a:ea typeface="+mn-ea"/>
        <a:cs typeface="+mn-cs"/>
        <a:sym typeface="Calibri"/>
      </a:defRPr>
    </a:lvl4pPr>
    <a:lvl5pPr indent="914400" defTabSz="457200" latinLnBrk="0">
      <a:defRPr sz="1200">
        <a:latin typeface="+mn-lt"/>
        <a:ea typeface="+mn-ea"/>
        <a:cs typeface="+mn-cs"/>
        <a:sym typeface="Calibri"/>
      </a:defRPr>
    </a:lvl5pPr>
    <a:lvl6pPr indent="1143000" defTabSz="457200" latinLnBrk="0">
      <a:defRPr sz="1200">
        <a:latin typeface="+mn-lt"/>
        <a:ea typeface="+mn-ea"/>
        <a:cs typeface="+mn-cs"/>
        <a:sym typeface="Calibri"/>
      </a:defRPr>
    </a:lvl6pPr>
    <a:lvl7pPr indent="1371600" defTabSz="457200" latinLnBrk="0">
      <a:defRPr sz="1200">
        <a:latin typeface="+mn-lt"/>
        <a:ea typeface="+mn-ea"/>
        <a:cs typeface="+mn-cs"/>
        <a:sym typeface="Calibri"/>
      </a:defRPr>
    </a:lvl7pPr>
    <a:lvl8pPr indent="1600200" defTabSz="457200" latinLnBrk="0">
      <a:defRPr sz="1200">
        <a:latin typeface="+mn-lt"/>
        <a:ea typeface="+mn-ea"/>
        <a:cs typeface="+mn-cs"/>
        <a:sym typeface="Calibri"/>
      </a:defRPr>
    </a:lvl8pPr>
    <a:lvl9pPr indent="1828800" defTabSz="4572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45720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91440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137160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182880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1" name="Body Level One…"/>
          <p:cNvSpPr txBox="1"/>
          <p:nvPr>
            <p:ph type="body" sz="quarter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/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</p:spPr>
        <p:txBody>
          <a:bodyPr anchor="t"/>
          <a:lstStyle>
            <a:lvl1pPr algn="l">
              <a:defRPr b="1" cap="all" sz="4000"/>
            </a:lvl1pPr>
          </a:lstStyle>
          <a:p>
            <a:pPr/>
            <a:r>
              <a:t>Title Text</a:t>
            </a:r>
          </a:p>
        </p:txBody>
      </p:sp>
      <p:sp>
        <p:nvSpPr>
          <p:cNvPr id="30" name="Body Level One…"/>
          <p:cNvSpPr txBox="1"/>
          <p:nvPr>
            <p:ph type="body" sz="quarter" idx="1"/>
          </p:nvPr>
        </p:nvSpPr>
        <p:spPr>
          <a:xfrm>
            <a:off x="722312" y="2906713"/>
            <a:ext cx="7772401" cy="1500188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4572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9144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13716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18288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9" name="Body Level One…"/>
          <p:cNvSpPr txBox="1"/>
          <p:nvPr>
            <p:ph type="body" sz="quarter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39" indent="-320039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8" name="Body Level One…"/>
          <p:cNvSpPr txBox="1"/>
          <p:nvPr>
            <p:ph type="body" sz="quarter" idx="1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b="1" sz="2400"/>
            </a:lvl1pPr>
            <a:lvl2pPr marL="0" indent="457200">
              <a:spcBef>
                <a:spcPts val="500"/>
              </a:spcBef>
              <a:buSzTx/>
              <a:buFontTx/>
              <a:buNone/>
              <a:defRPr b="1" sz="2400"/>
            </a:lvl2pPr>
            <a:lvl3pPr marL="0" indent="914400">
              <a:spcBef>
                <a:spcPts val="500"/>
              </a:spcBef>
              <a:buSzTx/>
              <a:buFontTx/>
              <a:buNone/>
              <a:defRPr b="1" sz="2400"/>
            </a:lvl3pPr>
            <a:lvl4pPr marL="0" indent="1371600">
              <a:spcBef>
                <a:spcPts val="500"/>
              </a:spcBef>
              <a:buSzTx/>
              <a:buFontTx/>
              <a:buNone/>
              <a:defRPr b="1" sz="2400"/>
            </a:lvl4pPr>
            <a:lvl5pPr marL="0" indent="1828800">
              <a:spcBef>
                <a:spcPts val="500"/>
              </a:spcBef>
              <a:buSzTx/>
              <a:buFontTx/>
              <a:buNone/>
              <a:defRPr b="1"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/>
          <p:nvPr>
            <p:ph type="body" sz="quarter" idx="21"/>
          </p:nvPr>
        </p:nvSpPr>
        <p:spPr>
          <a:xfrm>
            <a:off x="4645025" y="1535112"/>
            <a:ext cx="4041775" cy="639763"/>
          </a:xfrm>
          <a:prstGeom prst="rect">
            <a:avLst/>
          </a:prstGeom>
        </p:spPr>
        <p:txBody>
          <a:bodyPr anchor="b"/>
          <a:lstStyle/>
          <a:p>
            <a:pPr marL="0" indent="0">
              <a:spcBef>
                <a:spcPts val="500"/>
              </a:spcBef>
              <a:buSzTx/>
              <a:buFontTx/>
              <a:buNone/>
              <a:defRPr b="1" sz="2400"/>
            </a:pPr>
          </a:p>
        </p:txBody>
      </p:sp>
      <p:sp>
        <p:nvSpPr>
          <p:cNvPr id="5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/>
          <p:nvPr>
            <p:ph type="title"/>
          </p:nvPr>
        </p:nvSpPr>
        <p:spPr>
          <a:xfrm>
            <a:off x="457200" y="273050"/>
            <a:ext cx="3008314" cy="1162050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73" name="Body Level One…"/>
          <p:cNvSpPr txBox="1"/>
          <p:nvPr>
            <p:ph type="body" sz="quarter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/>
          <p:nvPr>
            <p:ph type="body" sz="quarter" idx="21"/>
          </p:nvPr>
        </p:nvSpPr>
        <p:spPr>
          <a:xfrm>
            <a:off x="457199" y="1435100"/>
            <a:ext cx="3008315" cy="4691063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300"/>
              </a:spcBef>
              <a:buSzTx/>
              <a:buFontTx/>
              <a:buNone/>
              <a:defRPr sz="1400"/>
            </a:pPr>
          </a:p>
        </p:txBody>
      </p:sp>
      <p:sp>
        <p:nvSpPr>
          <p:cNvPr id="7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/>
          <p:nvPr>
            <p:ph type="title"/>
          </p:nvPr>
        </p:nvSpPr>
        <p:spPr>
          <a:xfrm>
            <a:off x="1792288" y="4800600"/>
            <a:ext cx="5486401" cy="566738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83" name="Picture Placeholder 2"/>
          <p:cNvSpPr/>
          <p:nvPr>
            <p:ph type="pic" sz="quarter" idx="21"/>
          </p:nvPr>
        </p:nvSpPr>
        <p:spPr>
          <a:xfrm>
            <a:off x="1792288" y="612775"/>
            <a:ext cx="5486401" cy="4114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84" name="Body Level One…"/>
          <p:cNvSpPr txBox="1"/>
          <p:nvPr>
            <p:ph type="body" sz="quarter" idx="1"/>
          </p:nvPr>
        </p:nvSpPr>
        <p:spPr>
          <a:xfrm>
            <a:off x="1792288" y="5367337"/>
            <a:ext cx="5486401" cy="804863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457200">
              <a:spcBef>
                <a:spcPts val="300"/>
              </a:spcBef>
              <a:buSzTx/>
              <a:buFontTx/>
              <a:buNone/>
              <a:defRPr sz="1400"/>
            </a:lvl2pPr>
            <a:lvl3pPr marL="0" indent="914400">
              <a:spcBef>
                <a:spcPts val="300"/>
              </a:spcBef>
              <a:buSzTx/>
              <a:buFontTx/>
              <a:buNone/>
              <a:defRPr sz="1400"/>
            </a:lvl3pPr>
            <a:lvl4pPr marL="0" indent="1371600">
              <a:spcBef>
                <a:spcPts val="300"/>
              </a:spcBef>
              <a:buSzTx/>
              <a:buFontTx/>
              <a:buNone/>
              <a:defRPr sz="1400"/>
            </a:lvl4pPr>
            <a:lvl5pPr marL="0" indent="182880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EFAU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Slide Number"/>
          <p:cNvSpPr txBox="1"/>
          <p:nvPr>
            <p:ph type="sldNum" sz="quarter" idx="2"/>
          </p:nvPr>
        </p:nvSpPr>
        <p:spPr>
          <a:xfrm>
            <a:off x="12848154" y="9393557"/>
            <a:ext cx="258248" cy="281937"/>
          </a:xfrm>
          <a:prstGeom prst="rect">
            <a:avLst/>
          </a:prstGeom>
        </p:spPr>
        <p:txBody>
          <a:bodyPr lIns="45718" tIns="45718" rIns="45718" bIns="45718"/>
          <a:lstStyle>
            <a:lvl1pPr defTabSz="914400">
              <a:defRPr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914400" y="138112"/>
            <a:ext cx="16459200" cy="22621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914400" y="2400300"/>
            <a:ext cx="16459200" cy="7886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transition xmlns:p14="http://schemas.microsoft.com/office/powerpoint/2010/main" spd="med" advClick="1"/>
  <p:txStyles>
    <p:titleStyle>
      <a:lvl1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titleStyle>
    <p:bodyStyle>
      <a:lvl1pPr marL="342900" marR="0" indent="-3429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783771" marR="0" indent="-326571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1219200" marR="0" indent="-3048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17373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21945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26517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31089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35661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40233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1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eg"/></Relationships>
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102" name="Picture 2" descr="Picture 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19100" y="342900"/>
            <a:ext cx="1143000" cy="285750"/>
          </a:xfrm>
          <a:prstGeom prst="rect">
            <a:avLst/>
          </a:prstGeom>
          <a:ln w="12700">
            <a:miter lim="400000"/>
          </a:ln>
        </p:spPr>
      </p:pic>
      <p:sp>
        <p:nvSpPr>
          <p:cNvPr id="103" name="t"/>
          <p:cNvSpPr txBox="1"/>
          <p:nvPr/>
        </p:nvSpPr>
        <p:spPr>
          <a:xfrm>
            <a:off x="419100" y="7124700"/>
            <a:ext cx="15716250" cy="1466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84236"/>
              </a:lnSpc>
              <a:defRPr sz="9100">
                <a:solidFill>
                  <a:srgbClr val="FFFFFF"/>
                </a:solidFill>
                <a:latin typeface="Inter ExtraLight"/>
                <a:ea typeface="Inter ExtraLight"/>
                <a:cs typeface="Inter ExtraLight"/>
                <a:sym typeface="Inter ExtraLight"/>
              </a:defRPr>
            </a:lvl1pPr>
          </a:lstStyle>
          <a:p>
            <a:pPr/>
            <a:r>
              <a:t>Royal Finance</a:t>
            </a:r>
          </a:p>
        </p:txBody>
      </p:sp>
      <p:sp>
        <p:nvSpPr>
          <p:cNvPr id="104" name="t"/>
          <p:cNvSpPr txBox="1"/>
          <p:nvPr/>
        </p:nvSpPr>
        <p:spPr>
          <a:xfrm>
            <a:off x="419100" y="8801100"/>
            <a:ext cx="15716250" cy="381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12153"/>
              </a:lnSpc>
              <a:defRPr sz="2000">
                <a:solidFill>
                  <a:srgbClr val="B5B5B7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An inbound voice agent for credit-card servicing</a:t>
            </a:r>
          </a:p>
        </p:txBody>
      </p:sp>
      <p:sp>
        <p:nvSpPr>
          <p:cNvPr id="105" name="t"/>
          <p:cNvSpPr txBox="1"/>
          <p:nvPr/>
        </p:nvSpPr>
        <p:spPr>
          <a:xfrm>
            <a:off x="419100" y="9201150"/>
            <a:ext cx="15716250" cy="381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08000"/>
              </a:lnSpc>
              <a:defRPr sz="2000">
                <a:solidFill>
                  <a:srgbClr val="FFFFFF">
                    <a:alpha val="64000"/>
                  </a:srgbClr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FDE certification track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Text 0"/>
          <p:cNvSpPr txBox="1"/>
          <p:nvPr/>
        </p:nvSpPr>
        <p:spPr>
          <a:xfrm>
            <a:off x="419100" y="342899"/>
            <a:ext cx="16344900" cy="3723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 defTabSz="914400">
              <a:lnSpc>
                <a:spcPct val="108000"/>
              </a:lnSpc>
              <a:defRPr sz="2000">
                <a:solidFill>
                  <a:srgbClr val="FFFFFF">
                    <a:alpha val="42000"/>
                  </a:srgbClr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Wonderful in brief</a:t>
            </a:r>
          </a:p>
        </p:txBody>
      </p:sp>
      <p:sp>
        <p:nvSpPr>
          <p:cNvPr id="108" name="Text 1"/>
          <p:cNvSpPr txBox="1"/>
          <p:nvPr/>
        </p:nvSpPr>
        <p:spPr>
          <a:xfrm>
            <a:off x="419100" y="791468"/>
            <a:ext cx="16344900" cy="5492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 defTabSz="822958">
              <a:lnSpc>
                <a:spcPct val="81930"/>
              </a:lnSpc>
              <a:defRPr sz="3200">
                <a:solidFill>
                  <a:srgbClr val="FFFFFF"/>
                </a:solidFill>
                <a:latin typeface="Inter ExtraLight"/>
                <a:ea typeface="Inter ExtraLight"/>
                <a:cs typeface="Inter ExtraLight"/>
                <a:sym typeface="Inter ExtraLight"/>
              </a:defRPr>
            </a:lvl1pPr>
          </a:lstStyle>
          <a:p>
            <a:pPr/>
            <a:r>
              <a:t>Enterprise AI that creates value — not just a checkbox</a:t>
            </a:r>
          </a:p>
        </p:txBody>
      </p:sp>
      <p:sp>
        <p:nvSpPr>
          <p:cNvPr id="109" name="Text 2"/>
          <p:cNvSpPr txBox="1"/>
          <p:nvPr/>
        </p:nvSpPr>
        <p:spPr>
          <a:xfrm>
            <a:off x="457255" y="1416942"/>
            <a:ext cx="14323696" cy="732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 defTabSz="914400">
              <a:lnSpc>
                <a:spcPct val="112153"/>
              </a:lnSpc>
              <a:defRPr sz="2000">
                <a:solidFill>
                  <a:srgbClr val="B5B5B7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Critical workflows go from ambition to governed production in weeks, with local teams that build inside your environment and an open platform designed to hand over control.</a:t>
            </a:r>
          </a:p>
        </p:txBody>
      </p:sp>
      <p:sp>
        <p:nvSpPr>
          <p:cNvPr id="110" name="Shape 3"/>
          <p:cNvSpPr/>
          <p:nvPr/>
        </p:nvSpPr>
        <p:spPr>
          <a:xfrm>
            <a:off x="419100" y="5143500"/>
            <a:ext cx="4133850" cy="4000500"/>
          </a:xfrm>
          <a:prstGeom prst="roundRect">
            <a:avLst>
              <a:gd name="adj" fmla="val 2857"/>
            </a:avLst>
          </a:prstGeom>
          <a:solidFill>
            <a:srgbClr val="FFFFFF">
              <a:alpha val="7000"/>
            </a:srgbClr>
          </a:solidFill>
          <a:ln>
            <a:solidFill>
              <a:srgbClr val="FFFFFF">
                <a:alpha val="18000"/>
              </a:srgbClr>
            </a:solidFill>
          </a:ln>
        </p:spPr>
        <p:txBody>
          <a:bodyPr lIns="45718" tIns="45718" rIns="45718" bIns="45718"/>
          <a:lstStyle/>
          <a:p>
            <a:pPr defTabSz="914400">
              <a:defRPr>
                <a:latin typeface="Inter Light"/>
                <a:ea typeface="Inter Light"/>
                <a:cs typeface="Inter Light"/>
                <a:sym typeface="Inter Light"/>
              </a:defRPr>
            </a:pPr>
          </a:p>
        </p:txBody>
      </p:sp>
      <p:sp>
        <p:nvSpPr>
          <p:cNvPr id="111" name="Text 4"/>
          <p:cNvSpPr txBox="1"/>
          <p:nvPr/>
        </p:nvSpPr>
        <p:spPr>
          <a:xfrm>
            <a:off x="771525" y="5534025"/>
            <a:ext cx="3771900" cy="2952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 defTabSz="722376">
              <a:lnSpc>
                <a:spcPct val="74769"/>
              </a:lnSpc>
              <a:defRPr sz="1500">
                <a:solidFill>
                  <a:srgbClr val="4285F4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01</a:t>
            </a:r>
          </a:p>
        </p:txBody>
      </p:sp>
      <p:sp>
        <p:nvSpPr>
          <p:cNvPr id="112" name="Text 5"/>
          <p:cNvSpPr txBox="1"/>
          <p:nvPr/>
        </p:nvSpPr>
        <p:spPr>
          <a:xfrm>
            <a:off x="771525" y="6115050"/>
            <a:ext cx="3771900" cy="4542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 defTabSz="877822">
              <a:lnSpc>
                <a:spcPct val="85500"/>
              </a:lnSpc>
              <a:defRPr sz="2600">
                <a:solidFill>
                  <a:srgbClr val="FFFFFF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Weeks, not months</a:t>
            </a:r>
          </a:p>
        </p:txBody>
      </p:sp>
      <p:sp>
        <p:nvSpPr>
          <p:cNvPr id="113" name="Text 6"/>
          <p:cNvSpPr txBox="1"/>
          <p:nvPr/>
        </p:nvSpPr>
        <p:spPr>
          <a:xfrm>
            <a:off x="771522" y="6797947"/>
            <a:ext cx="3531875" cy="11953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 defTabSz="914400">
              <a:lnSpc>
                <a:spcPct val="124615"/>
              </a:lnSpc>
              <a:defRPr sz="2000">
                <a:solidFill>
                  <a:srgbClr val="FFFFFF">
                    <a:alpha val="64000"/>
                  </a:srgbClr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Critical workflows reach production before the roadmap loses momentum.</a:t>
            </a:r>
          </a:p>
        </p:txBody>
      </p:sp>
      <p:sp>
        <p:nvSpPr>
          <p:cNvPr id="114" name="Shape 7"/>
          <p:cNvSpPr/>
          <p:nvPr/>
        </p:nvSpPr>
        <p:spPr>
          <a:xfrm>
            <a:off x="4857750" y="5143500"/>
            <a:ext cx="4133850" cy="4000500"/>
          </a:xfrm>
          <a:prstGeom prst="roundRect">
            <a:avLst>
              <a:gd name="adj" fmla="val 2857"/>
            </a:avLst>
          </a:prstGeom>
          <a:solidFill>
            <a:srgbClr val="FFFFFF">
              <a:alpha val="7000"/>
            </a:srgbClr>
          </a:solidFill>
          <a:ln>
            <a:solidFill>
              <a:srgbClr val="FFFFFF">
                <a:alpha val="18000"/>
              </a:srgbClr>
            </a:solidFill>
          </a:ln>
        </p:spPr>
        <p:txBody>
          <a:bodyPr lIns="45718" tIns="45718" rIns="45718" bIns="45718"/>
          <a:lstStyle/>
          <a:p>
            <a:pPr defTabSz="914400">
              <a:defRPr>
                <a:latin typeface="Inter Light"/>
                <a:ea typeface="Inter Light"/>
                <a:cs typeface="Inter Light"/>
                <a:sym typeface="Inter Light"/>
              </a:defRPr>
            </a:pPr>
          </a:p>
        </p:txBody>
      </p:sp>
      <p:sp>
        <p:nvSpPr>
          <p:cNvPr id="115" name="Text 8"/>
          <p:cNvSpPr txBox="1"/>
          <p:nvPr/>
        </p:nvSpPr>
        <p:spPr>
          <a:xfrm>
            <a:off x="5210175" y="5534025"/>
            <a:ext cx="3771900" cy="2952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 defTabSz="722376">
              <a:lnSpc>
                <a:spcPct val="74769"/>
              </a:lnSpc>
              <a:defRPr sz="1500">
                <a:solidFill>
                  <a:srgbClr val="4285F4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116" name="Text 9"/>
          <p:cNvSpPr txBox="1"/>
          <p:nvPr/>
        </p:nvSpPr>
        <p:spPr>
          <a:xfrm>
            <a:off x="5210173" y="6115050"/>
            <a:ext cx="3531874" cy="8704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 defTabSz="914400">
              <a:lnSpc>
                <a:spcPct val="85500"/>
              </a:lnSpc>
              <a:defRPr sz="2800">
                <a:solidFill>
                  <a:srgbClr val="FFFFFF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Any model, any modality</a:t>
            </a:r>
          </a:p>
        </p:txBody>
      </p:sp>
      <p:sp>
        <p:nvSpPr>
          <p:cNvPr id="117" name="Text 10"/>
          <p:cNvSpPr txBox="1"/>
          <p:nvPr/>
        </p:nvSpPr>
        <p:spPr>
          <a:xfrm>
            <a:off x="5210173" y="7214144"/>
            <a:ext cx="3531874" cy="11953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 defTabSz="914400">
              <a:lnSpc>
                <a:spcPct val="124615"/>
              </a:lnSpc>
              <a:defRPr sz="2000">
                <a:solidFill>
                  <a:srgbClr val="FFFFFF">
                    <a:alpha val="64000"/>
                  </a:srgbClr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Optimize every task for quality and cost without committing to one provider.</a:t>
            </a:r>
          </a:p>
        </p:txBody>
      </p:sp>
      <p:sp>
        <p:nvSpPr>
          <p:cNvPr id="118" name="Shape 11"/>
          <p:cNvSpPr/>
          <p:nvPr/>
        </p:nvSpPr>
        <p:spPr>
          <a:xfrm>
            <a:off x="9296400" y="5143500"/>
            <a:ext cx="4133850" cy="4000500"/>
          </a:xfrm>
          <a:prstGeom prst="roundRect">
            <a:avLst>
              <a:gd name="adj" fmla="val 2857"/>
            </a:avLst>
          </a:prstGeom>
          <a:solidFill>
            <a:srgbClr val="FFFFFF">
              <a:alpha val="7000"/>
            </a:srgbClr>
          </a:solidFill>
          <a:ln>
            <a:solidFill>
              <a:srgbClr val="FFFFFF">
                <a:alpha val="18000"/>
              </a:srgbClr>
            </a:solidFill>
          </a:ln>
        </p:spPr>
        <p:txBody>
          <a:bodyPr lIns="45718" tIns="45718" rIns="45718" bIns="45718"/>
          <a:lstStyle/>
          <a:p>
            <a:pPr defTabSz="914400">
              <a:defRPr>
                <a:latin typeface="Inter Light"/>
                <a:ea typeface="Inter Light"/>
                <a:cs typeface="Inter Light"/>
                <a:sym typeface="Inter Light"/>
              </a:defRPr>
            </a:pPr>
          </a:p>
        </p:txBody>
      </p:sp>
      <p:sp>
        <p:nvSpPr>
          <p:cNvPr id="119" name="Text 12"/>
          <p:cNvSpPr txBox="1"/>
          <p:nvPr/>
        </p:nvSpPr>
        <p:spPr>
          <a:xfrm>
            <a:off x="9648825" y="5534025"/>
            <a:ext cx="3771900" cy="2952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 defTabSz="722376">
              <a:lnSpc>
                <a:spcPct val="74769"/>
              </a:lnSpc>
              <a:defRPr sz="1500">
                <a:solidFill>
                  <a:srgbClr val="4285F4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03</a:t>
            </a:r>
          </a:p>
        </p:txBody>
      </p:sp>
      <p:sp>
        <p:nvSpPr>
          <p:cNvPr id="120" name="Text 13"/>
          <p:cNvSpPr txBox="1"/>
          <p:nvPr/>
        </p:nvSpPr>
        <p:spPr>
          <a:xfrm>
            <a:off x="9648824" y="6115050"/>
            <a:ext cx="3531874" cy="8704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 defTabSz="914400">
              <a:lnSpc>
                <a:spcPct val="85500"/>
              </a:lnSpc>
              <a:defRPr sz="2800">
                <a:solidFill>
                  <a:srgbClr val="FFFFFF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Built with you, handed over</a:t>
            </a:r>
          </a:p>
        </p:txBody>
      </p:sp>
      <p:sp>
        <p:nvSpPr>
          <p:cNvPr id="121" name="Text 14"/>
          <p:cNvSpPr txBox="1"/>
          <p:nvPr/>
        </p:nvSpPr>
        <p:spPr>
          <a:xfrm>
            <a:off x="9648824" y="7214144"/>
            <a:ext cx="3531874" cy="11953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 defTabSz="914400">
              <a:lnSpc>
                <a:spcPct val="124615"/>
              </a:lnSpc>
              <a:defRPr sz="2000">
                <a:solidFill>
                  <a:srgbClr val="FFFFFF">
                    <a:alpha val="64000"/>
                  </a:srgbClr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Local FDE and strategy teams build capability inside your environment.</a:t>
            </a:r>
          </a:p>
        </p:txBody>
      </p:sp>
      <p:sp>
        <p:nvSpPr>
          <p:cNvPr id="122" name="Shape 15"/>
          <p:cNvSpPr/>
          <p:nvPr/>
        </p:nvSpPr>
        <p:spPr>
          <a:xfrm>
            <a:off x="13735050" y="5143500"/>
            <a:ext cx="4133850" cy="4000500"/>
          </a:xfrm>
          <a:prstGeom prst="roundRect">
            <a:avLst>
              <a:gd name="adj" fmla="val 2857"/>
            </a:avLst>
          </a:prstGeom>
          <a:solidFill>
            <a:srgbClr val="FFFFFF">
              <a:alpha val="7000"/>
            </a:srgbClr>
          </a:solidFill>
          <a:ln>
            <a:solidFill>
              <a:srgbClr val="FFFFFF">
                <a:alpha val="18000"/>
              </a:srgbClr>
            </a:solidFill>
          </a:ln>
        </p:spPr>
        <p:txBody>
          <a:bodyPr lIns="45718" tIns="45718" rIns="45718" bIns="45718"/>
          <a:lstStyle/>
          <a:p>
            <a:pPr defTabSz="914400">
              <a:defRPr>
                <a:latin typeface="Inter Light"/>
                <a:ea typeface="Inter Light"/>
                <a:cs typeface="Inter Light"/>
                <a:sym typeface="Inter Light"/>
              </a:defRPr>
            </a:pPr>
          </a:p>
        </p:txBody>
      </p:sp>
      <p:sp>
        <p:nvSpPr>
          <p:cNvPr id="123" name="Text 16"/>
          <p:cNvSpPr txBox="1"/>
          <p:nvPr/>
        </p:nvSpPr>
        <p:spPr>
          <a:xfrm>
            <a:off x="14087475" y="5534025"/>
            <a:ext cx="3771900" cy="2952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 defTabSz="722376">
              <a:lnSpc>
                <a:spcPct val="74769"/>
              </a:lnSpc>
              <a:defRPr sz="1500">
                <a:solidFill>
                  <a:srgbClr val="4285F4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04</a:t>
            </a:r>
          </a:p>
        </p:txBody>
      </p:sp>
      <p:sp>
        <p:nvSpPr>
          <p:cNvPr id="124" name="Text 17"/>
          <p:cNvSpPr txBox="1"/>
          <p:nvPr/>
        </p:nvSpPr>
        <p:spPr>
          <a:xfrm>
            <a:off x="14087475" y="6115050"/>
            <a:ext cx="3771900" cy="4542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 defTabSz="877822">
              <a:lnSpc>
                <a:spcPct val="85500"/>
              </a:lnSpc>
              <a:defRPr sz="2600">
                <a:solidFill>
                  <a:srgbClr val="FFFFFF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Export everything</a:t>
            </a:r>
          </a:p>
        </p:txBody>
      </p:sp>
      <p:sp>
        <p:nvSpPr>
          <p:cNvPr id="125" name="Text 18"/>
          <p:cNvSpPr txBox="1"/>
          <p:nvPr/>
        </p:nvSpPr>
        <p:spPr>
          <a:xfrm>
            <a:off x="14087473" y="6797947"/>
            <a:ext cx="3531874" cy="11953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 defTabSz="914400">
              <a:lnSpc>
                <a:spcPct val="124615"/>
              </a:lnSpc>
              <a:defRPr sz="2000">
                <a:solidFill>
                  <a:srgbClr val="FFFFFF">
                    <a:alpha val="64000"/>
                  </a:srgbClr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Agents, skills, tools, governance, and apps can leave through UI or API.</a:t>
            </a:r>
          </a:p>
        </p:txBody>
      </p:sp>
      <p:pic>
        <p:nvPicPr>
          <p:cNvPr id="126" name="Image 0" descr="Image 0"/>
          <p:cNvPicPr>
            <a:picLocks noChangeAspect="1"/>
          </p:cNvPicPr>
          <p:nvPr/>
        </p:nvPicPr>
        <p:blipFill>
          <a:blip r:embed="rId2">
            <a:alphaModFix amt="42000"/>
            <a:extLst/>
          </a:blip>
          <a:stretch>
            <a:fillRect/>
          </a:stretch>
        </p:blipFill>
        <p:spPr>
          <a:xfrm>
            <a:off x="16725900" y="9620250"/>
            <a:ext cx="1143000" cy="28575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eyebrow"/>
          <p:cNvSpPr txBox="1"/>
          <p:nvPr/>
        </p:nvSpPr>
        <p:spPr>
          <a:xfrm>
            <a:off x="419100" y="342900"/>
            <a:ext cx="16344900" cy="3714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08000"/>
              </a:lnSpc>
              <a:defRPr sz="2000">
                <a:solidFill>
                  <a:srgbClr val="FFFFFF">
                    <a:alpha val="42000"/>
                  </a:srgbClr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Wonderful in brief</a:t>
            </a:r>
          </a:p>
        </p:txBody>
      </p:sp>
      <p:sp>
        <p:nvSpPr>
          <p:cNvPr id="129" name="h1"/>
          <p:cNvSpPr txBox="1"/>
          <p:nvPr/>
        </p:nvSpPr>
        <p:spPr>
          <a:xfrm>
            <a:off x="419100" y="790575"/>
            <a:ext cx="16344900" cy="5524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81930"/>
              </a:lnSpc>
              <a:defRPr sz="3200">
                <a:solidFill>
                  <a:srgbClr val="FFFFFF"/>
                </a:solidFill>
                <a:latin typeface="Inter ExtraLight"/>
                <a:ea typeface="Inter ExtraLight"/>
                <a:cs typeface="Inter ExtraLight"/>
                <a:sym typeface="Inter ExtraLight"/>
              </a:defRPr>
            </a:lvl1pPr>
          </a:lstStyle>
          <a:p>
            <a:pPr/>
            <a:r>
              <a:t>The scale behind the delivery</a:t>
            </a:r>
          </a:p>
        </p:txBody>
      </p:sp>
      <p:sp>
        <p:nvSpPr>
          <p:cNvPr id="130" name="deck"/>
          <p:cNvSpPr txBox="1"/>
          <p:nvPr/>
        </p:nvSpPr>
        <p:spPr>
          <a:xfrm>
            <a:off x="419100" y="1390650"/>
            <a:ext cx="15297150" cy="3905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12153"/>
              </a:lnSpc>
              <a:defRPr sz="2000">
                <a:solidFill>
                  <a:srgbClr val="B5B5B7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Capital, footprint and people — the reason a build like this one gets local hands on it rather than a support ticket.</a:t>
            </a:r>
          </a:p>
        </p:txBody>
      </p:sp>
      <p:pic>
        <p:nvPicPr>
          <p:cNvPr id="131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6725900" y="9620250"/>
            <a:ext cx="1143000" cy="285750"/>
          </a:xfrm>
          <a:prstGeom prst="rect">
            <a:avLst/>
          </a:prstGeom>
          <a:ln w="12700">
            <a:miter lim="400000"/>
          </a:ln>
        </p:spPr>
      </p:pic>
      <p:sp>
        <p:nvSpPr>
          <p:cNvPr id="132" name="Rounded Rectangle 5"/>
          <p:cNvSpPr/>
          <p:nvPr/>
        </p:nvSpPr>
        <p:spPr>
          <a:xfrm>
            <a:off x="419100" y="4476750"/>
            <a:ext cx="17449800" cy="4095750"/>
          </a:xfrm>
          <a:prstGeom prst="roundRect">
            <a:avLst>
              <a:gd name="adj" fmla="val 3256"/>
            </a:avLst>
          </a:prstGeom>
          <a:solidFill>
            <a:srgbClr val="FFFFFF">
              <a:alpha val="10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133" name="t"/>
          <p:cNvSpPr txBox="1"/>
          <p:nvPr/>
        </p:nvSpPr>
        <p:spPr>
          <a:xfrm>
            <a:off x="1152525" y="5638800"/>
            <a:ext cx="5343525" cy="10953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 defTabSz="411479">
              <a:lnSpc>
                <a:spcPct val="80000"/>
              </a:lnSpc>
              <a:defRPr sz="6840">
                <a:solidFill>
                  <a:srgbClr val="FFFFFF"/>
                </a:solidFill>
                <a:latin typeface="Inter ExtraLight"/>
                <a:ea typeface="Inter ExtraLight"/>
                <a:cs typeface="Inter ExtraLight"/>
                <a:sym typeface="Inter ExtraLight"/>
              </a:defRPr>
            </a:lvl1pPr>
          </a:lstStyle>
          <a:p>
            <a:pPr/>
            <a:r>
              <a:t>$800M+</a:t>
            </a:r>
          </a:p>
        </p:txBody>
      </p:sp>
      <p:sp>
        <p:nvSpPr>
          <p:cNvPr id="134" name="t"/>
          <p:cNvSpPr txBox="1"/>
          <p:nvPr/>
        </p:nvSpPr>
        <p:spPr>
          <a:xfrm>
            <a:off x="1152525" y="6981825"/>
            <a:ext cx="5343525" cy="3333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10893"/>
              </a:lnSpc>
              <a:defRPr sz="1700">
                <a:solidFill>
                  <a:srgbClr val="FFFFFF">
                    <a:alpha val="64000"/>
                  </a:srgbClr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$550M on Series C</a:t>
            </a:r>
          </a:p>
        </p:txBody>
      </p:sp>
      <p:sp>
        <p:nvSpPr>
          <p:cNvPr id="135" name="t"/>
          <p:cNvSpPr txBox="1"/>
          <p:nvPr/>
        </p:nvSpPr>
        <p:spPr>
          <a:xfrm>
            <a:off x="6715125" y="5638800"/>
            <a:ext cx="5343525" cy="10953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 defTabSz="411479">
              <a:lnSpc>
                <a:spcPct val="80000"/>
              </a:lnSpc>
              <a:defRPr sz="6840">
                <a:solidFill>
                  <a:srgbClr val="FFFFFF"/>
                </a:solidFill>
                <a:latin typeface="Inter ExtraLight"/>
                <a:ea typeface="Inter ExtraLight"/>
                <a:cs typeface="Inter ExtraLight"/>
                <a:sym typeface="Inter ExtraLight"/>
              </a:defRPr>
            </a:lvl1pPr>
          </a:lstStyle>
          <a:p>
            <a:pPr/>
            <a:r>
              <a:t>35+</a:t>
            </a:r>
          </a:p>
        </p:txBody>
      </p:sp>
      <p:sp>
        <p:nvSpPr>
          <p:cNvPr id="136" name="t"/>
          <p:cNvSpPr txBox="1"/>
          <p:nvPr/>
        </p:nvSpPr>
        <p:spPr>
          <a:xfrm>
            <a:off x="6715125" y="6981825"/>
            <a:ext cx="5343525" cy="3333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10893"/>
              </a:lnSpc>
              <a:defRPr sz="1700">
                <a:solidFill>
                  <a:srgbClr val="FFFFFF">
                    <a:alpha val="64000"/>
                  </a:srgbClr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Markets</a:t>
            </a:r>
          </a:p>
        </p:txBody>
      </p:sp>
      <p:sp>
        <p:nvSpPr>
          <p:cNvPr id="137" name="Rectangle 10"/>
          <p:cNvSpPr/>
          <p:nvPr/>
        </p:nvSpPr>
        <p:spPr>
          <a:xfrm>
            <a:off x="6361112" y="5638800"/>
            <a:ext cx="12701" cy="167640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138" name="t"/>
          <p:cNvSpPr txBox="1"/>
          <p:nvPr/>
        </p:nvSpPr>
        <p:spPr>
          <a:xfrm>
            <a:off x="12277725" y="5638800"/>
            <a:ext cx="5343525" cy="10953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 defTabSz="411479">
              <a:lnSpc>
                <a:spcPct val="80000"/>
              </a:lnSpc>
              <a:defRPr sz="6840">
                <a:solidFill>
                  <a:srgbClr val="FFFFFF"/>
                </a:solidFill>
                <a:latin typeface="Inter ExtraLight"/>
                <a:ea typeface="Inter ExtraLight"/>
                <a:cs typeface="Inter ExtraLight"/>
                <a:sym typeface="Inter ExtraLight"/>
              </a:defRPr>
            </a:lvl1pPr>
          </a:lstStyle>
          <a:p>
            <a:pPr/>
            <a:r>
              <a:t>650+</a:t>
            </a:r>
          </a:p>
        </p:txBody>
      </p:sp>
      <p:sp>
        <p:nvSpPr>
          <p:cNvPr id="139" name="t"/>
          <p:cNvSpPr txBox="1"/>
          <p:nvPr/>
        </p:nvSpPr>
        <p:spPr>
          <a:xfrm>
            <a:off x="12277725" y="6981825"/>
            <a:ext cx="5343525" cy="3333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10893"/>
              </a:lnSpc>
              <a:defRPr sz="1700">
                <a:solidFill>
                  <a:srgbClr val="FFFFFF">
                    <a:alpha val="64000"/>
                  </a:srgbClr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People</a:t>
            </a:r>
          </a:p>
        </p:txBody>
      </p:sp>
      <p:sp>
        <p:nvSpPr>
          <p:cNvPr id="140" name="Rectangle 13"/>
          <p:cNvSpPr/>
          <p:nvPr/>
        </p:nvSpPr>
        <p:spPr>
          <a:xfrm>
            <a:off x="11914187" y="5638800"/>
            <a:ext cx="12701" cy="167640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141" name="footnote"/>
          <p:cNvSpPr txBox="1"/>
          <p:nvPr/>
        </p:nvSpPr>
        <p:spPr>
          <a:xfrm>
            <a:off x="419100" y="8829675"/>
            <a:ext cx="17449800" cy="3619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19107"/>
              </a:lnSpc>
              <a:defRPr sz="1700">
                <a:solidFill>
                  <a:srgbClr val="FFFFFF">
                    <a:alpha val="42000"/>
                  </a:srgbClr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Read more on our blog: https://www.wonderful.ai/blog-articles/wonderful-raises-550m-series-c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eyebrow"/>
          <p:cNvSpPr txBox="1"/>
          <p:nvPr/>
        </p:nvSpPr>
        <p:spPr>
          <a:xfrm>
            <a:off x="419100" y="342900"/>
            <a:ext cx="16344900" cy="3714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08000"/>
              </a:lnSpc>
              <a:defRPr sz="2000">
                <a:solidFill>
                  <a:srgbClr val="FFFFFF">
                    <a:alpha val="42000"/>
                  </a:srgbClr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The goal</a:t>
            </a:r>
          </a:p>
        </p:txBody>
      </p:sp>
      <p:sp>
        <p:nvSpPr>
          <p:cNvPr id="144" name="h1"/>
          <p:cNvSpPr txBox="1"/>
          <p:nvPr/>
        </p:nvSpPr>
        <p:spPr>
          <a:xfrm>
            <a:off x="419100" y="790575"/>
            <a:ext cx="16344900" cy="5524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81930"/>
              </a:lnSpc>
              <a:defRPr sz="3200">
                <a:solidFill>
                  <a:srgbClr val="FFFFFF"/>
                </a:solidFill>
                <a:latin typeface="Inter ExtraLight"/>
                <a:ea typeface="Inter ExtraLight"/>
                <a:cs typeface="Inter ExtraLight"/>
                <a:sym typeface="Inter ExtraLight"/>
              </a:defRPr>
            </a:lvl1pPr>
          </a:lstStyle>
          <a:p>
            <a:pPr/>
            <a:r>
              <a:t>What was built, and how this session runs</a:t>
            </a:r>
          </a:p>
        </p:txBody>
      </p:sp>
      <p:sp>
        <p:nvSpPr>
          <p:cNvPr id="145" name="deck"/>
          <p:cNvSpPr txBox="1"/>
          <p:nvPr/>
        </p:nvSpPr>
        <p:spPr>
          <a:xfrm>
            <a:off x="419100" y="1390650"/>
            <a:ext cx="14325600" cy="7334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12153"/>
              </a:lnSpc>
              <a:defRPr sz="2000">
                <a:solidFill>
                  <a:srgbClr val="B5B5B7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A voice agent that services credit card holders and behaves correctly at the moments where money, identity and someone's trust are all at stake.</a:t>
            </a:r>
          </a:p>
        </p:txBody>
      </p:sp>
      <p:pic>
        <p:nvPicPr>
          <p:cNvPr id="146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6725900" y="9620250"/>
            <a:ext cx="1143000" cy="285750"/>
          </a:xfrm>
          <a:prstGeom prst="rect">
            <a:avLst/>
          </a:prstGeom>
          <a:ln w="12700">
            <a:miter lim="400000"/>
          </a:ln>
        </p:spPr>
      </p:pic>
      <p:sp>
        <p:nvSpPr>
          <p:cNvPr id="147" name="Rectangle 5"/>
          <p:cNvSpPr/>
          <p:nvPr/>
        </p:nvSpPr>
        <p:spPr>
          <a:xfrm>
            <a:off x="419100" y="4475162"/>
            <a:ext cx="17449800" cy="12701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148" name="t"/>
          <p:cNvSpPr txBox="1"/>
          <p:nvPr/>
        </p:nvSpPr>
        <p:spPr>
          <a:xfrm>
            <a:off x="419100" y="4886325"/>
            <a:ext cx="1028700" cy="2952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74769"/>
              </a:lnSpc>
              <a:defRPr sz="1500">
                <a:solidFill>
                  <a:srgbClr val="4285F4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01</a:t>
            </a:r>
          </a:p>
        </p:txBody>
      </p:sp>
      <p:sp>
        <p:nvSpPr>
          <p:cNvPr id="149" name="t"/>
          <p:cNvSpPr txBox="1"/>
          <p:nvPr/>
        </p:nvSpPr>
        <p:spPr>
          <a:xfrm>
            <a:off x="1714500" y="4762500"/>
            <a:ext cx="5905500" cy="457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85500"/>
              </a:lnSpc>
              <a:defRPr sz="2600">
                <a:solidFill>
                  <a:srgbClr val="FFFFFF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Architecture</a:t>
            </a:r>
          </a:p>
        </p:txBody>
      </p:sp>
      <p:sp>
        <p:nvSpPr>
          <p:cNvPr id="150" name="t"/>
          <p:cNvSpPr txBox="1"/>
          <p:nvPr/>
        </p:nvSpPr>
        <p:spPr>
          <a:xfrm>
            <a:off x="7810500" y="4829175"/>
            <a:ext cx="10058400" cy="4000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16308"/>
              </a:lnSpc>
              <a:defRPr sz="2000">
                <a:solidFill>
                  <a:srgbClr val="FFFFFF">
                    <a:alpha val="64000"/>
                  </a:srgbClr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Skills, routing, and where verification actually lives</a:t>
            </a:r>
          </a:p>
        </p:txBody>
      </p:sp>
      <p:sp>
        <p:nvSpPr>
          <p:cNvPr id="151" name="Rectangle 9"/>
          <p:cNvSpPr/>
          <p:nvPr/>
        </p:nvSpPr>
        <p:spPr>
          <a:xfrm>
            <a:off x="419100" y="5465762"/>
            <a:ext cx="17449800" cy="12701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152" name="t"/>
          <p:cNvSpPr txBox="1"/>
          <p:nvPr/>
        </p:nvSpPr>
        <p:spPr>
          <a:xfrm>
            <a:off x="419100" y="5876925"/>
            <a:ext cx="1028700" cy="2952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74769"/>
              </a:lnSpc>
              <a:defRPr sz="1500">
                <a:solidFill>
                  <a:srgbClr val="4285F4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153" name="t"/>
          <p:cNvSpPr txBox="1"/>
          <p:nvPr/>
        </p:nvSpPr>
        <p:spPr>
          <a:xfrm>
            <a:off x="1714500" y="5753100"/>
            <a:ext cx="5905500" cy="457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85500"/>
              </a:lnSpc>
              <a:defRPr sz="2600">
                <a:solidFill>
                  <a:srgbClr val="FFFFFF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Implementation</a:t>
            </a:r>
          </a:p>
        </p:txBody>
      </p:sp>
      <p:sp>
        <p:nvSpPr>
          <p:cNvPr id="154" name="t"/>
          <p:cNvSpPr txBox="1"/>
          <p:nvPr/>
        </p:nvSpPr>
        <p:spPr>
          <a:xfrm>
            <a:off x="7810500" y="5819775"/>
            <a:ext cx="10058400" cy="4000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16308"/>
              </a:lnSpc>
              <a:defRPr sz="2000">
                <a:solidFill>
                  <a:srgbClr val="FFFFFF">
                    <a:alpha val="64000"/>
                  </a:srgbClr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Prompts, tools, Wonderful Functions, and the back-office app</a:t>
            </a:r>
          </a:p>
        </p:txBody>
      </p:sp>
      <p:sp>
        <p:nvSpPr>
          <p:cNvPr id="155" name="Rectangle 13"/>
          <p:cNvSpPr/>
          <p:nvPr/>
        </p:nvSpPr>
        <p:spPr>
          <a:xfrm>
            <a:off x="419100" y="6456362"/>
            <a:ext cx="17449800" cy="12701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156" name="t"/>
          <p:cNvSpPr txBox="1"/>
          <p:nvPr/>
        </p:nvSpPr>
        <p:spPr>
          <a:xfrm>
            <a:off x="419100" y="6867525"/>
            <a:ext cx="1028700" cy="2952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74769"/>
              </a:lnSpc>
              <a:defRPr sz="1500">
                <a:solidFill>
                  <a:srgbClr val="4285F4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03</a:t>
            </a:r>
          </a:p>
        </p:txBody>
      </p:sp>
      <p:sp>
        <p:nvSpPr>
          <p:cNvPr id="157" name="t"/>
          <p:cNvSpPr txBox="1"/>
          <p:nvPr/>
        </p:nvSpPr>
        <p:spPr>
          <a:xfrm>
            <a:off x="1714500" y="6743700"/>
            <a:ext cx="5905500" cy="457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85500"/>
              </a:lnSpc>
              <a:defRPr sz="2600">
                <a:solidFill>
                  <a:srgbClr val="FFFFFF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Instrumentation</a:t>
            </a:r>
          </a:p>
        </p:txBody>
      </p:sp>
      <p:sp>
        <p:nvSpPr>
          <p:cNvPr id="158" name="t"/>
          <p:cNvSpPr txBox="1"/>
          <p:nvPr/>
        </p:nvSpPr>
        <p:spPr>
          <a:xfrm>
            <a:off x="7810500" y="6810375"/>
            <a:ext cx="10058400" cy="4000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16308"/>
              </a:lnSpc>
              <a:defRPr sz="2000">
                <a:solidFill>
                  <a:srgbClr val="FFFFFF">
                    <a:alpha val="64000"/>
                  </a:srgbClr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Tags, metrics, and the row every call leaves behind</a:t>
            </a:r>
          </a:p>
        </p:txBody>
      </p:sp>
      <p:sp>
        <p:nvSpPr>
          <p:cNvPr id="159" name="Rectangle 17"/>
          <p:cNvSpPr/>
          <p:nvPr/>
        </p:nvSpPr>
        <p:spPr>
          <a:xfrm>
            <a:off x="419100" y="7446962"/>
            <a:ext cx="17449800" cy="12701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160" name="t"/>
          <p:cNvSpPr txBox="1"/>
          <p:nvPr/>
        </p:nvSpPr>
        <p:spPr>
          <a:xfrm>
            <a:off x="419100" y="7858125"/>
            <a:ext cx="1028700" cy="2952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74769"/>
              </a:lnSpc>
              <a:defRPr sz="1500">
                <a:solidFill>
                  <a:srgbClr val="4285F4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04</a:t>
            </a:r>
          </a:p>
        </p:txBody>
      </p:sp>
      <p:sp>
        <p:nvSpPr>
          <p:cNvPr id="161" name="t"/>
          <p:cNvSpPr txBox="1"/>
          <p:nvPr/>
        </p:nvSpPr>
        <p:spPr>
          <a:xfrm>
            <a:off x="1714500" y="7734300"/>
            <a:ext cx="5905500" cy="457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85500"/>
              </a:lnSpc>
              <a:defRPr sz="2600">
                <a:solidFill>
                  <a:srgbClr val="FFFFFF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Configuration</a:t>
            </a:r>
          </a:p>
        </p:txBody>
      </p:sp>
      <p:sp>
        <p:nvSpPr>
          <p:cNvPr id="162" name="t"/>
          <p:cNvSpPr txBox="1"/>
          <p:nvPr/>
        </p:nvSpPr>
        <p:spPr>
          <a:xfrm>
            <a:off x="7810500" y="7800975"/>
            <a:ext cx="10058400" cy="4000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16308"/>
              </a:lnSpc>
              <a:defRPr sz="2000">
                <a:solidFill>
                  <a:srgbClr val="FFFFFF">
                    <a:alpha val="64000"/>
                  </a:srgbClr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The voice stack, the guardrails, and decisions made</a:t>
            </a:r>
          </a:p>
        </p:txBody>
      </p:sp>
      <p:sp>
        <p:nvSpPr>
          <p:cNvPr id="163" name="Rectangle 21"/>
          <p:cNvSpPr/>
          <p:nvPr/>
        </p:nvSpPr>
        <p:spPr>
          <a:xfrm>
            <a:off x="419100" y="8437562"/>
            <a:ext cx="17449800" cy="12701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164" name="t"/>
          <p:cNvSpPr txBox="1"/>
          <p:nvPr/>
        </p:nvSpPr>
        <p:spPr>
          <a:xfrm>
            <a:off x="419100" y="8848725"/>
            <a:ext cx="1028700" cy="2952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74769"/>
              </a:lnSpc>
              <a:defRPr sz="1500">
                <a:solidFill>
                  <a:srgbClr val="4285F4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05</a:t>
            </a:r>
          </a:p>
        </p:txBody>
      </p:sp>
      <p:sp>
        <p:nvSpPr>
          <p:cNvPr id="165" name="t"/>
          <p:cNvSpPr txBox="1"/>
          <p:nvPr/>
        </p:nvSpPr>
        <p:spPr>
          <a:xfrm>
            <a:off x="1714500" y="8724900"/>
            <a:ext cx="5905500" cy="457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85500"/>
              </a:lnSpc>
              <a:defRPr sz="2600">
                <a:solidFill>
                  <a:srgbClr val="FFFFFF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Live demo</a:t>
            </a:r>
          </a:p>
        </p:txBody>
      </p:sp>
      <p:sp>
        <p:nvSpPr>
          <p:cNvPr id="166" name="t"/>
          <p:cNvSpPr txBox="1"/>
          <p:nvPr/>
        </p:nvSpPr>
        <p:spPr>
          <a:xfrm>
            <a:off x="7810500" y="8791575"/>
            <a:ext cx="10058400" cy="4000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16308"/>
              </a:lnSpc>
              <a:defRPr sz="2000">
                <a:solidFill>
                  <a:srgbClr val="FFFFFF">
                    <a:alpha val="64000"/>
                  </a:srgbClr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Push on the boundaries, not the happy path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eyebrow"/>
          <p:cNvSpPr txBox="1"/>
          <p:nvPr/>
        </p:nvSpPr>
        <p:spPr>
          <a:xfrm>
            <a:off x="419100" y="342900"/>
            <a:ext cx="16344900" cy="3714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08000"/>
              </a:lnSpc>
              <a:defRPr sz="2000">
                <a:solidFill>
                  <a:srgbClr val="FFFFFF">
                    <a:alpha val="42000"/>
                  </a:srgbClr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The goal</a:t>
            </a:r>
          </a:p>
        </p:txBody>
      </p:sp>
      <p:sp>
        <p:nvSpPr>
          <p:cNvPr id="169" name="h1"/>
          <p:cNvSpPr txBox="1"/>
          <p:nvPr/>
        </p:nvSpPr>
        <p:spPr>
          <a:xfrm>
            <a:off x="419100" y="790575"/>
            <a:ext cx="16344900" cy="5524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81930"/>
              </a:lnSpc>
              <a:defRPr sz="3200">
                <a:solidFill>
                  <a:srgbClr val="FFFFFF"/>
                </a:solidFill>
                <a:latin typeface="Inter ExtraLight"/>
                <a:ea typeface="Inter ExtraLight"/>
                <a:cs typeface="Inter ExtraLight"/>
                <a:sym typeface="Inter ExtraLight"/>
              </a:defRPr>
            </a:lvl1pPr>
          </a:lstStyle>
          <a:p>
            <a:pPr/>
            <a:r>
              <a:t>The parts that make up the final product</a:t>
            </a:r>
          </a:p>
        </p:txBody>
      </p:sp>
      <p:sp>
        <p:nvSpPr>
          <p:cNvPr id="170" name="deck"/>
          <p:cNvSpPr txBox="1"/>
          <p:nvPr/>
        </p:nvSpPr>
        <p:spPr>
          <a:xfrm>
            <a:off x="419100" y="1390650"/>
            <a:ext cx="15297150" cy="3905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12153"/>
              </a:lnSpc>
              <a:defRPr sz="2000">
                <a:solidFill>
                  <a:srgbClr val="B5B5B7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A source-controlled agent, deterministic tools over platform Functions, a back-office app, and tests that carry the proof.</a:t>
            </a:r>
          </a:p>
        </p:txBody>
      </p:sp>
      <p:pic>
        <p:nvPicPr>
          <p:cNvPr id="171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6725900" y="9620250"/>
            <a:ext cx="1143000" cy="285750"/>
          </a:xfrm>
          <a:prstGeom prst="rect">
            <a:avLst/>
          </a:prstGeom>
          <a:ln w="12700">
            <a:miter lim="400000"/>
          </a:ln>
        </p:spPr>
      </p:pic>
      <p:sp>
        <p:nvSpPr>
          <p:cNvPr id="172" name="Rounded Rectangle 5"/>
          <p:cNvSpPr/>
          <p:nvPr/>
        </p:nvSpPr>
        <p:spPr>
          <a:xfrm>
            <a:off x="419100" y="3838575"/>
            <a:ext cx="17449800" cy="4743450"/>
          </a:xfrm>
          <a:prstGeom prst="roundRect">
            <a:avLst>
              <a:gd name="adj" fmla="val 2811"/>
            </a:avLst>
          </a:prstGeom>
          <a:solidFill>
            <a:srgbClr val="FFFFFF">
              <a:alpha val="10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173" name="Rectangle 6"/>
          <p:cNvSpPr/>
          <p:nvPr/>
        </p:nvSpPr>
        <p:spPr>
          <a:xfrm>
            <a:off x="809625" y="6199187"/>
            <a:ext cx="16668750" cy="12701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174" name="t"/>
          <p:cNvSpPr txBox="1"/>
          <p:nvPr/>
        </p:nvSpPr>
        <p:spPr>
          <a:xfrm>
            <a:off x="1114425" y="4267200"/>
            <a:ext cx="3914775" cy="6286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74693"/>
              </a:lnSpc>
              <a:defRPr sz="3700">
                <a:solidFill>
                  <a:srgbClr val="FFFFFF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175" name="t"/>
          <p:cNvSpPr txBox="1"/>
          <p:nvPr/>
        </p:nvSpPr>
        <p:spPr>
          <a:xfrm>
            <a:off x="1114425" y="5038725"/>
            <a:ext cx="3914775" cy="3333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10893"/>
              </a:lnSpc>
              <a:defRPr sz="1700">
                <a:solidFill>
                  <a:srgbClr val="FFFFFF">
                    <a:alpha val="64000"/>
                  </a:srgbClr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Skills</a:t>
            </a:r>
          </a:p>
        </p:txBody>
      </p:sp>
      <p:sp>
        <p:nvSpPr>
          <p:cNvPr id="176" name="t"/>
          <p:cNvSpPr txBox="1"/>
          <p:nvPr/>
        </p:nvSpPr>
        <p:spPr>
          <a:xfrm>
            <a:off x="1114425" y="5372100"/>
            <a:ext cx="3657600" cy="2857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11522"/>
              </a:lnSpc>
              <a:defRPr sz="1400">
                <a:solidFill>
                  <a:srgbClr val="FFFFFF">
                    <a:alpha val="42000"/>
                  </a:srgbClr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Four domain skills and one verification skill</a:t>
            </a:r>
          </a:p>
        </p:txBody>
      </p:sp>
      <p:sp>
        <p:nvSpPr>
          <p:cNvPr id="177" name="t"/>
          <p:cNvSpPr txBox="1"/>
          <p:nvPr/>
        </p:nvSpPr>
        <p:spPr>
          <a:xfrm>
            <a:off x="5286375" y="4267200"/>
            <a:ext cx="3905250" cy="6286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74693"/>
              </a:lnSpc>
              <a:defRPr sz="3700">
                <a:solidFill>
                  <a:srgbClr val="FFFFFF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18</a:t>
            </a:r>
          </a:p>
        </p:txBody>
      </p:sp>
      <p:sp>
        <p:nvSpPr>
          <p:cNvPr id="178" name="t"/>
          <p:cNvSpPr txBox="1"/>
          <p:nvPr/>
        </p:nvSpPr>
        <p:spPr>
          <a:xfrm>
            <a:off x="5286375" y="5038725"/>
            <a:ext cx="3905250" cy="3333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10893"/>
              </a:lnSpc>
              <a:defRPr sz="1700">
                <a:solidFill>
                  <a:srgbClr val="FFFFFF">
                    <a:alpha val="64000"/>
                  </a:srgbClr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Programmable tools</a:t>
            </a:r>
          </a:p>
        </p:txBody>
      </p:sp>
      <p:sp>
        <p:nvSpPr>
          <p:cNvPr id="179" name="t"/>
          <p:cNvSpPr txBox="1"/>
          <p:nvPr/>
        </p:nvSpPr>
        <p:spPr>
          <a:xfrm>
            <a:off x="5286375" y="5372100"/>
            <a:ext cx="3657600" cy="2857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11522"/>
              </a:lnSpc>
              <a:defRPr sz="1400">
                <a:solidFill>
                  <a:srgbClr val="FFFFFF">
                    <a:alpha val="42000"/>
                  </a:srgbClr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Three global, fifteen owned by a skill</a:t>
            </a:r>
          </a:p>
        </p:txBody>
      </p:sp>
      <p:sp>
        <p:nvSpPr>
          <p:cNvPr id="180" name="t"/>
          <p:cNvSpPr txBox="1"/>
          <p:nvPr/>
        </p:nvSpPr>
        <p:spPr>
          <a:xfrm>
            <a:off x="9458325" y="4267200"/>
            <a:ext cx="3905250" cy="6286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74693"/>
              </a:lnSpc>
              <a:defRPr sz="3700">
                <a:solidFill>
                  <a:srgbClr val="FFFFFF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17</a:t>
            </a:r>
          </a:p>
        </p:txBody>
      </p:sp>
      <p:sp>
        <p:nvSpPr>
          <p:cNvPr id="181" name="t"/>
          <p:cNvSpPr txBox="1"/>
          <p:nvPr/>
        </p:nvSpPr>
        <p:spPr>
          <a:xfrm>
            <a:off x="9458325" y="5038725"/>
            <a:ext cx="3905250" cy="3333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10893"/>
              </a:lnSpc>
              <a:defRPr sz="1700">
                <a:solidFill>
                  <a:srgbClr val="FFFFFF">
                    <a:alpha val="64000"/>
                  </a:srgbClr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Wonderful Functions</a:t>
            </a:r>
          </a:p>
        </p:txBody>
      </p:sp>
      <p:sp>
        <p:nvSpPr>
          <p:cNvPr id="182" name="t"/>
          <p:cNvSpPr txBox="1"/>
          <p:nvPr/>
        </p:nvSpPr>
        <p:spPr>
          <a:xfrm>
            <a:off x="9458325" y="5372100"/>
            <a:ext cx="3657600" cy="2857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11522"/>
              </a:lnSpc>
              <a:defRPr sz="1400">
                <a:solidFill>
                  <a:srgbClr val="FFFFFF">
                    <a:alpha val="42000"/>
                  </a:srgbClr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Emulating real APIs from the bank</a:t>
            </a:r>
          </a:p>
        </p:txBody>
      </p:sp>
      <p:sp>
        <p:nvSpPr>
          <p:cNvPr id="183" name="t"/>
          <p:cNvSpPr txBox="1"/>
          <p:nvPr/>
        </p:nvSpPr>
        <p:spPr>
          <a:xfrm>
            <a:off x="13620750" y="4267200"/>
            <a:ext cx="3905250" cy="6286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74693"/>
              </a:lnSpc>
              <a:defRPr sz="3700">
                <a:solidFill>
                  <a:srgbClr val="FFFFFF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7</a:t>
            </a:r>
          </a:p>
        </p:txBody>
      </p:sp>
      <p:sp>
        <p:nvSpPr>
          <p:cNvPr id="184" name="t"/>
          <p:cNvSpPr txBox="1"/>
          <p:nvPr/>
        </p:nvSpPr>
        <p:spPr>
          <a:xfrm>
            <a:off x="13620750" y="5038725"/>
            <a:ext cx="3905250" cy="3333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10893"/>
              </a:lnSpc>
              <a:defRPr sz="1700">
                <a:solidFill>
                  <a:srgbClr val="FFFFFF">
                    <a:alpha val="64000"/>
                  </a:srgbClr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Custom tables</a:t>
            </a:r>
          </a:p>
        </p:txBody>
      </p:sp>
      <p:sp>
        <p:nvSpPr>
          <p:cNvPr id="185" name="t"/>
          <p:cNvSpPr txBox="1"/>
          <p:nvPr/>
        </p:nvSpPr>
        <p:spPr>
          <a:xfrm>
            <a:off x="13620750" y="5372100"/>
            <a:ext cx="3657600" cy="5238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11522"/>
              </a:lnSpc>
              <a:defRPr sz="1400">
                <a:solidFill>
                  <a:srgbClr val="FFFFFF">
                    <a:alpha val="42000"/>
                  </a:srgbClr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34,002 transactions and 5,100 disputes behind them</a:t>
            </a:r>
          </a:p>
        </p:txBody>
      </p:sp>
      <p:sp>
        <p:nvSpPr>
          <p:cNvPr id="186" name="t"/>
          <p:cNvSpPr txBox="1"/>
          <p:nvPr/>
        </p:nvSpPr>
        <p:spPr>
          <a:xfrm>
            <a:off x="1114425" y="6553200"/>
            <a:ext cx="3914775" cy="6286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74693"/>
              </a:lnSpc>
              <a:defRPr sz="3700">
                <a:solidFill>
                  <a:srgbClr val="FFFFFF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20</a:t>
            </a:r>
          </a:p>
        </p:txBody>
      </p:sp>
      <p:sp>
        <p:nvSpPr>
          <p:cNvPr id="187" name="t"/>
          <p:cNvSpPr txBox="1"/>
          <p:nvPr/>
        </p:nvSpPr>
        <p:spPr>
          <a:xfrm>
            <a:off x="1114425" y="7324725"/>
            <a:ext cx="3914775" cy="3333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10893"/>
              </a:lnSpc>
              <a:defRPr sz="1700">
                <a:solidFill>
                  <a:srgbClr val="FFFFFF">
                    <a:alpha val="64000"/>
                  </a:srgbClr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Configured tags</a:t>
            </a:r>
          </a:p>
        </p:txBody>
      </p:sp>
      <p:sp>
        <p:nvSpPr>
          <p:cNvPr id="188" name="t"/>
          <p:cNvSpPr txBox="1"/>
          <p:nvPr/>
        </p:nvSpPr>
        <p:spPr>
          <a:xfrm>
            <a:off x="1114425" y="7658100"/>
            <a:ext cx="3657600" cy="2857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11522"/>
              </a:lnSpc>
              <a:defRPr sz="1400">
                <a:solidFill>
                  <a:srgbClr val="FFFFFF">
                    <a:alpha val="42000"/>
                  </a:srgbClr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17 attached by code, 3 judged</a:t>
            </a:r>
          </a:p>
        </p:txBody>
      </p:sp>
      <p:sp>
        <p:nvSpPr>
          <p:cNvPr id="189" name="t"/>
          <p:cNvSpPr txBox="1"/>
          <p:nvPr/>
        </p:nvSpPr>
        <p:spPr>
          <a:xfrm>
            <a:off x="5286375" y="6553200"/>
            <a:ext cx="3905250" cy="6286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74693"/>
              </a:lnSpc>
              <a:defRPr sz="3700">
                <a:solidFill>
                  <a:srgbClr val="FFFFFF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24</a:t>
            </a:r>
          </a:p>
        </p:txBody>
      </p:sp>
      <p:sp>
        <p:nvSpPr>
          <p:cNvPr id="190" name="t"/>
          <p:cNvSpPr txBox="1"/>
          <p:nvPr/>
        </p:nvSpPr>
        <p:spPr>
          <a:xfrm>
            <a:off x="5286375" y="7324725"/>
            <a:ext cx="3905250" cy="3333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10893"/>
              </a:lnSpc>
              <a:defRPr sz="1700">
                <a:solidFill>
                  <a:srgbClr val="FFFFFF">
                    <a:alpha val="64000"/>
                  </a:srgbClr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Metrics</a:t>
            </a:r>
          </a:p>
        </p:txBody>
      </p:sp>
      <p:sp>
        <p:nvSpPr>
          <p:cNvPr id="191" name="t"/>
          <p:cNvSpPr txBox="1"/>
          <p:nvPr/>
        </p:nvSpPr>
        <p:spPr>
          <a:xfrm>
            <a:off x="5286375" y="7658100"/>
            <a:ext cx="3657600" cy="5238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11522"/>
              </a:lnSpc>
              <a:defRPr sz="1400">
                <a:solidFill>
                  <a:srgbClr val="FFFFFF">
                    <a:alpha val="42000"/>
                  </a:srgbClr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Tag expressions the platform evaluates retroactively</a:t>
            </a:r>
          </a:p>
        </p:txBody>
      </p:sp>
      <p:sp>
        <p:nvSpPr>
          <p:cNvPr id="192" name="t"/>
          <p:cNvSpPr txBox="1"/>
          <p:nvPr/>
        </p:nvSpPr>
        <p:spPr>
          <a:xfrm>
            <a:off x="9458325" y="6553200"/>
            <a:ext cx="3905250" cy="6286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74693"/>
              </a:lnSpc>
              <a:defRPr sz="3700">
                <a:solidFill>
                  <a:srgbClr val="FFFFFF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193" name="t"/>
          <p:cNvSpPr txBox="1"/>
          <p:nvPr/>
        </p:nvSpPr>
        <p:spPr>
          <a:xfrm>
            <a:off x="9458325" y="7324725"/>
            <a:ext cx="3905250" cy="3333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10893"/>
              </a:lnSpc>
              <a:defRPr sz="1700">
                <a:solidFill>
                  <a:srgbClr val="FFFFFF">
                    <a:alpha val="64000"/>
                  </a:srgbClr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Wonderful app</a:t>
            </a:r>
          </a:p>
        </p:txBody>
      </p:sp>
      <p:sp>
        <p:nvSpPr>
          <p:cNvPr id="194" name="t"/>
          <p:cNvSpPr txBox="1"/>
          <p:nvPr/>
        </p:nvSpPr>
        <p:spPr>
          <a:xfrm>
            <a:off x="9458325" y="7658100"/>
            <a:ext cx="3657600" cy="5238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11522"/>
              </a:lnSpc>
              <a:defRPr sz="1400">
                <a:solidFill>
                  <a:srgbClr val="FFFFFF">
                    <a:alpha val="42000"/>
                  </a:srgbClr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Backoffice app for manual review of disputes</a:t>
            </a:r>
          </a:p>
        </p:txBody>
      </p:sp>
      <p:sp>
        <p:nvSpPr>
          <p:cNvPr id="195" name="t"/>
          <p:cNvSpPr txBox="1"/>
          <p:nvPr/>
        </p:nvSpPr>
        <p:spPr>
          <a:xfrm>
            <a:off x="13620750" y="6620668"/>
            <a:ext cx="3905250" cy="6286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74693"/>
              </a:lnSpc>
              <a:defRPr sz="3700">
                <a:solidFill>
                  <a:srgbClr val="FFFFFF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32</a:t>
            </a:r>
          </a:p>
        </p:txBody>
      </p:sp>
      <p:sp>
        <p:nvSpPr>
          <p:cNvPr id="196" name="t"/>
          <p:cNvSpPr txBox="1"/>
          <p:nvPr/>
        </p:nvSpPr>
        <p:spPr>
          <a:xfrm>
            <a:off x="13620750" y="7324725"/>
            <a:ext cx="3905250" cy="3333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10893"/>
              </a:lnSpc>
              <a:defRPr sz="1700">
                <a:solidFill>
                  <a:srgbClr val="FFFFFF">
                    <a:alpha val="64000"/>
                  </a:srgbClr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Evals</a:t>
            </a:r>
          </a:p>
        </p:txBody>
      </p:sp>
      <p:sp>
        <p:nvSpPr>
          <p:cNvPr id="197" name="t"/>
          <p:cNvSpPr txBox="1"/>
          <p:nvPr/>
        </p:nvSpPr>
        <p:spPr>
          <a:xfrm>
            <a:off x="13620750" y="7658100"/>
            <a:ext cx="3657600" cy="2857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11522"/>
              </a:lnSpc>
              <a:defRPr sz="1400">
                <a:solidFill>
                  <a:srgbClr val="FFFFFF">
                    <a:alpha val="42000"/>
                  </a:srgbClr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5 batches</a:t>
            </a:r>
          </a:p>
        </p:txBody>
      </p:sp>
      <p:sp>
        <p:nvSpPr>
          <p:cNvPr id="198" name="Rectangle 31"/>
          <p:cNvSpPr/>
          <p:nvPr/>
        </p:nvSpPr>
        <p:spPr>
          <a:xfrm>
            <a:off x="4970462" y="4267200"/>
            <a:ext cx="12701" cy="1590675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199" name="Rectangle 32"/>
          <p:cNvSpPr/>
          <p:nvPr/>
        </p:nvSpPr>
        <p:spPr>
          <a:xfrm>
            <a:off x="9142412" y="4267200"/>
            <a:ext cx="12701" cy="1590675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200" name="Rectangle 33"/>
          <p:cNvSpPr/>
          <p:nvPr/>
        </p:nvSpPr>
        <p:spPr>
          <a:xfrm>
            <a:off x="13304837" y="4267200"/>
            <a:ext cx="12701" cy="1590675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201" name="Rectangle 34"/>
          <p:cNvSpPr/>
          <p:nvPr/>
        </p:nvSpPr>
        <p:spPr>
          <a:xfrm>
            <a:off x="4970462" y="6553200"/>
            <a:ext cx="12701" cy="1590675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202" name="Rectangle 35"/>
          <p:cNvSpPr/>
          <p:nvPr/>
        </p:nvSpPr>
        <p:spPr>
          <a:xfrm>
            <a:off x="9142412" y="6553200"/>
            <a:ext cx="12701" cy="1590675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203" name="Rectangle 36"/>
          <p:cNvSpPr/>
          <p:nvPr/>
        </p:nvSpPr>
        <p:spPr>
          <a:xfrm>
            <a:off x="13304837" y="6553200"/>
            <a:ext cx="12701" cy="1590675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eyebrow"/>
          <p:cNvSpPr txBox="1"/>
          <p:nvPr/>
        </p:nvSpPr>
        <p:spPr>
          <a:xfrm>
            <a:off x="419100" y="342900"/>
            <a:ext cx="16344900" cy="3714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08000"/>
              </a:lnSpc>
              <a:defRPr sz="2000">
                <a:solidFill>
                  <a:srgbClr val="FFFFFF">
                    <a:alpha val="42000"/>
                  </a:srgbClr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Architecture</a:t>
            </a:r>
          </a:p>
        </p:txBody>
      </p:sp>
      <p:sp>
        <p:nvSpPr>
          <p:cNvPr id="206" name="h1"/>
          <p:cNvSpPr txBox="1"/>
          <p:nvPr/>
        </p:nvSpPr>
        <p:spPr>
          <a:xfrm>
            <a:off x="419100" y="790575"/>
            <a:ext cx="16344900" cy="5524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81930"/>
              </a:lnSpc>
              <a:defRPr sz="3200">
                <a:solidFill>
                  <a:srgbClr val="FFFFFF"/>
                </a:solidFill>
                <a:latin typeface="Inter ExtraLight"/>
                <a:ea typeface="Inter ExtraLight"/>
                <a:cs typeface="Inter ExtraLight"/>
                <a:sym typeface="Inter ExtraLight"/>
              </a:defRPr>
            </a:lvl1pPr>
          </a:lstStyle>
          <a:p>
            <a:pPr/>
            <a:r>
              <a:t>Verification is not a door; every tool holds its own</a:t>
            </a:r>
          </a:p>
        </p:txBody>
      </p:sp>
      <p:sp>
        <p:nvSpPr>
          <p:cNvPr id="207" name="deck"/>
          <p:cNvSpPr txBox="1"/>
          <p:nvPr/>
        </p:nvSpPr>
        <p:spPr>
          <a:xfrm>
            <a:off x="419100" y="1390650"/>
            <a:ext cx="15297150" cy="3905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12153"/>
              </a:lnSpc>
              <a:defRPr sz="2000">
                <a:solidFill>
                  <a:srgbClr val="B5B5B7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The call starts public and rises only when a request needs it. The tool that needs the level is the one that refuses.</a:t>
            </a:r>
          </a:p>
        </p:txBody>
      </p:sp>
      <p:pic>
        <p:nvPicPr>
          <p:cNvPr id="208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6725900" y="9620250"/>
            <a:ext cx="1143000" cy="285750"/>
          </a:xfrm>
          <a:prstGeom prst="rect">
            <a:avLst/>
          </a:prstGeom>
          <a:ln w="12700">
            <a:miter lim="400000"/>
          </a:ln>
        </p:spPr>
      </p:pic>
      <p:sp>
        <p:nvSpPr>
          <p:cNvPr id="209" name="Rounded Rectangle 5"/>
          <p:cNvSpPr/>
          <p:nvPr/>
        </p:nvSpPr>
        <p:spPr>
          <a:xfrm>
            <a:off x="419100" y="2857500"/>
            <a:ext cx="5486400" cy="2857500"/>
          </a:xfrm>
          <a:prstGeom prst="roundRect">
            <a:avLst>
              <a:gd name="adj" fmla="val 4000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18000"/>
              </a:srgbClr>
            </a:solidFill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210" name="Rounded Rectangle 6"/>
          <p:cNvSpPr/>
          <p:nvPr/>
        </p:nvSpPr>
        <p:spPr>
          <a:xfrm>
            <a:off x="752475" y="3152775"/>
            <a:ext cx="1190625" cy="314325"/>
          </a:xfrm>
          <a:prstGeom prst="roundRect">
            <a:avLst>
              <a:gd name="adj" fmla="val 50000"/>
            </a:avLst>
          </a:prstGeom>
          <a:ln w="12700">
            <a:solidFill>
              <a:srgbClr val="FFFFFF">
                <a:alpha val="26000"/>
              </a:srgbClr>
            </a:solidFill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211" name="pill"/>
          <p:cNvSpPr txBox="1"/>
          <p:nvPr/>
        </p:nvSpPr>
        <p:spPr>
          <a:xfrm>
            <a:off x="752475" y="3190875"/>
            <a:ext cx="1190625" cy="2190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 algn="ctr">
              <a:lnSpc>
                <a:spcPct val="74348"/>
              </a:lnSpc>
              <a:defRPr sz="1000">
                <a:solidFill>
                  <a:srgbClr val="FFFFFF">
                    <a:alpha val="64000"/>
                  </a:srgbClr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no verification</a:t>
            </a:r>
          </a:p>
        </p:txBody>
      </p:sp>
      <p:sp>
        <p:nvSpPr>
          <p:cNvPr id="212" name="t"/>
          <p:cNvSpPr txBox="1"/>
          <p:nvPr/>
        </p:nvSpPr>
        <p:spPr>
          <a:xfrm>
            <a:off x="752475" y="3676650"/>
            <a:ext cx="4819650" cy="3619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03846"/>
              </a:lnSpc>
              <a:defRPr sz="2000">
                <a:solidFill>
                  <a:srgbClr val="FFFFFF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Public</a:t>
            </a:r>
          </a:p>
        </p:txBody>
      </p:sp>
      <p:sp>
        <p:nvSpPr>
          <p:cNvPr id="213" name="t"/>
          <p:cNvSpPr txBox="1"/>
          <p:nvPr/>
        </p:nvSpPr>
        <p:spPr>
          <a:xfrm>
            <a:off x="752475" y="4114800"/>
            <a:ext cx="4819650" cy="3524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15000"/>
              </a:lnSpc>
              <a:defRPr sz="1700">
                <a:solidFill>
                  <a:srgbClr val="FFFFFF">
                    <a:alpha val="88000"/>
                  </a:srgbClr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Card products, fees, rates, rewards and policy</a:t>
            </a:r>
          </a:p>
        </p:txBody>
      </p:sp>
      <p:sp>
        <p:nvSpPr>
          <p:cNvPr id="214" name="t"/>
          <p:cNvSpPr txBox="1"/>
          <p:nvPr/>
        </p:nvSpPr>
        <p:spPr>
          <a:xfrm>
            <a:off x="752475" y="4781550"/>
            <a:ext cx="4819650" cy="5429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15652"/>
              </a:lnSpc>
              <a:defRPr sz="1400">
                <a:solidFill>
                  <a:srgbClr val="FFFFFF">
                    <a:alpha val="64000"/>
                  </a:srgbClr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Nothing about anyone's account, and nothing that confirms an account exists. Here’s where RAG lives.</a:t>
            </a:r>
          </a:p>
        </p:txBody>
      </p:sp>
      <p:sp>
        <p:nvSpPr>
          <p:cNvPr id="215" name="Rounded Rectangle 11"/>
          <p:cNvSpPr/>
          <p:nvPr/>
        </p:nvSpPr>
        <p:spPr>
          <a:xfrm>
            <a:off x="6400800" y="2857500"/>
            <a:ext cx="5486400" cy="2857500"/>
          </a:xfrm>
          <a:prstGeom prst="roundRect">
            <a:avLst>
              <a:gd name="adj" fmla="val 4000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18000"/>
              </a:srgbClr>
            </a:solidFill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216" name="Rounded Rectangle 12"/>
          <p:cNvSpPr/>
          <p:nvPr/>
        </p:nvSpPr>
        <p:spPr>
          <a:xfrm>
            <a:off x="6734175" y="3152775"/>
            <a:ext cx="476250" cy="314325"/>
          </a:xfrm>
          <a:prstGeom prst="roundRect">
            <a:avLst>
              <a:gd name="adj" fmla="val 50000"/>
            </a:avLst>
          </a:prstGeom>
          <a:ln w="12700">
            <a:solidFill>
              <a:srgbClr val="4285F4">
                <a:alpha val="26000"/>
              </a:srgbClr>
            </a:solidFill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217" name="pill"/>
          <p:cNvSpPr txBox="1"/>
          <p:nvPr/>
        </p:nvSpPr>
        <p:spPr>
          <a:xfrm>
            <a:off x="6734175" y="3190875"/>
            <a:ext cx="476250" cy="2190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 algn="ctr">
              <a:lnSpc>
                <a:spcPct val="74348"/>
              </a:lnSpc>
              <a:defRPr sz="1000">
                <a:solidFill>
                  <a:srgbClr val="4285F4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L1</a:t>
            </a:r>
          </a:p>
        </p:txBody>
      </p:sp>
      <p:sp>
        <p:nvSpPr>
          <p:cNvPr id="218" name="t"/>
          <p:cNvSpPr txBox="1"/>
          <p:nvPr/>
        </p:nvSpPr>
        <p:spPr>
          <a:xfrm>
            <a:off x="6734175" y="3676650"/>
            <a:ext cx="4819650" cy="3619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03846"/>
              </a:lnSpc>
              <a:defRPr sz="2000">
                <a:solidFill>
                  <a:srgbClr val="FFFFFF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Identified</a:t>
            </a:r>
          </a:p>
        </p:txBody>
      </p:sp>
      <p:sp>
        <p:nvSpPr>
          <p:cNvPr id="219" name="t"/>
          <p:cNvSpPr txBox="1"/>
          <p:nvPr/>
        </p:nvSpPr>
        <p:spPr>
          <a:xfrm>
            <a:off x="6734175" y="4114800"/>
            <a:ext cx="4819650" cy="647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15000"/>
              </a:lnSpc>
              <a:defRPr sz="1700">
                <a:solidFill>
                  <a:srgbClr val="FFFFFF">
                    <a:alpha val="88000"/>
                  </a:srgbClr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The social security number, checked against the client record</a:t>
            </a:r>
          </a:p>
        </p:txBody>
      </p:sp>
      <p:sp>
        <p:nvSpPr>
          <p:cNvPr id="220" name="t"/>
          <p:cNvSpPr txBox="1"/>
          <p:nvPr/>
        </p:nvSpPr>
        <p:spPr>
          <a:xfrm>
            <a:off x="6734175" y="4781550"/>
            <a:ext cx="4819650" cy="5429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15652"/>
              </a:lnSpc>
              <a:defRPr sz="1400">
                <a:solidFill>
                  <a:srgbClr val="FFFFFF">
                    <a:alpha val="64000"/>
                  </a:srgbClr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Balance, pre-approved credit, card limits, invoices, transactions, contact phone.</a:t>
            </a:r>
          </a:p>
        </p:txBody>
      </p:sp>
      <p:sp>
        <p:nvSpPr>
          <p:cNvPr id="221" name="arrow"/>
          <p:cNvSpPr txBox="1"/>
          <p:nvPr/>
        </p:nvSpPr>
        <p:spPr>
          <a:xfrm>
            <a:off x="5953125" y="2857500"/>
            <a:ext cx="400050" cy="2857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 anchor="ctr">
            <a:normAutofit fontScale="100000" lnSpcReduction="0"/>
          </a:bodyPr>
          <a:lstStyle>
            <a:lvl1pPr algn="ctr">
              <a:lnSpc>
                <a:spcPct val="82609"/>
              </a:lnSpc>
              <a:defRPr sz="2800">
                <a:solidFill>
                  <a:srgbClr val="FFFFFF">
                    <a:alpha val="42000"/>
                  </a:srgbClr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222" name="Rounded Rectangle 18"/>
          <p:cNvSpPr/>
          <p:nvPr/>
        </p:nvSpPr>
        <p:spPr>
          <a:xfrm>
            <a:off x="12382500" y="2857500"/>
            <a:ext cx="5486400" cy="2857500"/>
          </a:xfrm>
          <a:prstGeom prst="roundRect">
            <a:avLst>
              <a:gd name="adj" fmla="val 4000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18000"/>
              </a:srgbClr>
            </a:solidFill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223" name="Rounded Rectangle 19"/>
          <p:cNvSpPr/>
          <p:nvPr/>
        </p:nvSpPr>
        <p:spPr>
          <a:xfrm>
            <a:off x="12715875" y="3152775"/>
            <a:ext cx="504825" cy="314325"/>
          </a:xfrm>
          <a:prstGeom prst="roundRect">
            <a:avLst>
              <a:gd name="adj" fmla="val 50000"/>
            </a:avLst>
          </a:prstGeom>
          <a:ln w="12700">
            <a:solidFill>
              <a:srgbClr val="10B981">
                <a:alpha val="26000"/>
              </a:srgbClr>
            </a:solidFill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224" name="pill"/>
          <p:cNvSpPr txBox="1"/>
          <p:nvPr/>
        </p:nvSpPr>
        <p:spPr>
          <a:xfrm>
            <a:off x="12715875" y="3190875"/>
            <a:ext cx="504825" cy="2190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 algn="ctr">
              <a:lnSpc>
                <a:spcPct val="74348"/>
              </a:lnSpc>
              <a:defRPr sz="1000">
                <a:solidFill>
                  <a:srgbClr val="10B98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L2</a:t>
            </a:r>
          </a:p>
        </p:txBody>
      </p:sp>
      <p:sp>
        <p:nvSpPr>
          <p:cNvPr id="225" name="t"/>
          <p:cNvSpPr txBox="1"/>
          <p:nvPr/>
        </p:nvSpPr>
        <p:spPr>
          <a:xfrm>
            <a:off x="12715875" y="3676650"/>
            <a:ext cx="4819650" cy="3619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03846"/>
              </a:lnSpc>
              <a:defRPr sz="2000">
                <a:solidFill>
                  <a:srgbClr val="FFFFFF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Verified</a:t>
            </a:r>
          </a:p>
        </p:txBody>
      </p:sp>
      <p:sp>
        <p:nvSpPr>
          <p:cNvPr id="226" name="t"/>
          <p:cNvSpPr txBox="1"/>
          <p:nvPr/>
        </p:nvSpPr>
        <p:spPr>
          <a:xfrm>
            <a:off x="12715875" y="4114800"/>
            <a:ext cx="4819650" cy="3524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15000"/>
              </a:lnSpc>
              <a:defRPr sz="1700">
                <a:solidFill>
                  <a:srgbClr val="FFFFFF">
                    <a:alpha val="88000"/>
                  </a:srgbClr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A four-digit code sent by text message</a:t>
            </a:r>
          </a:p>
        </p:txBody>
      </p:sp>
      <p:sp>
        <p:nvSpPr>
          <p:cNvPr id="227" name="t"/>
          <p:cNvSpPr txBox="1"/>
          <p:nvPr/>
        </p:nvSpPr>
        <p:spPr>
          <a:xfrm>
            <a:off x="12715875" y="4781550"/>
            <a:ext cx="4819650" cy="5429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15652"/>
              </a:lnSpc>
              <a:defRPr sz="1400">
                <a:solidFill>
                  <a:srgbClr val="FFFFFF">
                    <a:alpha val="64000"/>
                  </a:srgbClr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Blocks, cancellations, unlocks, disputes, limit changes</a:t>
            </a:r>
          </a:p>
        </p:txBody>
      </p:sp>
      <p:sp>
        <p:nvSpPr>
          <p:cNvPr id="228" name="arrow"/>
          <p:cNvSpPr txBox="1"/>
          <p:nvPr/>
        </p:nvSpPr>
        <p:spPr>
          <a:xfrm>
            <a:off x="11934825" y="2857500"/>
            <a:ext cx="400050" cy="2857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 anchor="ctr">
            <a:normAutofit fontScale="100000" lnSpcReduction="0"/>
          </a:bodyPr>
          <a:lstStyle>
            <a:lvl1pPr algn="ctr">
              <a:lnSpc>
                <a:spcPct val="82609"/>
              </a:lnSpc>
              <a:defRPr sz="2800">
                <a:solidFill>
                  <a:srgbClr val="FFFFFF">
                    <a:alpha val="42000"/>
                  </a:srgbClr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229" name="Rectangle 25"/>
          <p:cNvSpPr/>
          <p:nvPr/>
        </p:nvSpPr>
        <p:spPr>
          <a:xfrm>
            <a:off x="419100" y="6475412"/>
            <a:ext cx="3810000" cy="12701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230" name="t"/>
          <p:cNvSpPr txBox="1"/>
          <p:nvPr/>
        </p:nvSpPr>
        <p:spPr>
          <a:xfrm>
            <a:off x="419100" y="6677025"/>
            <a:ext cx="4191000" cy="2571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73928"/>
              </a:lnSpc>
              <a:defRPr sz="1300">
                <a:solidFill>
                  <a:srgbClr val="4285F4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01</a:t>
            </a:r>
          </a:p>
        </p:txBody>
      </p:sp>
      <p:sp>
        <p:nvSpPr>
          <p:cNvPr id="231" name="t"/>
          <p:cNvSpPr txBox="1"/>
          <p:nvPr/>
        </p:nvSpPr>
        <p:spPr>
          <a:xfrm>
            <a:off x="419100" y="7029450"/>
            <a:ext cx="4191000" cy="3619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03846"/>
              </a:lnSpc>
              <a:defRPr sz="2000">
                <a:solidFill>
                  <a:srgbClr val="FFFFFF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No gate at the front</a:t>
            </a:r>
          </a:p>
        </p:txBody>
      </p:sp>
      <p:sp>
        <p:nvSpPr>
          <p:cNvPr id="232" name="t"/>
          <p:cNvSpPr txBox="1"/>
          <p:nvPr/>
        </p:nvSpPr>
        <p:spPr>
          <a:xfrm>
            <a:off x="419100" y="7448550"/>
            <a:ext cx="4191000" cy="9715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19107"/>
              </a:lnSpc>
              <a:defRPr sz="1700">
                <a:solidFill>
                  <a:srgbClr val="FFFFFF">
                    <a:alpha val="64000"/>
                  </a:srgbClr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Nothing verifies at the start of a call. A tool refuses for the level it needs, and only then.</a:t>
            </a:r>
          </a:p>
        </p:txBody>
      </p:sp>
      <p:sp>
        <p:nvSpPr>
          <p:cNvPr id="233" name="Rectangle 29"/>
          <p:cNvSpPr/>
          <p:nvPr/>
        </p:nvSpPr>
        <p:spPr>
          <a:xfrm>
            <a:off x="4838700" y="6475412"/>
            <a:ext cx="3810000" cy="12701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234" name="t"/>
          <p:cNvSpPr txBox="1"/>
          <p:nvPr/>
        </p:nvSpPr>
        <p:spPr>
          <a:xfrm>
            <a:off x="4838700" y="6677025"/>
            <a:ext cx="4191000" cy="2571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73928"/>
              </a:lnSpc>
              <a:defRPr sz="1300">
                <a:solidFill>
                  <a:srgbClr val="4285F4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235" name="t"/>
          <p:cNvSpPr txBox="1"/>
          <p:nvPr/>
        </p:nvSpPr>
        <p:spPr>
          <a:xfrm>
            <a:off x="4838700" y="7029450"/>
            <a:ext cx="4191000" cy="3619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03846"/>
              </a:lnSpc>
              <a:defRPr sz="2000">
                <a:solidFill>
                  <a:srgbClr val="FFFFFF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A card is a parameter</a:t>
            </a:r>
          </a:p>
        </p:txBody>
      </p:sp>
      <p:sp>
        <p:nvSpPr>
          <p:cNvPr id="236" name="t"/>
          <p:cNvSpPr txBox="1"/>
          <p:nvPr/>
        </p:nvSpPr>
        <p:spPr>
          <a:xfrm>
            <a:off x="4838700" y="7448550"/>
            <a:ext cx="4191000" cy="9715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19107"/>
              </a:lnSpc>
              <a:defRPr sz="1700">
                <a:solidFill>
                  <a:srgbClr val="FFFFFF">
                    <a:alpha val="64000"/>
                  </a:srgbClr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The last four digits are printed on the plastic. They name a card; they identify nobody.</a:t>
            </a:r>
          </a:p>
        </p:txBody>
      </p:sp>
      <p:sp>
        <p:nvSpPr>
          <p:cNvPr id="237" name="Rectangle 33"/>
          <p:cNvSpPr/>
          <p:nvPr/>
        </p:nvSpPr>
        <p:spPr>
          <a:xfrm>
            <a:off x="9258300" y="6475412"/>
            <a:ext cx="3810000" cy="12701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238" name="t"/>
          <p:cNvSpPr txBox="1"/>
          <p:nvPr/>
        </p:nvSpPr>
        <p:spPr>
          <a:xfrm>
            <a:off x="9258300" y="6677025"/>
            <a:ext cx="4191000" cy="2571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73928"/>
              </a:lnSpc>
              <a:defRPr sz="1300">
                <a:solidFill>
                  <a:srgbClr val="4285F4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03</a:t>
            </a:r>
          </a:p>
        </p:txBody>
      </p:sp>
      <p:sp>
        <p:nvSpPr>
          <p:cNvPr id="239" name="t"/>
          <p:cNvSpPr txBox="1"/>
          <p:nvPr/>
        </p:nvSpPr>
        <p:spPr>
          <a:xfrm>
            <a:off x="9258300" y="7029450"/>
            <a:ext cx="4191000" cy="3619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03846"/>
              </a:lnSpc>
              <a:defRPr sz="2000">
                <a:solidFill>
                  <a:srgbClr val="FFFFFF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The step-up waits for a yes</a:t>
            </a:r>
          </a:p>
        </p:txBody>
      </p:sp>
      <p:sp>
        <p:nvSpPr>
          <p:cNvPr id="240" name="t"/>
          <p:cNvSpPr txBox="1"/>
          <p:nvPr/>
        </p:nvSpPr>
        <p:spPr>
          <a:xfrm>
            <a:off x="9258300" y="7448550"/>
            <a:ext cx="4191000" cy="9715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19107"/>
              </a:lnSpc>
              <a:defRPr sz="1700">
                <a:solidFill>
                  <a:srgbClr val="FFFFFF">
                    <a:alpha val="64000"/>
                  </a:srgbClr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L2 is asked for after the caller confirms, so no code goes out for a change that will not happen.</a:t>
            </a:r>
          </a:p>
        </p:txBody>
      </p:sp>
      <p:sp>
        <p:nvSpPr>
          <p:cNvPr id="241" name="Rectangle 37"/>
          <p:cNvSpPr/>
          <p:nvPr/>
        </p:nvSpPr>
        <p:spPr>
          <a:xfrm>
            <a:off x="13677900" y="6475412"/>
            <a:ext cx="3810000" cy="12701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242" name="t"/>
          <p:cNvSpPr txBox="1"/>
          <p:nvPr/>
        </p:nvSpPr>
        <p:spPr>
          <a:xfrm>
            <a:off x="13677900" y="6677025"/>
            <a:ext cx="4191000" cy="2571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73928"/>
              </a:lnSpc>
              <a:defRPr sz="1300">
                <a:solidFill>
                  <a:srgbClr val="4285F4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04</a:t>
            </a:r>
          </a:p>
        </p:txBody>
      </p:sp>
      <p:sp>
        <p:nvSpPr>
          <p:cNvPr id="243" name="t"/>
          <p:cNvSpPr txBox="1"/>
          <p:nvPr/>
        </p:nvSpPr>
        <p:spPr>
          <a:xfrm>
            <a:off x="13677900" y="7029450"/>
            <a:ext cx="4191000" cy="3619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03846"/>
              </a:lnSpc>
              <a:defRPr sz="2000">
                <a:solidFill>
                  <a:srgbClr val="FFFFFF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The call returns itself</a:t>
            </a:r>
          </a:p>
        </p:txBody>
      </p:sp>
      <p:sp>
        <p:nvSpPr>
          <p:cNvPr id="244" name="t"/>
          <p:cNvSpPr txBox="1"/>
          <p:nvPr/>
        </p:nvSpPr>
        <p:spPr>
          <a:xfrm>
            <a:off x="13677900" y="7448550"/>
            <a:ext cx="4191000" cy="9715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19107"/>
              </a:lnSpc>
              <a:defRPr sz="1700">
                <a:solidFill>
                  <a:srgbClr val="FFFFFF">
                    <a:alpha val="64000"/>
                  </a:srgbClr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The authentication skill gives a directive for the agent to return to the checking point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eyebrow"/>
          <p:cNvSpPr txBox="1"/>
          <p:nvPr/>
        </p:nvSpPr>
        <p:spPr>
          <a:xfrm>
            <a:off x="419100" y="342900"/>
            <a:ext cx="16344900" cy="3714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08000"/>
              </a:lnSpc>
              <a:defRPr sz="2000">
                <a:solidFill>
                  <a:srgbClr val="FFFFFF">
                    <a:alpha val="42000"/>
                  </a:srgbClr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Architecture</a:t>
            </a:r>
          </a:p>
        </p:txBody>
      </p:sp>
      <p:sp>
        <p:nvSpPr>
          <p:cNvPr id="247" name="h1"/>
          <p:cNvSpPr txBox="1"/>
          <p:nvPr/>
        </p:nvSpPr>
        <p:spPr>
          <a:xfrm>
            <a:off x="419100" y="790575"/>
            <a:ext cx="16344900" cy="5524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81930"/>
              </a:lnSpc>
              <a:defRPr sz="3200">
                <a:solidFill>
                  <a:srgbClr val="FFFFFF"/>
                </a:solidFill>
                <a:latin typeface="Inter ExtraLight"/>
                <a:ea typeface="Inter ExtraLight"/>
                <a:cs typeface="Inter ExtraLight"/>
                <a:sym typeface="Inter ExtraLight"/>
              </a:defRPr>
            </a:lvl1pPr>
          </a:lstStyle>
          <a:p>
            <a:pPr/>
            <a:r>
              <a:t>System architecture</a:t>
            </a:r>
          </a:p>
        </p:txBody>
      </p:sp>
      <p:sp>
        <p:nvSpPr>
          <p:cNvPr id="248" name="deck"/>
          <p:cNvSpPr txBox="1"/>
          <p:nvPr/>
        </p:nvSpPr>
        <p:spPr>
          <a:xfrm>
            <a:off x="419100" y="1390650"/>
            <a:ext cx="15297150" cy="7334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12153"/>
              </a:lnSpc>
              <a:defRPr sz="2000">
                <a:solidFill>
                  <a:srgbClr val="B5B5B7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One call moves from the phone line to the skill that owns the request, to a tool that decides, to a Function that is the only thing allowed to touch the data.</a:t>
            </a:r>
          </a:p>
        </p:txBody>
      </p:sp>
      <p:pic>
        <p:nvPicPr>
          <p:cNvPr id="249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6725900" y="9620250"/>
            <a:ext cx="1143000" cy="285750"/>
          </a:xfrm>
          <a:prstGeom prst="rect">
            <a:avLst/>
          </a:prstGeom>
          <a:ln w="12700">
            <a:miter lim="400000"/>
          </a:ln>
        </p:spPr>
      </p:pic>
      <p:sp>
        <p:nvSpPr>
          <p:cNvPr id="250" name="t"/>
          <p:cNvSpPr txBox="1"/>
          <p:nvPr/>
        </p:nvSpPr>
        <p:spPr>
          <a:xfrm>
            <a:off x="419100" y="2819400"/>
            <a:ext cx="17449800" cy="323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06786"/>
              </a:lnSpc>
              <a:defRPr sz="1700">
                <a:solidFill>
                  <a:srgbClr val="FFFFFF">
                    <a:alpha val="42000"/>
                  </a:srgbClr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Royal Finance  |  one call</a:t>
            </a:r>
          </a:p>
        </p:txBody>
      </p:sp>
      <p:sp>
        <p:nvSpPr>
          <p:cNvPr id="251" name="t"/>
          <p:cNvSpPr txBox="1"/>
          <p:nvPr/>
        </p:nvSpPr>
        <p:spPr>
          <a:xfrm>
            <a:off x="419100" y="3238500"/>
            <a:ext cx="3314700" cy="323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06786"/>
              </a:lnSpc>
              <a:defRPr sz="1700">
                <a:solidFill>
                  <a:srgbClr val="FFFFFF">
                    <a:alpha val="42000"/>
                  </a:srgbClr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Channels</a:t>
            </a:r>
          </a:p>
        </p:txBody>
      </p:sp>
      <p:sp>
        <p:nvSpPr>
          <p:cNvPr id="252" name="Rounded Rectangle 7"/>
          <p:cNvSpPr/>
          <p:nvPr/>
        </p:nvSpPr>
        <p:spPr>
          <a:xfrm>
            <a:off x="400050" y="4700587"/>
            <a:ext cx="2933701" cy="990601"/>
          </a:xfrm>
          <a:prstGeom prst="roundRect">
            <a:avLst>
              <a:gd name="adj" fmla="val 9615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18000"/>
              </a:srgbClr>
            </a:solidFill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253" name="t"/>
          <p:cNvSpPr txBox="1"/>
          <p:nvPr/>
        </p:nvSpPr>
        <p:spPr>
          <a:xfrm>
            <a:off x="600075" y="4852987"/>
            <a:ext cx="2533651" cy="3143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02679"/>
              </a:lnSpc>
              <a:defRPr sz="1700">
                <a:solidFill>
                  <a:srgbClr val="FFFFFF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Voice — inbound</a:t>
            </a:r>
          </a:p>
        </p:txBody>
      </p:sp>
      <p:sp>
        <p:nvSpPr>
          <p:cNvPr id="254" name="t"/>
          <p:cNvSpPr txBox="1"/>
          <p:nvPr/>
        </p:nvSpPr>
        <p:spPr>
          <a:xfrm>
            <a:off x="600075" y="5219699"/>
            <a:ext cx="2533651" cy="2952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15652"/>
              </a:lnSpc>
              <a:defRPr sz="1400">
                <a:solidFill>
                  <a:srgbClr val="FFFFFF">
                    <a:alpha val="64000"/>
                  </a:srgbClr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The only enabled channel</a:t>
            </a:r>
          </a:p>
        </p:txBody>
      </p:sp>
      <p:sp>
        <p:nvSpPr>
          <p:cNvPr id="255" name="Rounded Rectangle 10"/>
          <p:cNvSpPr/>
          <p:nvPr/>
        </p:nvSpPr>
        <p:spPr>
          <a:xfrm>
            <a:off x="400050" y="5921375"/>
            <a:ext cx="2933701" cy="1238251"/>
          </a:xfrm>
          <a:prstGeom prst="roundRect">
            <a:avLst>
              <a:gd name="adj" fmla="val 7692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18000"/>
              </a:srgbClr>
            </a:solidFill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256" name="t"/>
          <p:cNvSpPr txBox="1"/>
          <p:nvPr/>
        </p:nvSpPr>
        <p:spPr>
          <a:xfrm>
            <a:off x="619125" y="6038849"/>
            <a:ext cx="2533651" cy="3143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02679"/>
              </a:lnSpc>
              <a:defRPr sz="1700">
                <a:solidFill>
                  <a:srgbClr val="FFFFFF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SMS — outbound</a:t>
            </a:r>
          </a:p>
        </p:txBody>
      </p:sp>
      <p:sp>
        <p:nvSpPr>
          <p:cNvPr id="257" name="t"/>
          <p:cNvSpPr txBox="1"/>
          <p:nvPr/>
        </p:nvSpPr>
        <p:spPr>
          <a:xfrm>
            <a:off x="619125" y="6457949"/>
            <a:ext cx="2533651" cy="5429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15652"/>
              </a:lnSpc>
              <a:defRPr sz="1400">
                <a:solidFill>
                  <a:srgbClr val="FFFFFF">
                    <a:alpha val="64000"/>
                  </a:srgbClr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The four-digit code, and nothing about it</a:t>
            </a:r>
          </a:p>
        </p:txBody>
      </p:sp>
      <p:sp>
        <p:nvSpPr>
          <p:cNvPr id="258" name="t"/>
          <p:cNvSpPr txBox="1"/>
          <p:nvPr/>
        </p:nvSpPr>
        <p:spPr>
          <a:xfrm>
            <a:off x="3733800" y="3238500"/>
            <a:ext cx="3314700" cy="323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06786"/>
              </a:lnSpc>
              <a:defRPr sz="1700">
                <a:solidFill>
                  <a:srgbClr val="FFFFFF">
                    <a:alpha val="42000"/>
                  </a:srgbClr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Orchestration</a:t>
            </a:r>
          </a:p>
        </p:txBody>
      </p:sp>
      <p:sp>
        <p:nvSpPr>
          <p:cNvPr id="259" name="Rounded Rectangle 14"/>
          <p:cNvSpPr/>
          <p:nvPr/>
        </p:nvSpPr>
        <p:spPr>
          <a:xfrm>
            <a:off x="3733800" y="3667125"/>
            <a:ext cx="2933700" cy="1238250"/>
          </a:xfrm>
          <a:prstGeom prst="roundRect">
            <a:avLst>
              <a:gd name="adj" fmla="val 7692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18000"/>
              </a:srgbClr>
            </a:solidFill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260" name="t"/>
          <p:cNvSpPr txBox="1"/>
          <p:nvPr/>
        </p:nvSpPr>
        <p:spPr>
          <a:xfrm>
            <a:off x="3933825" y="3848100"/>
            <a:ext cx="2533650" cy="3143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02679"/>
              </a:lnSpc>
              <a:defRPr sz="1700">
                <a:solidFill>
                  <a:srgbClr val="FFFFFF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Automated multi-skill</a:t>
            </a:r>
          </a:p>
        </p:txBody>
      </p:sp>
      <p:sp>
        <p:nvSpPr>
          <p:cNvPr id="261" name="t"/>
          <p:cNvSpPr txBox="1"/>
          <p:nvPr/>
        </p:nvSpPr>
        <p:spPr>
          <a:xfrm>
            <a:off x="3933825" y="4181475"/>
            <a:ext cx="2533650" cy="5429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15652"/>
              </a:lnSpc>
              <a:defRPr sz="1400">
                <a:solidFill>
                  <a:srgbClr val="FFFFFF">
                    <a:alpha val="64000"/>
                  </a:srgbClr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The model activates the skill that owns it</a:t>
            </a:r>
          </a:p>
        </p:txBody>
      </p:sp>
      <p:sp>
        <p:nvSpPr>
          <p:cNvPr id="262" name="Rounded Rectangle 17"/>
          <p:cNvSpPr/>
          <p:nvPr/>
        </p:nvSpPr>
        <p:spPr>
          <a:xfrm>
            <a:off x="3733800" y="5029200"/>
            <a:ext cx="2933700" cy="1238250"/>
          </a:xfrm>
          <a:prstGeom prst="roundRect">
            <a:avLst>
              <a:gd name="adj" fmla="val 7692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18000"/>
              </a:srgbClr>
            </a:solidFill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263" name="t"/>
          <p:cNvSpPr txBox="1"/>
          <p:nvPr/>
        </p:nvSpPr>
        <p:spPr>
          <a:xfrm>
            <a:off x="3933825" y="5210175"/>
            <a:ext cx="2533650" cy="3143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02679"/>
              </a:lnSpc>
              <a:defRPr sz="1700">
                <a:solidFill>
                  <a:srgbClr val="FFFFFF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One verification skill</a:t>
            </a:r>
          </a:p>
        </p:txBody>
      </p:sp>
      <p:sp>
        <p:nvSpPr>
          <p:cNvPr id="264" name="t"/>
          <p:cNvSpPr txBox="1"/>
          <p:nvPr/>
        </p:nvSpPr>
        <p:spPr>
          <a:xfrm>
            <a:off x="3933825" y="5543550"/>
            <a:ext cx="2533650" cy="5429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15652"/>
              </a:lnSpc>
              <a:defRPr sz="1400">
                <a:solidFill>
                  <a:srgbClr val="FFFFFF">
                    <a:alpha val="64000"/>
                  </a:srgbClr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Shared by every tool that refuses</a:t>
            </a:r>
          </a:p>
        </p:txBody>
      </p:sp>
      <p:sp>
        <p:nvSpPr>
          <p:cNvPr id="265" name="Rounded Rectangle 20"/>
          <p:cNvSpPr/>
          <p:nvPr/>
        </p:nvSpPr>
        <p:spPr>
          <a:xfrm>
            <a:off x="3733800" y="6391275"/>
            <a:ext cx="2933700" cy="1238250"/>
          </a:xfrm>
          <a:prstGeom prst="roundRect">
            <a:avLst>
              <a:gd name="adj" fmla="val 7692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18000"/>
              </a:srgbClr>
            </a:solidFill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266" name="t"/>
          <p:cNvSpPr txBox="1"/>
          <p:nvPr/>
        </p:nvSpPr>
        <p:spPr>
          <a:xfrm>
            <a:off x="3933825" y="6572250"/>
            <a:ext cx="2533650" cy="3143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02679"/>
              </a:lnSpc>
              <a:defRPr sz="1700">
                <a:solidFill>
                  <a:srgbClr val="FFFFFF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Wonderful KV</a:t>
            </a:r>
          </a:p>
        </p:txBody>
      </p:sp>
      <p:sp>
        <p:nvSpPr>
          <p:cNvPr id="267" name="t"/>
          <p:cNvSpPr txBox="1"/>
          <p:nvPr/>
        </p:nvSpPr>
        <p:spPr>
          <a:xfrm>
            <a:off x="3933825" y="6905625"/>
            <a:ext cx="2533650" cy="5429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15652"/>
              </a:lnSpc>
              <a:defRPr sz="1400">
                <a:solidFill>
                  <a:srgbClr val="FFFFFF">
                    <a:alpha val="64000"/>
                  </a:srgbClr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Holds information to be used in tools</a:t>
            </a:r>
          </a:p>
        </p:txBody>
      </p:sp>
      <p:sp>
        <p:nvSpPr>
          <p:cNvPr id="268" name="arrow"/>
          <p:cNvSpPr txBox="1"/>
          <p:nvPr/>
        </p:nvSpPr>
        <p:spPr>
          <a:xfrm>
            <a:off x="3352800" y="3667125"/>
            <a:ext cx="361950" cy="4572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 anchor="ctr">
            <a:normAutofit fontScale="100000" lnSpcReduction="0"/>
          </a:bodyPr>
          <a:lstStyle>
            <a:lvl1pPr algn="ctr">
              <a:lnSpc>
                <a:spcPct val="83077"/>
              </a:lnSpc>
              <a:defRPr sz="2000">
                <a:solidFill>
                  <a:srgbClr val="FFFFFF">
                    <a:alpha val="42000"/>
                  </a:srgbClr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269" name="t"/>
          <p:cNvSpPr txBox="1"/>
          <p:nvPr/>
        </p:nvSpPr>
        <p:spPr>
          <a:xfrm>
            <a:off x="7048500" y="3238500"/>
            <a:ext cx="4572000" cy="323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06786"/>
              </a:lnSpc>
              <a:defRPr sz="1700">
                <a:solidFill>
                  <a:srgbClr val="FFFFFF">
                    <a:alpha val="42000"/>
                  </a:srgbClr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Skills</a:t>
            </a:r>
          </a:p>
        </p:txBody>
      </p:sp>
      <p:sp>
        <p:nvSpPr>
          <p:cNvPr id="270" name="Rounded Rectangle 25"/>
          <p:cNvSpPr/>
          <p:nvPr/>
        </p:nvSpPr>
        <p:spPr>
          <a:xfrm>
            <a:off x="7048500" y="3667125"/>
            <a:ext cx="4191000" cy="581025"/>
          </a:xfrm>
          <a:prstGeom prst="roundRect">
            <a:avLst>
              <a:gd name="adj" fmla="val 16393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18000"/>
              </a:srgbClr>
            </a:solidFill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271" name="t"/>
          <p:cNvSpPr txBox="1"/>
          <p:nvPr/>
        </p:nvSpPr>
        <p:spPr>
          <a:xfrm>
            <a:off x="7248525" y="3800475"/>
            <a:ext cx="3790950" cy="3143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02679"/>
              </a:lnSpc>
              <a:defRPr sz="1500">
                <a:solidFill>
                  <a:srgbClr val="FFFFFF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knowledge_information</a:t>
            </a:r>
          </a:p>
        </p:txBody>
      </p:sp>
      <p:sp>
        <p:nvSpPr>
          <p:cNvPr id="272" name="Rounded Rectangle 27"/>
          <p:cNvSpPr/>
          <p:nvPr/>
        </p:nvSpPr>
        <p:spPr>
          <a:xfrm>
            <a:off x="7048500" y="4371975"/>
            <a:ext cx="4191000" cy="581025"/>
          </a:xfrm>
          <a:prstGeom prst="roundRect">
            <a:avLst>
              <a:gd name="adj" fmla="val 16393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18000"/>
              </a:srgbClr>
            </a:solidFill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273" name="t"/>
          <p:cNvSpPr txBox="1"/>
          <p:nvPr/>
        </p:nvSpPr>
        <p:spPr>
          <a:xfrm>
            <a:off x="7248525" y="4505325"/>
            <a:ext cx="3790950" cy="3143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02679"/>
              </a:lnSpc>
              <a:defRPr sz="1500">
                <a:solidFill>
                  <a:srgbClr val="FFFFFF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account_servicing</a:t>
            </a:r>
          </a:p>
        </p:txBody>
      </p:sp>
      <p:sp>
        <p:nvSpPr>
          <p:cNvPr id="274" name="Rounded Rectangle 29"/>
          <p:cNvSpPr/>
          <p:nvPr/>
        </p:nvSpPr>
        <p:spPr>
          <a:xfrm>
            <a:off x="7048500" y="5076825"/>
            <a:ext cx="4191000" cy="581025"/>
          </a:xfrm>
          <a:prstGeom prst="roundRect">
            <a:avLst>
              <a:gd name="adj" fmla="val 16393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18000"/>
              </a:srgbClr>
            </a:solidFill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275" name="t"/>
          <p:cNvSpPr txBox="1"/>
          <p:nvPr/>
        </p:nvSpPr>
        <p:spPr>
          <a:xfrm>
            <a:off x="7248525" y="5210175"/>
            <a:ext cx="3790950" cy="3143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02679"/>
              </a:lnSpc>
              <a:defRPr sz="1500">
                <a:solidFill>
                  <a:srgbClr val="FFFFFF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card_blockings_and_transaction_disputes</a:t>
            </a:r>
          </a:p>
        </p:txBody>
      </p:sp>
      <p:sp>
        <p:nvSpPr>
          <p:cNvPr id="276" name="Rounded Rectangle 31"/>
          <p:cNvSpPr/>
          <p:nvPr/>
        </p:nvSpPr>
        <p:spPr>
          <a:xfrm>
            <a:off x="7048500" y="5781675"/>
            <a:ext cx="4191000" cy="581025"/>
          </a:xfrm>
          <a:prstGeom prst="roundRect">
            <a:avLst>
              <a:gd name="adj" fmla="val 16393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18000"/>
              </a:srgbClr>
            </a:solidFill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277" name="t"/>
          <p:cNvSpPr txBox="1"/>
          <p:nvPr/>
        </p:nvSpPr>
        <p:spPr>
          <a:xfrm>
            <a:off x="7248525" y="5915025"/>
            <a:ext cx="3790950" cy="3143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02679"/>
              </a:lnSpc>
              <a:defRPr sz="1500">
                <a:solidFill>
                  <a:srgbClr val="FFFFFF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change_credit_card_limit</a:t>
            </a:r>
          </a:p>
        </p:txBody>
      </p:sp>
      <p:sp>
        <p:nvSpPr>
          <p:cNvPr id="278" name="Rounded Rectangle 33"/>
          <p:cNvSpPr/>
          <p:nvPr/>
        </p:nvSpPr>
        <p:spPr>
          <a:xfrm>
            <a:off x="7048500" y="6486525"/>
            <a:ext cx="4191000" cy="581025"/>
          </a:xfrm>
          <a:prstGeom prst="roundRect">
            <a:avLst>
              <a:gd name="adj" fmla="val 16393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18000"/>
              </a:srgbClr>
            </a:solidFill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279" name="t"/>
          <p:cNvSpPr txBox="1"/>
          <p:nvPr/>
        </p:nvSpPr>
        <p:spPr>
          <a:xfrm>
            <a:off x="7248525" y="6619875"/>
            <a:ext cx="3790950" cy="3143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02679"/>
              </a:lnSpc>
              <a:defRPr sz="1500">
                <a:solidFill>
                  <a:srgbClr val="FFFFFF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client_authentication</a:t>
            </a:r>
          </a:p>
        </p:txBody>
      </p:sp>
      <p:sp>
        <p:nvSpPr>
          <p:cNvPr id="280" name="arrow"/>
          <p:cNvSpPr txBox="1"/>
          <p:nvPr/>
        </p:nvSpPr>
        <p:spPr>
          <a:xfrm>
            <a:off x="6667500" y="3667125"/>
            <a:ext cx="361950" cy="4572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 anchor="ctr">
            <a:normAutofit fontScale="100000" lnSpcReduction="0"/>
          </a:bodyPr>
          <a:lstStyle>
            <a:lvl1pPr algn="ctr">
              <a:lnSpc>
                <a:spcPct val="83077"/>
              </a:lnSpc>
              <a:defRPr sz="2000">
                <a:solidFill>
                  <a:srgbClr val="FFFFFF">
                    <a:alpha val="42000"/>
                  </a:srgbClr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281" name="t"/>
          <p:cNvSpPr txBox="1"/>
          <p:nvPr/>
        </p:nvSpPr>
        <p:spPr>
          <a:xfrm>
            <a:off x="11620500" y="3238500"/>
            <a:ext cx="3314700" cy="323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06786"/>
              </a:lnSpc>
              <a:defRPr sz="1700">
                <a:solidFill>
                  <a:srgbClr val="FFFFFF">
                    <a:alpha val="42000"/>
                  </a:srgbClr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Tool plane</a:t>
            </a:r>
          </a:p>
        </p:txBody>
      </p:sp>
      <p:sp>
        <p:nvSpPr>
          <p:cNvPr id="282" name="Rounded Rectangle 37"/>
          <p:cNvSpPr/>
          <p:nvPr/>
        </p:nvSpPr>
        <p:spPr>
          <a:xfrm>
            <a:off x="11620500" y="3667125"/>
            <a:ext cx="2933700" cy="1238250"/>
          </a:xfrm>
          <a:prstGeom prst="roundRect">
            <a:avLst>
              <a:gd name="adj" fmla="val 7692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18000"/>
              </a:srgbClr>
            </a:solidFill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283" name="t"/>
          <p:cNvSpPr txBox="1"/>
          <p:nvPr/>
        </p:nvSpPr>
        <p:spPr>
          <a:xfrm>
            <a:off x="11820525" y="3848100"/>
            <a:ext cx="2533650" cy="3143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02679"/>
              </a:lnSpc>
              <a:defRPr sz="1700">
                <a:solidFill>
                  <a:srgbClr val="FFFFFF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18 programmable tools</a:t>
            </a:r>
          </a:p>
        </p:txBody>
      </p:sp>
      <p:sp>
        <p:nvSpPr>
          <p:cNvPr id="284" name="t"/>
          <p:cNvSpPr txBox="1"/>
          <p:nvPr/>
        </p:nvSpPr>
        <p:spPr>
          <a:xfrm>
            <a:off x="11820525" y="4181475"/>
            <a:ext cx="2533650" cy="5429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15652"/>
              </a:lnSpc>
              <a:defRPr sz="1400">
                <a:solidFill>
                  <a:srgbClr val="FFFFFF">
                    <a:alpha val="64000"/>
                  </a:srgbClr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Read, recommend, refuse — and only sometimes write</a:t>
            </a:r>
          </a:p>
        </p:txBody>
      </p:sp>
      <p:sp>
        <p:nvSpPr>
          <p:cNvPr id="285" name="Rounded Rectangle 40"/>
          <p:cNvSpPr/>
          <p:nvPr/>
        </p:nvSpPr>
        <p:spPr>
          <a:xfrm>
            <a:off x="11620500" y="5029200"/>
            <a:ext cx="2933700" cy="1238250"/>
          </a:xfrm>
          <a:prstGeom prst="roundRect">
            <a:avLst>
              <a:gd name="adj" fmla="val 7692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18000"/>
              </a:srgbClr>
            </a:solidFill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286" name="t"/>
          <p:cNvSpPr txBox="1"/>
          <p:nvPr/>
        </p:nvSpPr>
        <p:spPr>
          <a:xfrm>
            <a:off x="11820525" y="5210175"/>
            <a:ext cx="2533650" cy="3143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02679"/>
              </a:lnSpc>
              <a:defRPr sz="1700">
                <a:solidFill>
                  <a:srgbClr val="FFFFFF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No tool holds data</a:t>
            </a:r>
          </a:p>
        </p:txBody>
      </p:sp>
      <p:sp>
        <p:nvSpPr>
          <p:cNvPr id="287" name="t"/>
          <p:cNvSpPr txBox="1"/>
          <p:nvPr/>
        </p:nvSpPr>
        <p:spPr>
          <a:xfrm>
            <a:off x="11820525" y="5543550"/>
            <a:ext cx="2533650" cy="5429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15652"/>
              </a:lnSpc>
              <a:defRPr sz="1400">
                <a:solidFill>
                  <a:srgbClr val="FFFFFF">
                    <a:alpha val="64000"/>
                  </a:srgbClr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Every figure comes back from a Function</a:t>
            </a:r>
          </a:p>
        </p:txBody>
      </p:sp>
      <p:sp>
        <p:nvSpPr>
          <p:cNvPr id="288" name="Rounded Rectangle 43"/>
          <p:cNvSpPr/>
          <p:nvPr/>
        </p:nvSpPr>
        <p:spPr>
          <a:xfrm>
            <a:off x="11620500" y="6391275"/>
            <a:ext cx="2933700" cy="1238250"/>
          </a:xfrm>
          <a:prstGeom prst="roundRect">
            <a:avLst>
              <a:gd name="adj" fmla="val 7692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18000"/>
              </a:srgbClr>
            </a:solidFill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289" name="t"/>
          <p:cNvSpPr txBox="1"/>
          <p:nvPr/>
        </p:nvSpPr>
        <p:spPr>
          <a:xfrm>
            <a:off x="11820525" y="6572250"/>
            <a:ext cx="2533650" cy="3143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02679"/>
              </a:lnSpc>
              <a:defRPr sz="1700">
                <a:solidFill>
                  <a:srgbClr val="FFFFFF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A tag at the end</a:t>
            </a:r>
          </a:p>
        </p:txBody>
      </p:sp>
      <p:sp>
        <p:nvSpPr>
          <p:cNvPr id="290" name="t"/>
          <p:cNvSpPr txBox="1"/>
          <p:nvPr/>
        </p:nvSpPr>
        <p:spPr>
          <a:xfrm>
            <a:off x="11820525" y="6905625"/>
            <a:ext cx="2533650" cy="5429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15652"/>
              </a:lnSpc>
              <a:defRPr sz="1400">
                <a:solidFill>
                  <a:srgbClr val="FFFFFF">
                    <a:alpha val="64000"/>
                  </a:srgbClr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Attached in code, where the outcome is reached</a:t>
            </a:r>
          </a:p>
        </p:txBody>
      </p:sp>
      <p:sp>
        <p:nvSpPr>
          <p:cNvPr id="291" name="arrow"/>
          <p:cNvSpPr txBox="1"/>
          <p:nvPr/>
        </p:nvSpPr>
        <p:spPr>
          <a:xfrm>
            <a:off x="11239500" y="3667125"/>
            <a:ext cx="361950" cy="4572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 anchor="ctr">
            <a:normAutofit fontScale="100000" lnSpcReduction="0"/>
          </a:bodyPr>
          <a:lstStyle>
            <a:lvl1pPr algn="ctr">
              <a:lnSpc>
                <a:spcPct val="83077"/>
              </a:lnSpc>
              <a:defRPr sz="2000">
                <a:solidFill>
                  <a:srgbClr val="FFFFFF">
                    <a:alpha val="42000"/>
                  </a:srgbClr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292" name="t"/>
          <p:cNvSpPr txBox="1"/>
          <p:nvPr/>
        </p:nvSpPr>
        <p:spPr>
          <a:xfrm>
            <a:off x="14935200" y="3238500"/>
            <a:ext cx="2933700" cy="323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06786"/>
              </a:lnSpc>
              <a:defRPr sz="1700">
                <a:solidFill>
                  <a:srgbClr val="FFFFFF">
                    <a:alpha val="42000"/>
                  </a:srgbClr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Data and back office</a:t>
            </a:r>
          </a:p>
        </p:txBody>
      </p:sp>
      <p:sp>
        <p:nvSpPr>
          <p:cNvPr id="293" name="Rounded Rectangle 48"/>
          <p:cNvSpPr/>
          <p:nvPr/>
        </p:nvSpPr>
        <p:spPr>
          <a:xfrm>
            <a:off x="14935200" y="3667125"/>
            <a:ext cx="2933700" cy="1238250"/>
          </a:xfrm>
          <a:prstGeom prst="roundRect">
            <a:avLst>
              <a:gd name="adj" fmla="val 7692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18000"/>
              </a:srgbClr>
            </a:solidFill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294" name="t"/>
          <p:cNvSpPr txBox="1"/>
          <p:nvPr/>
        </p:nvSpPr>
        <p:spPr>
          <a:xfrm>
            <a:off x="15135225" y="3848100"/>
            <a:ext cx="2533650" cy="3143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02679"/>
              </a:lnSpc>
              <a:defRPr sz="1700">
                <a:solidFill>
                  <a:srgbClr val="FFFFFF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17 Wonderful Functions</a:t>
            </a:r>
          </a:p>
        </p:txBody>
      </p:sp>
      <p:sp>
        <p:nvSpPr>
          <p:cNvPr id="295" name="t"/>
          <p:cNvSpPr txBox="1"/>
          <p:nvPr/>
        </p:nvSpPr>
        <p:spPr>
          <a:xfrm>
            <a:off x="15135225" y="4181475"/>
            <a:ext cx="2533650" cy="5429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15652"/>
              </a:lnSpc>
              <a:defRPr sz="1400">
                <a:solidFill>
                  <a:srgbClr val="FFFFFF">
                    <a:alpha val="64000"/>
                  </a:srgbClr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The only reader of a custom table</a:t>
            </a:r>
          </a:p>
        </p:txBody>
      </p:sp>
      <p:sp>
        <p:nvSpPr>
          <p:cNvPr id="296" name="Rounded Rectangle 51"/>
          <p:cNvSpPr/>
          <p:nvPr/>
        </p:nvSpPr>
        <p:spPr>
          <a:xfrm>
            <a:off x="14935200" y="5029200"/>
            <a:ext cx="2933700" cy="1238250"/>
          </a:xfrm>
          <a:prstGeom prst="roundRect">
            <a:avLst>
              <a:gd name="adj" fmla="val 7692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18000"/>
              </a:srgbClr>
            </a:solidFill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297" name="t"/>
          <p:cNvSpPr txBox="1"/>
          <p:nvPr/>
        </p:nvSpPr>
        <p:spPr>
          <a:xfrm>
            <a:off x="15135225" y="5210175"/>
            <a:ext cx="2533650" cy="3143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02679"/>
              </a:lnSpc>
              <a:defRPr sz="1700">
                <a:solidFill>
                  <a:srgbClr val="FFFFFF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7 custom tables</a:t>
            </a:r>
          </a:p>
        </p:txBody>
      </p:sp>
      <p:sp>
        <p:nvSpPr>
          <p:cNvPr id="298" name="t"/>
          <p:cNvSpPr txBox="1"/>
          <p:nvPr/>
        </p:nvSpPr>
        <p:spPr>
          <a:xfrm>
            <a:off x="15135225" y="5543550"/>
            <a:ext cx="2533650" cy="5429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15652"/>
              </a:lnSpc>
              <a:defRPr sz="1400">
                <a:solidFill>
                  <a:srgbClr val="FFFFFF">
                    <a:alpha val="64000"/>
                  </a:srgbClr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Clients, cards, invoices, transactions, disputes</a:t>
            </a:r>
          </a:p>
        </p:txBody>
      </p:sp>
      <p:sp>
        <p:nvSpPr>
          <p:cNvPr id="299" name="Rounded Rectangle 54"/>
          <p:cNvSpPr/>
          <p:nvPr/>
        </p:nvSpPr>
        <p:spPr>
          <a:xfrm>
            <a:off x="14935200" y="6391275"/>
            <a:ext cx="2933700" cy="1238250"/>
          </a:xfrm>
          <a:prstGeom prst="roundRect">
            <a:avLst>
              <a:gd name="adj" fmla="val 7692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18000"/>
              </a:srgbClr>
            </a:solidFill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300" name="t"/>
          <p:cNvSpPr txBox="1"/>
          <p:nvPr/>
        </p:nvSpPr>
        <p:spPr>
          <a:xfrm>
            <a:off x="15135225" y="6572250"/>
            <a:ext cx="2533650" cy="3143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02679"/>
              </a:lnSpc>
              <a:defRPr sz="1700">
                <a:solidFill>
                  <a:srgbClr val="FFFFFF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Wonderful App</a:t>
            </a:r>
          </a:p>
        </p:txBody>
      </p:sp>
      <p:sp>
        <p:nvSpPr>
          <p:cNvPr id="301" name="t"/>
          <p:cNvSpPr txBox="1"/>
          <p:nvPr/>
        </p:nvSpPr>
        <p:spPr>
          <a:xfrm>
            <a:off x="15135225" y="6905625"/>
            <a:ext cx="2533650" cy="5429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15652"/>
              </a:lnSpc>
              <a:defRPr sz="1400">
                <a:solidFill>
                  <a:srgbClr val="FFFFFF">
                    <a:alpha val="64000"/>
                  </a:srgbClr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Disputes, risk and metrics for the back office</a:t>
            </a:r>
          </a:p>
        </p:txBody>
      </p:sp>
      <p:sp>
        <p:nvSpPr>
          <p:cNvPr id="302" name="arrow"/>
          <p:cNvSpPr txBox="1"/>
          <p:nvPr/>
        </p:nvSpPr>
        <p:spPr>
          <a:xfrm>
            <a:off x="14554200" y="3667125"/>
            <a:ext cx="361950" cy="4572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 anchor="ctr">
            <a:normAutofit fontScale="100000" lnSpcReduction="0"/>
          </a:bodyPr>
          <a:lstStyle>
            <a:lvl1pPr algn="ctr">
              <a:lnSpc>
                <a:spcPct val="83077"/>
              </a:lnSpc>
              <a:defRPr sz="2000">
                <a:solidFill>
                  <a:srgbClr val="FFFFFF">
                    <a:alpha val="42000"/>
                  </a:srgbClr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303" name="footnote"/>
          <p:cNvSpPr txBox="1"/>
          <p:nvPr/>
        </p:nvSpPr>
        <p:spPr>
          <a:xfrm>
            <a:off x="419100" y="8829675"/>
            <a:ext cx="17449800" cy="3619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19107"/>
              </a:lnSpc>
              <a:defRPr sz="1700">
                <a:solidFill>
                  <a:srgbClr val="FFFFFF">
                    <a:alpha val="42000"/>
                  </a:srgbClr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A tool never reads data that would normally belong to the bank API directly from a table, it always goes through a Wonderful Function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eyebrow"/>
          <p:cNvSpPr txBox="1"/>
          <p:nvPr/>
        </p:nvSpPr>
        <p:spPr>
          <a:xfrm>
            <a:off x="419100" y="342900"/>
            <a:ext cx="16344900" cy="3714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08000"/>
              </a:lnSpc>
              <a:defRPr sz="2000">
                <a:solidFill>
                  <a:srgbClr val="FFFFFF">
                    <a:alpha val="42000"/>
                  </a:srgbClr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Architecture</a:t>
            </a:r>
          </a:p>
        </p:txBody>
      </p:sp>
      <p:sp>
        <p:nvSpPr>
          <p:cNvPr id="306" name="h1"/>
          <p:cNvSpPr txBox="1"/>
          <p:nvPr/>
        </p:nvSpPr>
        <p:spPr>
          <a:xfrm>
            <a:off x="419100" y="790575"/>
            <a:ext cx="16344900" cy="5524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81930"/>
              </a:lnSpc>
              <a:defRPr sz="3200">
                <a:solidFill>
                  <a:srgbClr val="FFFFFF"/>
                </a:solidFill>
                <a:latin typeface="Inter ExtraLight"/>
                <a:ea typeface="Inter ExtraLight"/>
                <a:cs typeface="Inter ExtraLight"/>
                <a:sym typeface="Inter ExtraLight"/>
              </a:defRPr>
            </a:lvl1pPr>
          </a:lstStyle>
          <a:p>
            <a:pPr/>
            <a:r>
              <a:t>Skills and routing</a:t>
            </a:r>
          </a:p>
        </p:txBody>
      </p:sp>
      <p:sp>
        <p:nvSpPr>
          <p:cNvPr id="307" name="deck"/>
          <p:cNvSpPr txBox="1"/>
          <p:nvPr/>
        </p:nvSpPr>
        <p:spPr>
          <a:xfrm>
            <a:off x="419100" y="1390650"/>
            <a:ext cx="15297150" cy="3905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12153"/>
              </a:lnSpc>
              <a:defRPr sz="2000">
                <a:solidFill>
                  <a:srgbClr val="B5B5B7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Authentication is escalated within a skill. It is never an entry point.</a:t>
            </a:r>
          </a:p>
        </p:txBody>
      </p:sp>
      <p:pic>
        <p:nvPicPr>
          <p:cNvPr id="308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6725900" y="9620250"/>
            <a:ext cx="1143000" cy="285750"/>
          </a:xfrm>
          <a:prstGeom prst="rect">
            <a:avLst/>
          </a:prstGeom>
          <a:ln w="12700">
            <a:miter lim="400000"/>
          </a:ln>
        </p:spPr>
      </p:pic>
      <p:sp>
        <p:nvSpPr>
          <p:cNvPr id="309" name="Rounded Rectangle 5"/>
          <p:cNvSpPr/>
          <p:nvPr/>
        </p:nvSpPr>
        <p:spPr>
          <a:xfrm>
            <a:off x="419100" y="3733800"/>
            <a:ext cx="17449800" cy="4914900"/>
          </a:xfrm>
          <a:prstGeom prst="roundRect">
            <a:avLst>
              <a:gd name="adj" fmla="val 2713"/>
            </a:avLst>
          </a:prstGeom>
          <a:solidFill>
            <a:srgbClr val="FFFFFF">
              <a:alpha val="10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310" name="t"/>
          <p:cNvSpPr txBox="1"/>
          <p:nvPr/>
        </p:nvSpPr>
        <p:spPr>
          <a:xfrm>
            <a:off x="847725" y="4086225"/>
            <a:ext cx="4476750" cy="2190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74348"/>
              </a:lnSpc>
              <a:defRPr sz="1000">
                <a:solidFill>
                  <a:srgbClr val="FFFFFF">
                    <a:alpha val="42000"/>
                  </a:srgbClr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Skill</a:t>
            </a:r>
          </a:p>
        </p:txBody>
      </p:sp>
      <p:sp>
        <p:nvSpPr>
          <p:cNvPr id="311" name="t"/>
          <p:cNvSpPr txBox="1"/>
          <p:nvPr/>
        </p:nvSpPr>
        <p:spPr>
          <a:xfrm>
            <a:off x="5572125" y="4086225"/>
            <a:ext cx="2381250" cy="2190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74348"/>
              </a:lnSpc>
              <a:defRPr sz="1000">
                <a:solidFill>
                  <a:srgbClr val="FFFFFF">
                    <a:alpha val="42000"/>
                  </a:srgbClr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Verification</a:t>
            </a:r>
          </a:p>
        </p:txBody>
      </p:sp>
      <p:sp>
        <p:nvSpPr>
          <p:cNvPr id="312" name="t"/>
          <p:cNvSpPr txBox="1"/>
          <p:nvPr/>
        </p:nvSpPr>
        <p:spPr>
          <a:xfrm>
            <a:off x="8048625" y="4086225"/>
            <a:ext cx="9820275" cy="2190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74348"/>
              </a:lnSpc>
              <a:defRPr sz="1000">
                <a:solidFill>
                  <a:srgbClr val="FFFFFF">
                    <a:alpha val="42000"/>
                  </a:srgbClr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What it owns</a:t>
            </a:r>
          </a:p>
        </p:txBody>
      </p:sp>
      <p:sp>
        <p:nvSpPr>
          <p:cNvPr id="313" name="Rectangle 9"/>
          <p:cNvSpPr/>
          <p:nvPr/>
        </p:nvSpPr>
        <p:spPr>
          <a:xfrm>
            <a:off x="847725" y="4418012"/>
            <a:ext cx="16592550" cy="12701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314" name="t"/>
          <p:cNvSpPr txBox="1"/>
          <p:nvPr/>
        </p:nvSpPr>
        <p:spPr>
          <a:xfrm>
            <a:off x="847725" y="4667250"/>
            <a:ext cx="4476750" cy="2857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 defTabSz="402336">
              <a:lnSpc>
                <a:spcPct val="89722"/>
              </a:lnSpc>
              <a:defRPr sz="1496">
                <a:solidFill>
                  <a:srgbClr val="FFFFFF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knowledge_information</a:t>
            </a:r>
          </a:p>
        </p:txBody>
      </p:sp>
      <p:sp>
        <p:nvSpPr>
          <p:cNvPr id="315" name="Rounded Rectangle 11"/>
          <p:cNvSpPr/>
          <p:nvPr/>
        </p:nvSpPr>
        <p:spPr>
          <a:xfrm>
            <a:off x="5572125" y="4657725"/>
            <a:ext cx="638175" cy="314325"/>
          </a:xfrm>
          <a:prstGeom prst="roundRect">
            <a:avLst>
              <a:gd name="adj" fmla="val 50000"/>
            </a:avLst>
          </a:prstGeom>
          <a:ln w="12700">
            <a:solidFill>
              <a:srgbClr val="FFFFFF">
                <a:alpha val="26000"/>
              </a:srgbClr>
            </a:solidFill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316" name="pill"/>
          <p:cNvSpPr txBox="1"/>
          <p:nvPr/>
        </p:nvSpPr>
        <p:spPr>
          <a:xfrm>
            <a:off x="5572125" y="4695825"/>
            <a:ext cx="638175" cy="2190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 algn="ctr">
              <a:lnSpc>
                <a:spcPct val="74348"/>
              </a:lnSpc>
              <a:defRPr sz="1000">
                <a:solidFill>
                  <a:srgbClr val="FFFFFF">
                    <a:alpha val="64000"/>
                  </a:srgbClr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public</a:t>
            </a:r>
          </a:p>
        </p:txBody>
      </p:sp>
      <p:sp>
        <p:nvSpPr>
          <p:cNvPr id="317" name="t"/>
          <p:cNvSpPr txBox="1"/>
          <p:nvPr/>
        </p:nvSpPr>
        <p:spPr>
          <a:xfrm>
            <a:off x="8048625" y="4667250"/>
            <a:ext cx="9820275" cy="3524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15000"/>
              </a:lnSpc>
              <a:defRPr sz="1700">
                <a:solidFill>
                  <a:srgbClr val="FFFFFF">
                    <a:alpha val="64000"/>
                  </a:srgbClr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Card products, monthly fees and how they are waived, interest, rewards, benefits, policy</a:t>
            </a:r>
          </a:p>
        </p:txBody>
      </p:sp>
      <p:sp>
        <p:nvSpPr>
          <p:cNvPr id="318" name="Rectangle 14"/>
          <p:cNvSpPr/>
          <p:nvPr/>
        </p:nvSpPr>
        <p:spPr>
          <a:xfrm>
            <a:off x="847725" y="5389562"/>
            <a:ext cx="16592550" cy="12701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319" name="t"/>
          <p:cNvSpPr txBox="1"/>
          <p:nvPr/>
        </p:nvSpPr>
        <p:spPr>
          <a:xfrm>
            <a:off x="847725" y="5486400"/>
            <a:ext cx="4476750" cy="2857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 defTabSz="402336">
              <a:lnSpc>
                <a:spcPct val="89722"/>
              </a:lnSpc>
              <a:defRPr sz="1496">
                <a:solidFill>
                  <a:srgbClr val="FFFFFF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account_servicing</a:t>
            </a:r>
          </a:p>
        </p:txBody>
      </p:sp>
      <p:sp>
        <p:nvSpPr>
          <p:cNvPr id="320" name="Rounded Rectangle 16"/>
          <p:cNvSpPr/>
          <p:nvPr/>
        </p:nvSpPr>
        <p:spPr>
          <a:xfrm>
            <a:off x="5572125" y="5476875"/>
            <a:ext cx="400050" cy="314325"/>
          </a:xfrm>
          <a:prstGeom prst="roundRect">
            <a:avLst>
              <a:gd name="adj" fmla="val 50000"/>
            </a:avLst>
          </a:prstGeom>
          <a:ln w="12700">
            <a:solidFill>
              <a:srgbClr val="4285F4">
                <a:alpha val="26000"/>
              </a:srgbClr>
            </a:solidFill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321" name="pill"/>
          <p:cNvSpPr txBox="1"/>
          <p:nvPr/>
        </p:nvSpPr>
        <p:spPr>
          <a:xfrm>
            <a:off x="5572125" y="5514975"/>
            <a:ext cx="400050" cy="2190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 algn="ctr">
              <a:lnSpc>
                <a:spcPct val="74348"/>
              </a:lnSpc>
              <a:defRPr sz="1000">
                <a:solidFill>
                  <a:srgbClr val="4285F4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L1</a:t>
            </a:r>
          </a:p>
        </p:txBody>
      </p:sp>
      <p:sp>
        <p:nvSpPr>
          <p:cNvPr id="322" name="t"/>
          <p:cNvSpPr txBox="1"/>
          <p:nvPr/>
        </p:nvSpPr>
        <p:spPr>
          <a:xfrm>
            <a:off x="6124575" y="5534025"/>
            <a:ext cx="257175" cy="2190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74348"/>
              </a:lnSpc>
              <a:defRPr sz="1000">
                <a:solidFill>
                  <a:srgbClr val="FFFFFF">
                    <a:alpha val="42000"/>
                  </a:srgbClr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323" name="Rounded Rectangle 19"/>
          <p:cNvSpPr/>
          <p:nvPr/>
        </p:nvSpPr>
        <p:spPr>
          <a:xfrm>
            <a:off x="6534150" y="5476875"/>
            <a:ext cx="428625" cy="314325"/>
          </a:xfrm>
          <a:prstGeom prst="roundRect">
            <a:avLst>
              <a:gd name="adj" fmla="val 50000"/>
            </a:avLst>
          </a:prstGeom>
          <a:ln w="12700">
            <a:solidFill>
              <a:srgbClr val="10B981">
                <a:alpha val="26000"/>
              </a:srgbClr>
            </a:solidFill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324" name="pill"/>
          <p:cNvSpPr txBox="1"/>
          <p:nvPr/>
        </p:nvSpPr>
        <p:spPr>
          <a:xfrm>
            <a:off x="6534150" y="5514975"/>
            <a:ext cx="428625" cy="2190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 algn="ctr">
              <a:lnSpc>
                <a:spcPct val="74348"/>
              </a:lnSpc>
              <a:defRPr sz="1000">
                <a:solidFill>
                  <a:srgbClr val="10B98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L2</a:t>
            </a:r>
          </a:p>
        </p:txBody>
      </p:sp>
      <p:sp>
        <p:nvSpPr>
          <p:cNvPr id="325" name="t"/>
          <p:cNvSpPr txBox="1"/>
          <p:nvPr/>
        </p:nvSpPr>
        <p:spPr>
          <a:xfrm>
            <a:off x="8048625" y="5486400"/>
            <a:ext cx="9820275" cy="647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15000"/>
              </a:lnSpc>
              <a:defRPr sz="1700">
                <a:solidFill>
                  <a:srgbClr val="FFFFFF">
                    <a:alpha val="64000"/>
                  </a:srgbClr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Balance, pre-approved credit, the limit on each card, an invoice, a transaction's outcome, the contact phone — and changing it</a:t>
            </a:r>
          </a:p>
        </p:txBody>
      </p:sp>
      <p:sp>
        <p:nvSpPr>
          <p:cNvPr id="326" name="Rectangle 22"/>
          <p:cNvSpPr/>
          <p:nvPr/>
        </p:nvSpPr>
        <p:spPr>
          <a:xfrm>
            <a:off x="847725" y="6208712"/>
            <a:ext cx="16592550" cy="12701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327" name="t"/>
          <p:cNvSpPr txBox="1"/>
          <p:nvPr/>
        </p:nvSpPr>
        <p:spPr>
          <a:xfrm>
            <a:off x="847725" y="6305550"/>
            <a:ext cx="4476750" cy="2857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 defTabSz="402336">
              <a:lnSpc>
                <a:spcPct val="89722"/>
              </a:lnSpc>
              <a:defRPr sz="1496">
                <a:solidFill>
                  <a:srgbClr val="FFFFFF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card_blockings_and_transaction_disputes</a:t>
            </a:r>
          </a:p>
        </p:txBody>
      </p:sp>
      <p:sp>
        <p:nvSpPr>
          <p:cNvPr id="328" name="Rounded Rectangle 24"/>
          <p:cNvSpPr/>
          <p:nvPr/>
        </p:nvSpPr>
        <p:spPr>
          <a:xfrm>
            <a:off x="5572125" y="6296025"/>
            <a:ext cx="400050" cy="314325"/>
          </a:xfrm>
          <a:prstGeom prst="roundRect">
            <a:avLst>
              <a:gd name="adj" fmla="val 50000"/>
            </a:avLst>
          </a:prstGeom>
          <a:ln w="12700">
            <a:solidFill>
              <a:srgbClr val="4285F4">
                <a:alpha val="26000"/>
              </a:srgbClr>
            </a:solidFill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329" name="pill"/>
          <p:cNvSpPr txBox="1"/>
          <p:nvPr/>
        </p:nvSpPr>
        <p:spPr>
          <a:xfrm>
            <a:off x="5572125" y="6334125"/>
            <a:ext cx="400050" cy="2190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 algn="ctr">
              <a:lnSpc>
                <a:spcPct val="74348"/>
              </a:lnSpc>
              <a:defRPr sz="1000">
                <a:solidFill>
                  <a:srgbClr val="4285F4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L1</a:t>
            </a:r>
          </a:p>
        </p:txBody>
      </p:sp>
      <p:sp>
        <p:nvSpPr>
          <p:cNvPr id="330" name="t"/>
          <p:cNvSpPr txBox="1"/>
          <p:nvPr/>
        </p:nvSpPr>
        <p:spPr>
          <a:xfrm>
            <a:off x="6124575" y="6353175"/>
            <a:ext cx="257175" cy="2190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74348"/>
              </a:lnSpc>
              <a:defRPr sz="1000">
                <a:solidFill>
                  <a:srgbClr val="FFFFFF">
                    <a:alpha val="42000"/>
                  </a:srgbClr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331" name="Rounded Rectangle 27"/>
          <p:cNvSpPr/>
          <p:nvPr/>
        </p:nvSpPr>
        <p:spPr>
          <a:xfrm>
            <a:off x="6534150" y="6296025"/>
            <a:ext cx="428625" cy="314325"/>
          </a:xfrm>
          <a:prstGeom prst="roundRect">
            <a:avLst>
              <a:gd name="adj" fmla="val 50000"/>
            </a:avLst>
          </a:prstGeom>
          <a:ln w="12700">
            <a:solidFill>
              <a:srgbClr val="10B981">
                <a:alpha val="26000"/>
              </a:srgbClr>
            </a:solidFill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332" name="pill"/>
          <p:cNvSpPr txBox="1"/>
          <p:nvPr/>
        </p:nvSpPr>
        <p:spPr>
          <a:xfrm>
            <a:off x="6534150" y="6334125"/>
            <a:ext cx="428625" cy="2190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 algn="ctr">
              <a:lnSpc>
                <a:spcPct val="74348"/>
              </a:lnSpc>
              <a:defRPr sz="1000">
                <a:solidFill>
                  <a:srgbClr val="10B98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L2</a:t>
            </a:r>
          </a:p>
        </p:txBody>
      </p:sp>
      <p:sp>
        <p:nvSpPr>
          <p:cNvPr id="333" name="t"/>
          <p:cNvSpPr txBox="1"/>
          <p:nvPr/>
        </p:nvSpPr>
        <p:spPr>
          <a:xfrm>
            <a:off x="8048625" y="6305550"/>
            <a:ext cx="9820275" cy="647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15000"/>
              </a:lnSpc>
              <a:defRPr sz="1700">
                <a:solidFill>
                  <a:srgbClr val="FFFFFF">
                    <a:alpha val="64000"/>
                  </a:srgbClr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A lost or stolen card, blocking, cancelling, putting a blocked card back into use, and filing a dispute against a charge</a:t>
            </a:r>
          </a:p>
        </p:txBody>
      </p:sp>
      <p:sp>
        <p:nvSpPr>
          <p:cNvPr id="334" name="Rectangle 30"/>
          <p:cNvSpPr/>
          <p:nvPr/>
        </p:nvSpPr>
        <p:spPr>
          <a:xfrm>
            <a:off x="847725" y="7027862"/>
            <a:ext cx="16592550" cy="12701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335" name="t"/>
          <p:cNvSpPr txBox="1"/>
          <p:nvPr/>
        </p:nvSpPr>
        <p:spPr>
          <a:xfrm>
            <a:off x="847725" y="7124700"/>
            <a:ext cx="4476750" cy="2857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 defTabSz="402336">
              <a:lnSpc>
                <a:spcPct val="89722"/>
              </a:lnSpc>
              <a:defRPr sz="1496">
                <a:solidFill>
                  <a:srgbClr val="FFFFFF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change_credit_card_limit</a:t>
            </a:r>
          </a:p>
        </p:txBody>
      </p:sp>
      <p:sp>
        <p:nvSpPr>
          <p:cNvPr id="336" name="Rounded Rectangle 32"/>
          <p:cNvSpPr/>
          <p:nvPr/>
        </p:nvSpPr>
        <p:spPr>
          <a:xfrm>
            <a:off x="5572125" y="7115175"/>
            <a:ext cx="400050" cy="314325"/>
          </a:xfrm>
          <a:prstGeom prst="roundRect">
            <a:avLst>
              <a:gd name="adj" fmla="val 50000"/>
            </a:avLst>
          </a:prstGeom>
          <a:ln w="12700">
            <a:solidFill>
              <a:srgbClr val="4285F4">
                <a:alpha val="26000"/>
              </a:srgbClr>
            </a:solidFill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337" name="pill"/>
          <p:cNvSpPr txBox="1"/>
          <p:nvPr/>
        </p:nvSpPr>
        <p:spPr>
          <a:xfrm>
            <a:off x="5572125" y="7153275"/>
            <a:ext cx="400050" cy="2190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 algn="ctr">
              <a:lnSpc>
                <a:spcPct val="74348"/>
              </a:lnSpc>
              <a:defRPr sz="1000">
                <a:solidFill>
                  <a:srgbClr val="4285F4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L1</a:t>
            </a:r>
          </a:p>
        </p:txBody>
      </p:sp>
      <p:sp>
        <p:nvSpPr>
          <p:cNvPr id="338" name="t"/>
          <p:cNvSpPr txBox="1"/>
          <p:nvPr/>
        </p:nvSpPr>
        <p:spPr>
          <a:xfrm>
            <a:off x="6124575" y="7172325"/>
            <a:ext cx="257175" cy="2190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74348"/>
              </a:lnSpc>
              <a:defRPr sz="1000">
                <a:solidFill>
                  <a:srgbClr val="FFFFFF">
                    <a:alpha val="42000"/>
                  </a:srgbClr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339" name="Rounded Rectangle 35"/>
          <p:cNvSpPr/>
          <p:nvPr/>
        </p:nvSpPr>
        <p:spPr>
          <a:xfrm>
            <a:off x="6534150" y="7115175"/>
            <a:ext cx="428625" cy="314325"/>
          </a:xfrm>
          <a:prstGeom prst="roundRect">
            <a:avLst>
              <a:gd name="adj" fmla="val 50000"/>
            </a:avLst>
          </a:prstGeom>
          <a:ln w="12700">
            <a:solidFill>
              <a:srgbClr val="10B981">
                <a:alpha val="26000"/>
              </a:srgbClr>
            </a:solidFill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340" name="pill"/>
          <p:cNvSpPr txBox="1"/>
          <p:nvPr/>
        </p:nvSpPr>
        <p:spPr>
          <a:xfrm>
            <a:off x="6534150" y="7153275"/>
            <a:ext cx="428625" cy="2190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 algn="ctr">
              <a:lnSpc>
                <a:spcPct val="74348"/>
              </a:lnSpc>
              <a:defRPr sz="1000">
                <a:solidFill>
                  <a:srgbClr val="10B98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L2</a:t>
            </a:r>
          </a:p>
        </p:txBody>
      </p:sp>
      <p:sp>
        <p:nvSpPr>
          <p:cNvPr id="341" name="t"/>
          <p:cNvSpPr txBox="1"/>
          <p:nvPr/>
        </p:nvSpPr>
        <p:spPr>
          <a:xfrm>
            <a:off x="8048625" y="7124700"/>
            <a:ext cx="9820275" cy="647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15000"/>
              </a:lnSpc>
              <a:defRPr sz="1700">
                <a:solidFill>
                  <a:srgbClr val="FFFFFF">
                    <a:alpha val="64000"/>
                  </a:srgbClr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Raising a limit within pre-approved credit, raising it beyond that against investments held here, and lowering it</a:t>
            </a:r>
          </a:p>
        </p:txBody>
      </p:sp>
      <p:sp>
        <p:nvSpPr>
          <p:cNvPr id="342" name="Rectangle 38"/>
          <p:cNvSpPr/>
          <p:nvPr/>
        </p:nvSpPr>
        <p:spPr>
          <a:xfrm>
            <a:off x="847725" y="7847012"/>
            <a:ext cx="16592550" cy="12701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343" name="t"/>
          <p:cNvSpPr txBox="1"/>
          <p:nvPr/>
        </p:nvSpPr>
        <p:spPr>
          <a:xfrm>
            <a:off x="847725" y="7943850"/>
            <a:ext cx="4476750" cy="2857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 defTabSz="402336">
              <a:lnSpc>
                <a:spcPct val="89722"/>
              </a:lnSpc>
              <a:defRPr sz="1496">
                <a:solidFill>
                  <a:srgbClr val="FFFFFF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client_authentication</a:t>
            </a:r>
          </a:p>
        </p:txBody>
      </p:sp>
      <p:sp>
        <p:nvSpPr>
          <p:cNvPr id="344" name="Rounded Rectangle 40"/>
          <p:cNvSpPr/>
          <p:nvPr/>
        </p:nvSpPr>
        <p:spPr>
          <a:xfrm>
            <a:off x="5572125" y="7934325"/>
            <a:ext cx="885825" cy="314325"/>
          </a:xfrm>
          <a:prstGeom prst="roundRect">
            <a:avLst>
              <a:gd name="adj" fmla="val 50000"/>
            </a:avLst>
          </a:prstGeom>
          <a:ln w="12700">
            <a:solidFill>
              <a:srgbClr val="FFFFFF">
                <a:alpha val="26000"/>
              </a:srgbClr>
            </a:solidFill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345" name="pill"/>
          <p:cNvSpPr txBox="1"/>
          <p:nvPr/>
        </p:nvSpPr>
        <p:spPr>
          <a:xfrm>
            <a:off x="5572125" y="7972425"/>
            <a:ext cx="885825" cy="2190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 algn="ctr">
              <a:lnSpc>
                <a:spcPct val="74348"/>
              </a:lnSpc>
              <a:defRPr sz="1000">
                <a:solidFill>
                  <a:srgbClr val="FFFFFF">
                    <a:alpha val="64000"/>
                  </a:srgbClr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the ladder</a:t>
            </a:r>
          </a:p>
        </p:txBody>
      </p:sp>
      <p:sp>
        <p:nvSpPr>
          <p:cNvPr id="346" name="t"/>
          <p:cNvSpPr txBox="1"/>
          <p:nvPr/>
        </p:nvSpPr>
        <p:spPr>
          <a:xfrm>
            <a:off x="8048625" y="7916068"/>
            <a:ext cx="9820275" cy="647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15000"/>
              </a:lnSpc>
              <a:defRPr sz="1700">
                <a:solidFill>
                  <a:srgbClr val="FFFFFF">
                    <a:alpha val="64000"/>
                  </a:srgbClr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The two steps, the attempt bounds, the protocol number, and the way back to the tool that refused - never an entry point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h1"/>
          <p:cNvSpPr txBox="1"/>
          <p:nvPr/>
        </p:nvSpPr>
        <p:spPr>
          <a:xfrm>
            <a:off x="419100" y="790575"/>
            <a:ext cx="16344900" cy="5524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81930"/>
              </a:lnSpc>
              <a:defRPr sz="3200">
                <a:solidFill>
                  <a:srgbClr val="FFFFFF"/>
                </a:solidFill>
                <a:latin typeface="Inter ExtraLight"/>
                <a:ea typeface="Inter ExtraLight"/>
                <a:cs typeface="Inter ExtraLight"/>
                <a:sym typeface="Inter ExtraLight"/>
              </a:defRPr>
            </a:lvl1pPr>
          </a:lstStyle>
          <a:p>
            <a:pPr/>
            <a:r>
              <a:t>Limit backed by investments - a limit above pre-approved is bought, not granted</a:t>
            </a:r>
          </a:p>
        </p:txBody>
      </p:sp>
      <p:sp>
        <p:nvSpPr>
          <p:cNvPr id="349" name="deck"/>
          <p:cNvSpPr txBox="1"/>
          <p:nvPr/>
        </p:nvSpPr>
        <p:spPr>
          <a:xfrm>
            <a:off x="419100" y="1390650"/>
            <a:ext cx="15297150" cy="7334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12153"/>
              </a:lnSpc>
              <a:defRPr sz="2000">
                <a:solidFill>
                  <a:srgbClr val="B5B5B7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Credit up to the pre-approved total costs nothing. Every dollar above it is backed by two held from the investments the caller holds here.</a:t>
            </a:r>
          </a:p>
        </p:txBody>
      </p:sp>
      <p:pic>
        <p:nvPicPr>
          <p:cNvPr id="350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6725900" y="9620250"/>
            <a:ext cx="1143000" cy="285750"/>
          </a:xfrm>
          <a:prstGeom prst="rect">
            <a:avLst/>
          </a:prstGeom>
          <a:ln w="12700">
            <a:miter lim="400000"/>
          </a:ln>
        </p:spPr>
      </p:pic>
      <p:sp>
        <p:nvSpPr>
          <p:cNvPr id="351" name="Rounded Rectangle 5"/>
          <p:cNvSpPr/>
          <p:nvPr/>
        </p:nvSpPr>
        <p:spPr>
          <a:xfrm>
            <a:off x="419100" y="3238500"/>
            <a:ext cx="4162425" cy="3276600"/>
          </a:xfrm>
          <a:prstGeom prst="roundRect">
            <a:avLst>
              <a:gd name="adj" fmla="val 3488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18000"/>
              </a:srgbClr>
            </a:solidFill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352" name="Rounded Rectangle 6"/>
          <p:cNvSpPr/>
          <p:nvPr/>
        </p:nvSpPr>
        <p:spPr>
          <a:xfrm>
            <a:off x="752475" y="3533775"/>
            <a:ext cx="628650" cy="314325"/>
          </a:xfrm>
          <a:prstGeom prst="roundRect">
            <a:avLst>
              <a:gd name="adj" fmla="val 50000"/>
            </a:avLst>
          </a:prstGeom>
          <a:ln w="12700">
            <a:solidFill>
              <a:srgbClr val="FFFFFF">
                <a:alpha val="26000"/>
              </a:srgbClr>
            </a:solidFill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353" name="pill"/>
          <p:cNvSpPr txBox="1"/>
          <p:nvPr/>
        </p:nvSpPr>
        <p:spPr>
          <a:xfrm>
            <a:off x="752475" y="3571875"/>
            <a:ext cx="628650" cy="2190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 algn="ctr">
              <a:lnSpc>
                <a:spcPct val="74348"/>
              </a:lnSpc>
              <a:defRPr sz="1000">
                <a:solidFill>
                  <a:srgbClr val="FFFFFF">
                    <a:alpha val="64000"/>
                  </a:srgbClr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read</a:t>
            </a:r>
          </a:p>
        </p:txBody>
      </p:sp>
      <p:sp>
        <p:nvSpPr>
          <p:cNvPr id="354" name="t"/>
          <p:cNvSpPr txBox="1"/>
          <p:nvPr/>
        </p:nvSpPr>
        <p:spPr>
          <a:xfrm>
            <a:off x="752475" y="4057650"/>
            <a:ext cx="3495675" cy="3714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03846"/>
              </a:lnSpc>
              <a:defRPr sz="2000">
                <a:solidFill>
                  <a:srgbClr val="FFFFFF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What the card carries now</a:t>
            </a:r>
          </a:p>
        </p:txBody>
      </p:sp>
      <p:sp>
        <p:nvSpPr>
          <p:cNvPr id="355" name="t"/>
          <p:cNvSpPr txBox="1"/>
          <p:nvPr/>
        </p:nvSpPr>
        <p:spPr>
          <a:xfrm>
            <a:off x="752475" y="4933950"/>
            <a:ext cx="3495675" cy="9715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19107"/>
              </a:lnSpc>
              <a:defRPr sz="1700">
                <a:solidFill>
                  <a:srgbClr val="FFFFFF">
                    <a:alpha val="64000"/>
                  </a:srgbClr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And what the increase would make of the total across every card they hold.</a:t>
            </a:r>
          </a:p>
        </p:txBody>
      </p:sp>
      <p:sp>
        <p:nvSpPr>
          <p:cNvPr id="356" name="Rounded Rectangle 10"/>
          <p:cNvSpPr/>
          <p:nvPr/>
        </p:nvSpPr>
        <p:spPr>
          <a:xfrm>
            <a:off x="4848225" y="3238500"/>
            <a:ext cx="4162425" cy="3276600"/>
          </a:xfrm>
          <a:prstGeom prst="roundRect">
            <a:avLst>
              <a:gd name="adj" fmla="val 3488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18000"/>
              </a:srgbClr>
            </a:solidFill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357" name="Rounded Rectangle 11"/>
          <p:cNvSpPr/>
          <p:nvPr/>
        </p:nvSpPr>
        <p:spPr>
          <a:xfrm>
            <a:off x="5181600" y="3533775"/>
            <a:ext cx="533400" cy="314325"/>
          </a:xfrm>
          <a:prstGeom prst="roundRect">
            <a:avLst>
              <a:gd name="adj" fmla="val 50000"/>
            </a:avLst>
          </a:prstGeom>
          <a:ln w="12700">
            <a:solidFill>
              <a:srgbClr val="4285F4">
                <a:alpha val="26000"/>
              </a:srgbClr>
            </a:solidFill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358" name="pill"/>
          <p:cNvSpPr txBox="1"/>
          <p:nvPr/>
        </p:nvSpPr>
        <p:spPr>
          <a:xfrm>
            <a:off x="5181600" y="3571875"/>
            <a:ext cx="533400" cy="2190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 algn="ctr">
              <a:lnSpc>
                <a:spcPct val="74348"/>
              </a:lnSpc>
              <a:defRPr sz="1000">
                <a:solidFill>
                  <a:srgbClr val="4285F4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fits</a:t>
            </a:r>
          </a:p>
        </p:txBody>
      </p:sp>
      <p:sp>
        <p:nvSpPr>
          <p:cNvPr id="359" name="t"/>
          <p:cNvSpPr txBox="1"/>
          <p:nvPr/>
        </p:nvSpPr>
        <p:spPr>
          <a:xfrm>
            <a:off x="5181600" y="4057650"/>
            <a:ext cx="3495675" cy="3714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03846"/>
              </a:lnSpc>
              <a:defRPr sz="2000">
                <a:solidFill>
                  <a:srgbClr val="FFFFFF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Inside the approval, free</a:t>
            </a:r>
          </a:p>
        </p:txBody>
      </p:sp>
      <p:sp>
        <p:nvSpPr>
          <p:cNvPr id="360" name="t"/>
          <p:cNvSpPr txBox="1"/>
          <p:nvPr/>
        </p:nvSpPr>
        <p:spPr>
          <a:xfrm>
            <a:off x="5181600" y="4933950"/>
            <a:ext cx="3495675" cy="9715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19107"/>
              </a:lnSpc>
              <a:defRPr sz="1700">
                <a:solidFill>
                  <a:srgbClr val="FFFFFF">
                    <a:alpha val="64000"/>
                  </a:srgbClr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Nothing is pledged. The write still waits for the caller's yes, and asks for L2 at that point.</a:t>
            </a:r>
          </a:p>
        </p:txBody>
      </p:sp>
      <p:sp>
        <p:nvSpPr>
          <p:cNvPr id="361" name="arrow"/>
          <p:cNvSpPr txBox="1"/>
          <p:nvPr/>
        </p:nvSpPr>
        <p:spPr>
          <a:xfrm>
            <a:off x="4448175" y="3238500"/>
            <a:ext cx="400050" cy="3276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 anchor="ctr">
            <a:normAutofit fontScale="100000" lnSpcReduction="0"/>
          </a:bodyPr>
          <a:lstStyle>
            <a:lvl1pPr algn="ctr">
              <a:lnSpc>
                <a:spcPct val="82609"/>
              </a:lnSpc>
              <a:defRPr sz="2800">
                <a:solidFill>
                  <a:srgbClr val="FFFFFF">
                    <a:alpha val="42000"/>
                  </a:srgbClr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362" name="Rounded Rectangle 16"/>
          <p:cNvSpPr/>
          <p:nvPr/>
        </p:nvSpPr>
        <p:spPr>
          <a:xfrm>
            <a:off x="9277350" y="3238500"/>
            <a:ext cx="4162425" cy="3276600"/>
          </a:xfrm>
          <a:prstGeom prst="roundRect">
            <a:avLst>
              <a:gd name="adj" fmla="val 3488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18000"/>
              </a:srgbClr>
            </a:solidFill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363" name="Rounded Rectangle 17"/>
          <p:cNvSpPr/>
          <p:nvPr/>
        </p:nvSpPr>
        <p:spPr>
          <a:xfrm>
            <a:off x="9610725" y="3533775"/>
            <a:ext cx="1028700" cy="314325"/>
          </a:xfrm>
          <a:prstGeom prst="roundRect">
            <a:avLst>
              <a:gd name="adj" fmla="val 50000"/>
            </a:avLst>
          </a:prstGeom>
          <a:ln w="12700">
            <a:solidFill>
              <a:srgbClr val="FFBB65">
                <a:alpha val="26000"/>
              </a:srgbClr>
            </a:solidFill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364" name="pill"/>
          <p:cNvSpPr txBox="1"/>
          <p:nvPr/>
        </p:nvSpPr>
        <p:spPr>
          <a:xfrm>
            <a:off x="9610725" y="3571875"/>
            <a:ext cx="1028700" cy="2190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 algn="ctr">
              <a:lnSpc>
                <a:spcPct val="74348"/>
              </a:lnSpc>
              <a:defRPr sz="1000">
                <a:solidFill>
                  <a:srgbClr val="FFBB65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does not fit</a:t>
            </a:r>
          </a:p>
        </p:txBody>
      </p:sp>
      <p:sp>
        <p:nvSpPr>
          <p:cNvPr id="365" name="t"/>
          <p:cNvSpPr txBox="1"/>
          <p:nvPr/>
        </p:nvSpPr>
        <p:spPr>
          <a:xfrm>
            <a:off x="9610725" y="4057650"/>
            <a:ext cx="3495675" cy="3714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03846"/>
              </a:lnSpc>
              <a:defRPr sz="2000">
                <a:solidFill>
                  <a:srgbClr val="FFFFFF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Priced, not refused</a:t>
            </a:r>
          </a:p>
        </p:txBody>
      </p:sp>
      <p:sp>
        <p:nvSpPr>
          <p:cNvPr id="366" name="t"/>
          <p:cNvSpPr txBox="1"/>
          <p:nvPr/>
        </p:nvSpPr>
        <p:spPr>
          <a:xfrm>
            <a:off x="9610725" y="4933950"/>
            <a:ext cx="3495675" cy="9715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19107"/>
              </a:lnSpc>
              <a:defRPr sz="1700">
                <a:solidFill>
                  <a:srgbClr val="FFFFFF">
                    <a:alpha val="64000"/>
                  </a:srgbClr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The reply names the tool that works out what the request would cost against their holdings.</a:t>
            </a:r>
          </a:p>
        </p:txBody>
      </p:sp>
      <p:sp>
        <p:nvSpPr>
          <p:cNvPr id="367" name="arrow"/>
          <p:cNvSpPr txBox="1"/>
          <p:nvPr/>
        </p:nvSpPr>
        <p:spPr>
          <a:xfrm>
            <a:off x="8877300" y="3238500"/>
            <a:ext cx="400050" cy="3276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 anchor="ctr">
            <a:normAutofit fontScale="100000" lnSpcReduction="0"/>
          </a:bodyPr>
          <a:lstStyle>
            <a:lvl1pPr algn="ctr">
              <a:lnSpc>
                <a:spcPct val="82609"/>
              </a:lnSpc>
              <a:defRPr sz="2800">
                <a:solidFill>
                  <a:srgbClr val="FFFFFF">
                    <a:alpha val="42000"/>
                  </a:srgbClr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368" name="Rounded Rectangle 22"/>
          <p:cNvSpPr/>
          <p:nvPr/>
        </p:nvSpPr>
        <p:spPr>
          <a:xfrm>
            <a:off x="13706475" y="3238500"/>
            <a:ext cx="4162425" cy="3276600"/>
          </a:xfrm>
          <a:prstGeom prst="roundRect">
            <a:avLst>
              <a:gd name="adj" fmla="val 3488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18000"/>
              </a:srgbClr>
            </a:solidFill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369" name="Rounded Rectangle 23"/>
          <p:cNvSpPr/>
          <p:nvPr/>
        </p:nvSpPr>
        <p:spPr>
          <a:xfrm>
            <a:off x="14039850" y="3533775"/>
            <a:ext cx="733425" cy="314325"/>
          </a:xfrm>
          <a:prstGeom prst="roundRect">
            <a:avLst>
              <a:gd name="adj" fmla="val 50000"/>
            </a:avLst>
          </a:prstGeom>
          <a:ln w="12700">
            <a:solidFill>
              <a:srgbClr val="10B981">
                <a:alpha val="26000"/>
              </a:srgbClr>
            </a:solidFill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370" name="pill"/>
          <p:cNvSpPr txBox="1"/>
          <p:nvPr/>
        </p:nvSpPr>
        <p:spPr>
          <a:xfrm>
            <a:off x="14039850" y="3571875"/>
            <a:ext cx="733425" cy="2190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 algn="ctr">
              <a:lnSpc>
                <a:spcPct val="74348"/>
              </a:lnSpc>
              <a:defRPr sz="1000">
                <a:solidFill>
                  <a:srgbClr val="10B98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priced</a:t>
            </a:r>
          </a:p>
        </p:txBody>
      </p:sp>
      <p:sp>
        <p:nvSpPr>
          <p:cNvPr id="371" name="t"/>
          <p:cNvSpPr txBox="1"/>
          <p:nvPr/>
        </p:nvSpPr>
        <p:spPr>
          <a:xfrm>
            <a:off x="14039850" y="4057650"/>
            <a:ext cx="3495675" cy="685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03846"/>
              </a:lnSpc>
              <a:defRPr sz="2000">
                <a:solidFill>
                  <a:srgbClr val="FFFFFF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Two held for every one granted</a:t>
            </a:r>
          </a:p>
        </p:txBody>
      </p:sp>
      <p:sp>
        <p:nvSpPr>
          <p:cNvPr id="372" name="t"/>
          <p:cNvSpPr txBox="1"/>
          <p:nvPr/>
        </p:nvSpPr>
        <p:spPr>
          <a:xfrm>
            <a:off x="14039850" y="4933950"/>
            <a:ext cx="3495675" cy="12858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19107"/>
              </a:lnSpc>
              <a:defRPr sz="1700">
                <a:solidFill>
                  <a:srgbClr val="FFFFFF">
                    <a:alpha val="64000"/>
                  </a:srgbClr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And where they hold too little, the largest limit their holdings do support — so the refusal arrives carrying an offer.</a:t>
            </a:r>
          </a:p>
        </p:txBody>
      </p:sp>
      <p:sp>
        <p:nvSpPr>
          <p:cNvPr id="373" name="arrow"/>
          <p:cNvSpPr txBox="1"/>
          <p:nvPr/>
        </p:nvSpPr>
        <p:spPr>
          <a:xfrm>
            <a:off x="13306425" y="3238500"/>
            <a:ext cx="400050" cy="3276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 anchor="ctr">
            <a:normAutofit fontScale="100000" lnSpcReduction="0"/>
          </a:bodyPr>
          <a:lstStyle>
            <a:lvl1pPr algn="ctr">
              <a:lnSpc>
                <a:spcPct val="82609"/>
              </a:lnSpc>
              <a:defRPr sz="2800">
                <a:solidFill>
                  <a:srgbClr val="FFFFFF">
                    <a:alpha val="42000"/>
                  </a:srgbClr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374" name="Rectangle 28"/>
          <p:cNvSpPr/>
          <p:nvPr/>
        </p:nvSpPr>
        <p:spPr>
          <a:xfrm>
            <a:off x="419100" y="7046912"/>
            <a:ext cx="5153025" cy="12701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375" name="t"/>
          <p:cNvSpPr txBox="1"/>
          <p:nvPr/>
        </p:nvSpPr>
        <p:spPr>
          <a:xfrm>
            <a:off x="419100" y="7248525"/>
            <a:ext cx="5667375" cy="2571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73928"/>
              </a:lnSpc>
              <a:defRPr sz="1300">
                <a:solidFill>
                  <a:srgbClr val="4285F4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01</a:t>
            </a:r>
          </a:p>
        </p:txBody>
      </p:sp>
      <p:sp>
        <p:nvSpPr>
          <p:cNvPr id="376" name="t"/>
          <p:cNvSpPr txBox="1"/>
          <p:nvPr/>
        </p:nvSpPr>
        <p:spPr>
          <a:xfrm>
            <a:off x="419100" y="7600950"/>
            <a:ext cx="5667375" cy="3619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03846"/>
              </a:lnSpc>
              <a:defRPr sz="2000">
                <a:solidFill>
                  <a:srgbClr val="FFFFFF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The release is the exact inverse</a:t>
            </a:r>
          </a:p>
        </p:txBody>
      </p:sp>
      <p:sp>
        <p:nvSpPr>
          <p:cNvPr id="377" name="t"/>
          <p:cNvSpPr txBox="1"/>
          <p:nvPr/>
        </p:nvSpPr>
        <p:spPr>
          <a:xfrm>
            <a:off x="419100" y="8020050"/>
            <a:ext cx="5667375" cy="6667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19107"/>
              </a:lnSpc>
              <a:defRPr sz="1700">
                <a:solidFill>
                  <a:srgbClr val="FFFFFF">
                    <a:alpha val="64000"/>
                  </a:srgbClr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Every dollar of limit given back frees the two held for it, bounded by what is actually held.</a:t>
            </a:r>
          </a:p>
        </p:txBody>
      </p:sp>
      <p:sp>
        <p:nvSpPr>
          <p:cNvPr id="378" name="Rectangle 32"/>
          <p:cNvSpPr/>
          <p:nvPr/>
        </p:nvSpPr>
        <p:spPr>
          <a:xfrm>
            <a:off x="6315075" y="7046912"/>
            <a:ext cx="5153025" cy="12701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379" name="t"/>
          <p:cNvSpPr txBox="1"/>
          <p:nvPr/>
        </p:nvSpPr>
        <p:spPr>
          <a:xfrm>
            <a:off x="6315075" y="7248525"/>
            <a:ext cx="5667375" cy="2571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73928"/>
              </a:lnSpc>
              <a:defRPr sz="1300">
                <a:solidFill>
                  <a:srgbClr val="4285F4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380" name="t"/>
          <p:cNvSpPr txBox="1"/>
          <p:nvPr/>
        </p:nvSpPr>
        <p:spPr>
          <a:xfrm>
            <a:off x="6315075" y="7600950"/>
            <a:ext cx="5667375" cy="3619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03846"/>
              </a:lnSpc>
              <a:defRPr sz="2000">
                <a:solidFill>
                  <a:srgbClr val="FFFFFF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The ratio is in two places only</a:t>
            </a:r>
          </a:p>
        </p:txBody>
      </p:sp>
      <p:sp>
        <p:nvSpPr>
          <p:cNvPr id="381" name="t"/>
          <p:cNvSpPr txBox="1"/>
          <p:nvPr/>
        </p:nvSpPr>
        <p:spPr>
          <a:xfrm>
            <a:off x="6315075" y="8020050"/>
            <a:ext cx="5667375" cy="6667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19107"/>
              </a:lnSpc>
              <a:defRPr sz="1700">
                <a:solidFill>
                  <a:srgbClr val="FFFFFF">
                    <a:alpha val="64000"/>
                  </a:srgbClr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A library constant and the Function that writes the limit. It is named in no prompt at all.</a:t>
            </a:r>
          </a:p>
        </p:txBody>
      </p:sp>
      <p:sp>
        <p:nvSpPr>
          <p:cNvPr id="382" name="Rectangle 36"/>
          <p:cNvSpPr/>
          <p:nvPr/>
        </p:nvSpPr>
        <p:spPr>
          <a:xfrm>
            <a:off x="12211050" y="7046912"/>
            <a:ext cx="5153025" cy="12701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383" name="t"/>
          <p:cNvSpPr txBox="1"/>
          <p:nvPr/>
        </p:nvSpPr>
        <p:spPr>
          <a:xfrm>
            <a:off x="12211050" y="7248525"/>
            <a:ext cx="5667375" cy="2571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73928"/>
              </a:lnSpc>
              <a:defRPr sz="1300">
                <a:solidFill>
                  <a:srgbClr val="4285F4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03</a:t>
            </a:r>
          </a:p>
        </p:txBody>
      </p:sp>
      <p:sp>
        <p:nvSpPr>
          <p:cNvPr id="384" name="t"/>
          <p:cNvSpPr txBox="1"/>
          <p:nvPr/>
        </p:nvSpPr>
        <p:spPr>
          <a:xfrm>
            <a:off x="12211050" y="7600950"/>
            <a:ext cx="5667375" cy="3619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03846"/>
              </a:lnSpc>
              <a:defRPr sz="2000">
                <a:solidFill>
                  <a:srgbClr val="FFFFFF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The arithmetic is never the agent's</a:t>
            </a:r>
          </a:p>
        </p:txBody>
      </p:sp>
      <p:sp>
        <p:nvSpPr>
          <p:cNvPr id="385" name="t"/>
          <p:cNvSpPr txBox="1"/>
          <p:nvPr/>
        </p:nvSpPr>
        <p:spPr>
          <a:xfrm>
            <a:off x="12211050" y="8020050"/>
            <a:ext cx="5667375" cy="6667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19107"/>
              </a:lnSpc>
              <a:defRPr sz="1700">
                <a:solidFill>
                  <a:srgbClr val="FFFFFF">
                    <a:alpha val="64000"/>
                  </a:srgbClr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It states what the tool returned. A figure it worked out itself is a figure it can get wrong.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eyebrow"/>
          <p:cNvSpPr txBox="1"/>
          <p:nvPr/>
        </p:nvSpPr>
        <p:spPr>
          <a:xfrm>
            <a:off x="419100" y="342900"/>
            <a:ext cx="16344900" cy="3714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08000"/>
              </a:lnSpc>
              <a:defRPr sz="2000">
                <a:solidFill>
                  <a:srgbClr val="FFFFFF">
                    <a:alpha val="42000"/>
                  </a:srgbClr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Implementation</a:t>
            </a:r>
          </a:p>
        </p:txBody>
      </p:sp>
      <p:sp>
        <p:nvSpPr>
          <p:cNvPr id="388" name="h1"/>
          <p:cNvSpPr txBox="1"/>
          <p:nvPr/>
        </p:nvSpPr>
        <p:spPr>
          <a:xfrm>
            <a:off x="419100" y="790575"/>
            <a:ext cx="16344900" cy="5524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81930"/>
              </a:lnSpc>
              <a:defRPr sz="3200">
                <a:solidFill>
                  <a:srgbClr val="FFFFFF"/>
                </a:solidFill>
                <a:latin typeface="Inter ExtraLight"/>
                <a:ea typeface="Inter ExtraLight"/>
                <a:cs typeface="Inter ExtraLight"/>
                <a:sym typeface="Inter ExtraLight"/>
              </a:defRPr>
            </a:lvl1pPr>
          </a:lstStyle>
          <a:p>
            <a:pPr/>
            <a:r>
              <a:t>The prompt governs, the skill narrows, the tool decides</a:t>
            </a:r>
          </a:p>
        </p:txBody>
      </p:sp>
      <p:sp>
        <p:nvSpPr>
          <p:cNvPr id="389" name="deck"/>
          <p:cNvSpPr txBox="1"/>
          <p:nvPr/>
        </p:nvSpPr>
        <p:spPr>
          <a:xfrm>
            <a:off x="419100" y="1390650"/>
            <a:ext cx="15297150" cy="7334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12153"/>
              </a:lnSpc>
              <a:defRPr sz="2000">
                <a:solidFill>
                  <a:srgbClr val="B5B5B7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The base prompt never carries out a request. The skill owns one journey. The tool owns the facts, the refusals and every side effect.</a:t>
            </a:r>
          </a:p>
        </p:txBody>
      </p:sp>
      <p:pic>
        <p:nvPicPr>
          <p:cNvPr id="390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6725900" y="9620250"/>
            <a:ext cx="1143000" cy="285750"/>
          </a:xfrm>
          <a:prstGeom prst="rect">
            <a:avLst/>
          </a:prstGeom>
          <a:ln w="12700">
            <a:miter lim="400000"/>
          </a:ln>
        </p:spPr>
      </p:pic>
      <p:sp>
        <p:nvSpPr>
          <p:cNvPr id="391" name="Rounded Rectangle 5"/>
          <p:cNvSpPr/>
          <p:nvPr/>
        </p:nvSpPr>
        <p:spPr>
          <a:xfrm>
            <a:off x="419100" y="3143250"/>
            <a:ext cx="5457825" cy="3571875"/>
          </a:xfrm>
          <a:prstGeom prst="roundRect">
            <a:avLst>
              <a:gd name="adj" fmla="val 3200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18000"/>
              </a:srgbClr>
            </a:solidFill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392" name="t"/>
          <p:cNvSpPr txBox="1"/>
          <p:nvPr/>
        </p:nvSpPr>
        <p:spPr>
          <a:xfrm>
            <a:off x="771525" y="3438525"/>
            <a:ext cx="4752975" cy="323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06786"/>
              </a:lnSpc>
              <a:defRPr sz="1700">
                <a:solidFill>
                  <a:srgbClr val="FFFFFF">
                    <a:alpha val="42000"/>
                  </a:srgbClr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Base prompt</a:t>
            </a:r>
          </a:p>
        </p:txBody>
      </p:sp>
      <p:sp>
        <p:nvSpPr>
          <p:cNvPr id="393" name="t"/>
          <p:cNvSpPr txBox="1"/>
          <p:nvPr/>
        </p:nvSpPr>
        <p:spPr>
          <a:xfrm>
            <a:off x="771525" y="3838575"/>
            <a:ext cx="4752975" cy="457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85500"/>
              </a:lnSpc>
              <a:defRPr sz="2600">
                <a:solidFill>
                  <a:srgbClr val="FFFFFF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Govern and route</a:t>
            </a:r>
          </a:p>
        </p:txBody>
      </p:sp>
      <p:sp>
        <p:nvSpPr>
          <p:cNvPr id="394" name="Rectangle 8"/>
          <p:cNvSpPr/>
          <p:nvPr/>
        </p:nvSpPr>
        <p:spPr>
          <a:xfrm>
            <a:off x="771525" y="4341812"/>
            <a:ext cx="4048125" cy="12701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395" name="t"/>
          <p:cNvSpPr txBox="1"/>
          <p:nvPr/>
        </p:nvSpPr>
        <p:spPr>
          <a:xfrm>
            <a:off x="771525" y="4476750"/>
            <a:ext cx="4752975" cy="3524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15000"/>
              </a:lnSpc>
              <a:defRPr sz="1700">
                <a:solidFill>
                  <a:srgbClr val="FFFFFF">
                    <a:alpha val="64000"/>
                  </a:srgbClr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Who the agent is, and how it sounds</a:t>
            </a:r>
          </a:p>
        </p:txBody>
      </p:sp>
      <p:sp>
        <p:nvSpPr>
          <p:cNvPr id="396" name="Rectangle 10"/>
          <p:cNvSpPr/>
          <p:nvPr/>
        </p:nvSpPr>
        <p:spPr>
          <a:xfrm>
            <a:off x="771525" y="4903787"/>
            <a:ext cx="4048125" cy="12701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397" name="t"/>
          <p:cNvSpPr txBox="1"/>
          <p:nvPr/>
        </p:nvSpPr>
        <p:spPr>
          <a:xfrm>
            <a:off x="771525" y="5038725"/>
            <a:ext cx="4752975" cy="3524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15000"/>
              </a:lnSpc>
              <a:defRPr sz="1700">
                <a:solidFill>
                  <a:srgbClr val="FFFFFF">
                    <a:alpha val="64000"/>
                  </a:srgbClr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Which skill owns which request</a:t>
            </a:r>
          </a:p>
        </p:txBody>
      </p:sp>
      <p:sp>
        <p:nvSpPr>
          <p:cNvPr id="398" name="Rectangle 12"/>
          <p:cNvSpPr/>
          <p:nvPr/>
        </p:nvSpPr>
        <p:spPr>
          <a:xfrm>
            <a:off x="771525" y="5465762"/>
            <a:ext cx="4048125" cy="12701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399" name="t"/>
          <p:cNvSpPr txBox="1"/>
          <p:nvPr/>
        </p:nvSpPr>
        <p:spPr>
          <a:xfrm>
            <a:off x="771525" y="5600700"/>
            <a:ext cx="4752975" cy="3524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15000"/>
              </a:lnSpc>
              <a:defRPr sz="1700">
                <a:solidFill>
                  <a:srgbClr val="FFFFFF">
                    <a:alpha val="64000"/>
                  </a:srgbClr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What this line cannot do at all</a:t>
            </a:r>
          </a:p>
        </p:txBody>
      </p:sp>
      <p:sp>
        <p:nvSpPr>
          <p:cNvPr id="400" name="Rectangle 14"/>
          <p:cNvSpPr/>
          <p:nvPr/>
        </p:nvSpPr>
        <p:spPr>
          <a:xfrm>
            <a:off x="771525" y="6027737"/>
            <a:ext cx="4048125" cy="12701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401" name="t"/>
          <p:cNvSpPr txBox="1"/>
          <p:nvPr/>
        </p:nvSpPr>
        <p:spPr>
          <a:xfrm>
            <a:off x="771525" y="6162675"/>
            <a:ext cx="4752975" cy="3524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15000"/>
              </a:lnSpc>
              <a:defRPr sz="1700">
                <a:solidFill>
                  <a:srgbClr val="FFFFFF">
                    <a:alpha val="64000"/>
                  </a:srgbClr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Guardrails that hold under pressure</a:t>
            </a:r>
          </a:p>
        </p:txBody>
      </p:sp>
      <p:sp>
        <p:nvSpPr>
          <p:cNvPr id="402" name="Rounded Rectangle 16"/>
          <p:cNvSpPr/>
          <p:nvPr/>
        </p:nvSpPr>
        <p:spPr>
          <a:xfrm>
            <a:off x="6419850" y="3143250"/>
            <a:ext cx="5457825" cy="3571875"/>
          </a:xfrm>
          <a:prstGeom prst="roundRect">
            <a:avLst>
              <a:gd name="adj" fmla="val 3200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18000"/>
              </a:srgbClr>
            </a:solidFill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403" name="t"/>
          <p:cNvSpPr txBox="1"/>
          <p:nvPr/>
        </p:nvSpPr>
        <p:spPr>
          <a:xfrm>
            <a:off x="6772275" y="3438525"/>
            <a:ext cx="4752975" cy="323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06786"/>
              </a:lnSpc>
              <a:defRPr sz="1700">
                <a:solidFill>
                  <a:srgbClr val="FFFFFF">
                    <a:alpha val="42000"/>
                  </a:srgbClr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Skill package</a:t>
            </a:r>
          </a:p>
        </p:txBody>
      </p:sp>
      <p:sp>
        <p:nvSpPr>
          <p:cNvPr id="404" name="t"/>
          <p:cNvSpPr txBox="1"/>
          <p:nvPr/>
        </p:nvSpPr>
        <p:spPr>
          <a:xfrm>
            <a:off x="6772275" y="3838575"/>
            <a:ext cx="4752975" cy="457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85500"/>
              </a:lnSpc>
              <a:defRPr sz="2600">
                <a:solidFill>
                  <a:srgbClr val="FFFFFF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Own one journey</a:t>
            </a:r>
          </a:p>
        </p:txBody>
      </p:sp>
      <p:sp>
        <p:nvSpPr>
          <p:cNvPr id="405" name="Rectangle 19"/>
          <p:cNvSpPr/>
          <p:nvPr/>
        </p:nvSpPr>
        <p:spPr>
          <a:xfrm>
            <a:off x="6772275" y="4341812"/>
            <a:ext cx="4048125" cy="12701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406" name="t"/>
          <p:cNvSpPr txBox="1"/>
          <p:nvPr/>
        </p:nvSpPr>
        <p:spPr>
          <a:xfrm>
            <a:off x="6772275" y="4476750"/>
            <a:ext cx="4752975" cy="3524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15000"/>
              </a:lnSpc>
              <a:defRPr sz="1700">
                <a:solidFill>
                  <a:srgbClr val="FFFFFF">
                    <a:alpha val="64000"/>
                  </a:srgbClr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The order the steps run in</a:t>
            </a:r>
          </a:p>
        </p:txBody>
      </p:sp>
      <p:sp>
        <p:nvSpPr>
          <p:cNvPr id="407" name="Rectangle 21"/>
          <p:cNvSpPr/>
          <p:nvPr/>
        </p:nvSpPr>
        <p:spPr>
          <a:xfrm>
            <a:off x="6772275" y="4903787"/>
            <a:ext cx="4048125" cy="12701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408" name="t"/>
          <p:cNvSpPr txBox="1"/>
          <p:nvPr/>
        </p:nvSpPr>
        <p:spPr>
          <a:xfrm>
            <a:off x="6772275" y="5038725"/>
            <a:ext cx="4752975" cy="3524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15000"/>
              </a:lnSpc>
              <a:defRPr sz="1700">
                <a:solidFill>
                  <a:srgbClr val="FFFFFF">
                    <a:alpha val="64000"/>
                  </a:srgbClr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Which tool to call, and when</a:t>
            </a:r>
          </a:p>
        </p:txBody>
      </p:sp>
      <p:sp>
        <p:nvSpPr>
          <p:cNvPr id="409" name="Rectangle 23"/>
          <p:cNvSpPr/>
          <p:nvPr/>
        </p:nvSpPr>
        <p:spPr>
          <a:xfrm>
            <a:off x="6772275" y="5465762"/>
            <a:ext cx="4048125" cy="12701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410" name="t"/>
          <p:cNvSpPr txBox="1"/>
          <p:nvPr/>
        </p:nvSpPr>
        <p:spPr>
          <a:xfrm>
            <a:off x="6772275" y="5600700"/>
            <a:ext cx="4752975" cy="3524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15000"/>
              </a:lnSpc>
              <a:defRPr sz="1700">
                <a:solidFill>
                  <a:srgbClr val="FFFFFF">
                    <a:alpha val="64000"/>
                  </a:srgbClr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The wording this domain needs</a:t>
            </a:r>
          </a:p>
        </p:txBody>
      </p:sp>
      <p:sp>
        <p:nvSpPr>
          <p:cNvPr id="411" name="Rectangle 25"/>
          <p:cNvSpPr/>
          <p:nvPr/>
        </p:nvSpPr>
        <p:spPr>
          <a:xfrm>
            <a:off x="6772275" y="6027737"/>
            <a:ext cx="4048125" cy="12701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412" name="t"/>
          <p:cNvSpPr txBox="1"/>
          <p:nvPr/>
        </p:nvSpPr>
        <p:spPr>
          <a:xfrm>
            <a:off x="6772275" y="6162675"/>
            <a:ext cx="4752975" cy="3524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15000"/>
              </a:lnSpc>
              <a:defRPr sz="1700">
                <a:solidFill>
                  <a:srgbClr val="FFFFFF">
                    <a:alpha val="64000"/>
                  </a:srgbClr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Where verification comes back to</a:t>
            </a:r>
          </a:p>
        </p:txBody>
      </p:sp>
      <p:sp>
        <p:nvSpPr>
          <p:cNvPr id="413" name="arrow"/>
          <p:cNvSpPr txBox="1"/>
          <p:nvPr/>
        </p:nvSpPr>
        <p:spPr>
          <a:xfrm>
            <a:off x="5876925" y="3143250"/>
            <a:ext cx="542925" cy="35718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 anchor="ctr">
            <a:normAutofit fontScale="100000" lnSpcReduction="0"/>
          </a:bodyPr>
          <a:lstStyle>
            <a:lvl1pPr algn="ctr">
              <a:lnSpc>
                <a:spcPct val="82609"/>
              </a:lnSpc>
              <a:defRPr sz="2800">
                <a:solidFill>
                  <a:srgbClr val="FFFFFF">
                    <a:alpha val="42000"/>
                  </a:srgbClr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414" name="Rounded Rectangle 28"/>
          <p:cNvSpPr/>
          <p:nvPr/>
        </p:nvSpPr>
        <p:spPr>
          <a:xfrm>
            <a:off x="12420600" y="3143250"/>
            <a:ext cx="5457825" cy="3571875"/>
          </a:xfrm>
          <a:prstGeom prst="roundRect">
            <a:avLst>
              <a:gd name="adj" fmla="val 3200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18000"/>
              </a:srgbClr>
            </a:solidFill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415" name="t"/>
          <p:cNvSpPr txBox="1"/>
          <p:nvPr/>
        </p:nvSpPr>
        <p:spPr>
          <a:xfrm>
            <a:off x="12773025" y="3438525"/>
            <a:ext cx="4752975" cy="323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06786"/>
              </a:lnSpc>
              <a:defRPr sz="1700">
                <a:solidFill>
                  <a:srgbClr val="FFFFFF">
                    <a:alpha val="42000"/>
                  </a:srgbClr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Tool</a:t>
            </a:r>
          </a:p>
        </p:txBody>
      </p:sp>
      <p:sp>
        <p:nvSpPr>
          <p:cNvPr id="416" name="t"/>
          <p:cNvSpPr txBox="1"/>
          <p:nvPr/>
        </p:nvSpPr>
        <p:spPr>
          <a:xfrm>
            <a:off x="12773025" y="3838575"/>
            <a:ext cx="4752975" cy="457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85500"/>
              </a:lnSpc>
              <a:defRPr sz="2600">
                <a:solidFill>
                  <a:srgbClr val="FFFFFF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Decide and report</a:t>
            </a:r>
          </a:p>
        </p:txBody>
      </p:sp>
      <p:sp>
        <p:nvSpPr>
          <p:cNvPr id="417" name="Rectangle 31"/>
          <p:cNvSpPr/>
          <p:nvPr/>
        </p:nvSpPr>
        <p:spPr>
          <a:xfrm>
            <a:off x="12773025" y="4341812"/>
            <a:ext cx="4048125" cy="12701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418" name="t"/>
          <p:cNvSpPr txBox="1"/>
          <p:nvPr/>
        </p:nvSpPr>
        <p:spPr>
          <a:xfrm>
            <a:off x="12773025" y="4476750"/>
            <a:ext cx="4752975" cy="3524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15000"/>
              </a:lnSpc>
              <a:defRPr sz="1700">
                <a:solidFill>
                  <a:srgbClr val="FFFFFF">
                    <a:alpha val="64000"/>
                  </a:srgbClr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The verification level it requires</a:t>
            </a:r>
          </a:p>
        </p:txBody>
      </p:sp>
      <p:sp>
        <p:nvSpPr>
          <p:cNvPr id="419" name="Rectangle 33"/>
          <p:cNvSpPr/>
          <p:nvPr/>
        </p:nvSpPr>
        <p:spPr>
          <a:xfrm>
            <a:off x="12773025" y="4903787"/>
            <a:ext cx="4048125" cy="12701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420" name="t"/>
          <p:cNvSpPr txBox="1"/>
          <p:nvPr/>
        </p:nvSpPr>
        <p:spPr>
          <a:xfrm>
            <a:off x="12773025" y="5038725"/>
            <a:ext cx="4752975" cy="3524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15000"/>
              </a:lnSpc>
              <a:defRPr sz="1700">
                <a:solidFill>
                  <a:srgbClr val="FFFFFF">
                    <a:alpha val="64000"/>
                  </a:srgbClr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Bounds, counters and idempotency</a:t>
            </a:r>
          </a:p>
        </p:txBody>
      </p:sp>
      <p:sp>
        <p:nvSpPr>
          <p:cNvPr id="421" name="Rectangle 35"/>
          <p:cNvSpPr/>
          <p:nvPr/>
        </p:nvSpPr>
        <p:spPr>
          <a:xfrm>
            <a:off x="12773025" y="5465762"/>
            <a:ext cx="4048125" cy="12701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422" name="t"/>
          <p:cNvSpPr txBox="1"/>
          <p:nvPr/>
        </p:nvSpPr>
        <p:spPr>
          <a:xfrm>
            <a:off x="12773025" y="5600700"/>
            <a:ext cx="4752975" cy="3524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15000"/>
              </a:lnSpc>
              <a:defRPr sz="1700">
                <a:solidFill>
                  <a:srgbClr val="FFFFFF">
                    <a:alpha val="64000"/>
                  </a:srgbClr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Every figure the caller will hear</a:t>
            </a:r>
          </a:p>
        </p:txBody>
      </p:sp>
      <p:sp>
        <p:nvSpPr>
          <p:cNvPr id="423" name="Rectangle 37"/>
          <p:cNvSpPr/>
          <p:nvPr/>
        </p:nvSpPr>
        <p:spPr>
          <a:xfrm>
            <a:off x="12773025" y="6027737"/>
            <a:ext cx="4048125" cy="12701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424" name="t"/>
          <p:cNvSpPr txBox="1"/>
          <p:nvPr/>
        </p:nvSpPr>
        <p:spPr>
          <a:xfrm>
            <a:off x="12773025" y="6162675"/>
            <a:ext cx="4752975" cy="3524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15000"/>
              </a:lnSpc>
              <a:defRPr sz="1700">
                <a:solidFill>
                  <a:srgbClr val="FFFFFF">
                    <a:alpha val="64000"/>
                  </a:srgbClr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The tag, attached at the end</a:t>
            </a:r>
          </a:p>
        </p:txBody>
      </p:sp>
      <p:sp>
        <p:nvSpPr>
          <p:cNvPr id="425" name="arrow"/>
          <p:cNvSpPr txBox="1"/>
          <p:nvPr/>
        </p:nvSpPr>
        <p:spPr>
          <a:xfrm>
            <a:off x="11877675" y="3143250"/>
            <a:ext cx="542925" cy="35718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 anchor="ctr">
            <a:normAutofit fontScale="100000" lnSpcReduction="0"/>
          </a:bodyPr>
          <a:lstStyle>
            <a:lvl1pPr algn="ctr">
              <a:lnSpc>
                <a:spcPct val="82609"/>
              </a:lnSpc>
              <a:defRPr sz="2800">
                <a:solidFill>
                  <a:srgbClr val="FFFFFF">
                    <a:alpha val="42000"/>
                  </a:srgbClr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426" name="t"/>
          <p:cNvSpPr txBox="1"/>
          <p:nvPr/>
        </p:nvSpPr>
        <p:spPr>
          <a:xfrm>
            <a:off x="419100" y="7096125"/>
            <a:ext cx="17449800" cy="323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06786"/>
              </a:lnSpc>
              <a:defRPr sz="1700">
                <a:solidFill>
                  <a:srgbClr val="FFFFFF">
                    <a:alpha val="42000"/>
                  </a:srgbClr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Three load-bearing decisions</a:t>
            </a:r>
          </a:p>
        </p:txBody>
      </p:sp>
      <p:sp>
        <p:nvSpPr>
          <p:cNvPr id="427" name="Rectangle 41"/>
          <p:cNvSpPr/>
          <p:nvPr/>
        </p:nvSpPr>
        <p:spPr>
          <a:xfrm>
            <a:off x="419100" y="7570787"/>
            <a:ext cx="5153025" cy="12701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428" name="t"/>
          <p:cNvSpPr txBox="1"/>
          <p:nvPr/>
        </p:nvSpPr>
        <p:spPr>
          <a:xfrm>
            <a:off x="419100" y="7772400"/>
            <a:ext cx="5667375" cy="2571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73928"/>
              </a:lnSpc>
              <a:defRPr sz="1300">
                <a:solidFill>
                  <a:srgbClr val="4285F4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01</a:t>
            </a:r>
          </a:p>
        </p:txBody>
      </p:sp>
      <p:sp>
        <p:nvSpPr>
          <p:cNvPr id="429" name="t"/>
          <p:cNvSpPr txBox="1"/>
          <p:nvPr/>
        </p:nvSpPr>
        <p:spPr>
          <a:xfrm>
            <a:off x="419100" y="8124825"/>
            <a:ext cx="5667375" cy="3619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03846"/>
              </a:lnSpc>
              <a:defRPr sz="2000">
                <a:solidFill>
                  <a:srgbClr val="FFFFFF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Routing is a switch, not prose</a:t>
            </a:r>
          </a:p>
        </p:txBody>
      </p:sp>
      <p:sp>
        <p:nvSpPr>
          <p:cNvPr id="430" name="t"/>
          <p:cNvSpPr txBox="1"/>
          <p:nvPr/>
        </p:nvSpPr>
        <p:spPr>
          <a:xfrm>
            <a:off x="419100" y="8543925"/>
            <a:ext cx="5667375" cy="6667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19107"/>
              </a:lnSpc>
              <a:defRPr sz="1700">
                <a:solidFill>
                  <a:srgbClr val="FFFFFF">
                    <a:alpha val="64000"/>
                  </a:srgbClr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The model activates the owning skill. The prompt does not simulate a router.</a:t>
            </a:r>
          </a:p>
        </p:txBody>
      </p:sp>
      <p:sp>
        <p:nvSpPr>
          <p:cNvPr id="431" name="Rectangle 45"/>
          <p:cNvSpPr/>
          <p:nvPr/>
        </p:nvSpPr>
        <p:spPr>
          <a:xfrm>
            <a:off x="6315075" y="7570787"/>
            <a:ext cx="5153025" cy="12701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432" name="t"/>
          <p:cNvSpPr txBox="1"/>
          <p:nvPr/>
        </p:nvSpPr>
        <p:spPr>
          <a:xfrm>
            <a:off x="6315075" y="7772400"/>
            <a:ext cx="5667375" cy="2571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73928"/>
              </a:lnSpc>
              <a:defRPr sz="1300">
                <a:solidFill>
                  <a:srgbClr val="4285F4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433" name="t"/>
          <p:cNvSpPr txBox="1"/>
          <p:nvPr/>
        </p:nvSpPr>
        <p:spPr>
          <a:xfrm>
            <a:off x="6315075" y="8124825"/>
            <a:ext cx="5667375" cy="3619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03846"/>
              </a:lnSpc>
              <a:defRPr sz="2000">
                <a:solidFill>
                  <a:srgbClr val="FFFFFF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Verification is not the door</a:t>
            </a:r>
          </a:p>
        </p:txBody>
      </p:sp>
      <p:sp>
        <p:nvSpPr>
          <p:cNvPr id="434" name="t"/>
          <p:cNvSpPr txBox="1"/>
          <p:nvPr/>
        </p:nvSpPr>
        <p:spPr>
          <a:xfrm>
            <a:off x="6315075" y="8543925"/>
            <a:ext cx="5667375" cy="6667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19107"/>
              </a:lnSpc>
              <a:defRPr sz="1700">
                <a:solidFill>
                  <a:srgbClr val="FFFFFF">
                    <a:alpha val="64000"/>
                  </a:srgbClr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Each tool refuses for the level it needs, and the auth skill hands the call back to it.</a:t>
            </a:r>
          </a:p>
        </p:txBody>
      </p:sp>
      <p:sp>
        <p:nvSpPr>
          <p:cNvPr id="435" name="Rectangle 49"/>
          <p:cNvSpPr/>
          <p:nvPr/>
        </p:nvSpPr>
        <p:spPr>
          <a:xfrm>
            <a:off x="12211050" y="7570787"/>
            <a:ext cx="5153025" cy="12701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436" name="t"/>
          <p:cNvSpPr txBox="1"/>
          <p:nvPr/>
        </p:nvSpPr>
        <p:spPr>
          <a:xfrm>
            <a:off x="12211050" y="7772400"/>
            <a:ext cx="5667375" cy="2571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73928"/>
              </a:lnSpc>
              <a:defRPr sz="1300">
                <a:solidFill>
                  <a:srgbClr val="4285F4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03</a:t>
            </a:r>
          </a:p>
        </p:txBody>
      </p:sp>
      <p:sp>
        <p:nvSpPr>
          <p:cNvPr id="437" name="t"/>
          <p:cNvSpPr txBox="1"/>
          <p:nvPr/>
        </p:nvSpPr>
        <p:spPr>
          <a:xfrm>
            <a:off x="12211050" y="8124825"/>
            <a:ext cx="5667375" cy="3619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03846"/>
              </a:lnSpc>
              <a:defRPr sz="2000">
                <a:solidFill>
                  <a:srgbClr val="FFFFFF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A spoken value is composed in code</a:t>
            </a:r>
          </a:p>
        </p:txBody>
      </p:sp>
      <p:sp>
        <p:nvSpPr>
          <p:cNvPr id="438" name="t"/>
          <p:cNvSpPr txBox="1"/>
          <p:nvPr/>
        </p:nvSpPr>
        <p:spPr>
          <a:xfrm>
            <a:off x="12211050" y="8543925"/>
            <a:ext cx="5667375" cy="6667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19107"/>
              </a:lnSpc>
              <a:defRPr sz="1700">
                <a:solidFill>
                  <a:srgbClr val="FFFFFF">
                    <a:alpha val="64000"/>
                  </a:srgbClr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A figure, a date or a reference is built by a tool, so it cannot be misremembered.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eyebrow"/>
          <p:cNvSpPr txBox="1"/>
          <p:nvPr/>
        </p:nvSpPr>
        <p:spPr>
          <a:xfrm>
            <a:off x="419100" y="342900"/>
            <a:ext cx="16344900" cy="3714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08000"/>
              </a:lnSpc>
              <a:defRPr sz="2000">
                <a:solidFill>
                  <a:srgbClr val="FFFFFF">
                    <a:alpha val="42000"/>
                  </a:srgbClr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Implementation</a:t>
            </a:r>
          </a:p>
        </p:txBody>
      </p:sp>
      <p:sp>
        <p:nvSpPr>
          <p:cNvPr id="441" name="h1"/>
          <p:cNvSpPr txBox="1"/>
          <p:nvPr/>
        </p:nvSpPr>
        <p:spPr>
          <a:xfrm>
            <a:off x="419100" y="790575"/>
            <a:ext cx="16344900" cy="5524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81930"/>
              </a:lnSpc>
              <a:defRPr sz="3200">
                <a:solidFill>
                  <a:srgbClr val="FFFFFF"/>
                </a:solidFill>
                <a:latin typeface="Inter ExtraLight"/>
                <a:ea typeface="Inter ExtraLight"/>
                <a:cs typeface="Inter ExtraLight"/>
                <a:sym typeface="Inter ExtraLight"/>
              </a:defRPr>
            </a:lvl1pPr>
          </a:lstStyle>
          <a:p>
            <a:pPr/>
            <a:r>
              <a:t>Eighteen tools, and a contract that keeps data out of the model</a:t>
            </a:r>
          </a:p>
        </p:txBody>
      </p:sp>
      <p:sp>
        <p:nvSpPr>
          <p:cNvPr id="442" name="deck"/>
          <p:cNvSpPr txBox="1"/>
          <p:nvPr/>
        </p:nvSpPr>
        <p:spPr>
          <a:xfrm>
            <a:off x="419100" y="1390650"/>
            <a:ext cx="15297150" cy="7334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12153"/>
              </a:lnSpc>
              <a:defRPr sz="2000">
                <a:solidFill>
                  <a:srgbClr val="B5B5B7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The model understands the next step; a tool validates and acts. Nothing the caller hears about their account came from anywhere but a tool result. Unnecessary information does not blow context window.</a:t>
            </a:r>
          </a:p>
        </p:txBody>
      </p:sp>
      <p:pic>
        <p:nvPicPr>
          <p:cNvPr id="443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6725900" y="9620250"/>
            <a:ext cx="1143000" cy="285750"/>
          </a:xfrm>
          <a:prstGeom prst="rect">
            <a:avLst/>
          </a:prstGeom>
          <a:ln w="12700">
            <a:miter lim="400000"/>
          </a:ln>
        </p:spPr>
      </p:pic>
      <p:sp>
        <p:nvSpPr>
          <p:cNvPr id="444" name="Rounded Rectangle 5"/>
          <p:cNvSpPr/>
          <p:nvPr/>
        </p:nvSpPr>
        <p:spPr>
          <a:xfrm>
            <a:off x="419100" y="2857500"/>
            <a:ext cx="8572500" cy="5715000"/>
          </a:xfrm>
          <a:prstGeom prst="roundRect">
            <a:avLst>
              <a:gd name="adj" fmla="val 2000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18000"/>
              </a:srgbClr>
            </a:solidFill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445" name="t"/>
          <p:cNvSpPr txBox="1"/>
          <p:nvPr/>
        </p:nvSpPr>
        <p:spPr>
          <a:xfrm>
            <a:off x="771525" y="3190875"/>
            <a:ext cx="7867650" cy="323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06786"/>
              </a:lnSpc>
              <a:defRPr sz="1700">
                <a:solidFill>
                  <a:srgbClr val="FFFFFF">
                    <a:alpha val="42000"/>
                  </a:srgbClr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The tool plane</a:t>
            </a:r>
          </a:p>
        </p:txBody>
      </p:sp>
      <p:sp>
        <p:nvSpPr>
          <p:cNvPr id="446" name="t"/>
          <p:cNvSpPr txBox="1"/>
          <p:nvPr/>
        </p:nvSpPr>
        <p:spPr>
          <a:xfrm>
            <a:off x="771525" y="3590925"/>
            <a:ext cx="7867650" cy="457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85500"/>
              </a:lnSpc>
              <a:defRPr sz="2600">
                <a:solidFill>
                  <a:srgbClr val="FFFFFF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Grouped by what they own, and who calls them</a:t>
            </a:r>
          </a:p>
        </p:txBody>
      </p:sp>
      <p:sp>
        <p:nvSpPr>
          <p:cNvPr id="447" name="t"/>
          <p:cNvSpPr txBox="1"/>
          <p:nvPr/>
        </p:nvSpPr>
        <p:spPr>
          <a:xfrm>
            <a:off x="771525" y="4286250"/>
            <a:ext cx="7867650" cy="3143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 defTabSz="411479">
              <a:lnSpc>
                <a:spcPct val="102679"/>
              </a:lnSpc>
              <a:defRPr>
                <a:solidFill>
                  <a:srgbClr val="FFFFFF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Global — available on every turn</a:t>
            </a:r>
          </a:p>
        </p:txBody>
      </p:sp>
      <p:sp>
        <p:nvSpPr>
          <p:cNvPr id="448" name="t"/>
          <p:cNvSpPr txBox="1"/>
          <p:nvPr/>
        </p:nvSpPr>
        <p:spPr>
          <a:xfrm>
            <a:off x="771525" y="4610100"/>
            <a:ext cx="7867650" cy="2952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 defTabSz="425195">
              <a:lnSpc>
                <a:spcPct val="115652"/>
              </a:lnSpc>
              <a:defRPr sz="1581">
                <a:solidFill>
                  <a:srgbClr val="FFFFFF">
                    <a:alpha val="64000"/>
                  </a:srgbClr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get_service_protocol</a:t>
            </a:r>
          </a:p>
        </p:txBody>
      </p:sp>
      <p:sp>
        <p:nvSpPr>
          <p:cNvPr id="449" name="t"/>
          <p:cNvSpPr txBox="1"/>
          <p:nvPr/>
        </p:nvSpPr>
        <p:spPr>
          <a:xfrm>
            <a:off x="771525" y="4991100"/>
            <a:ext cx="7867650" cy="3143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 defTabSz="411479">
              <a:lnSpc>
                <a:spcPct val="102679"/>
              </a:lnSpc>
              <a:defRPr>
                <a:solidFill>
                  <a:srgbClr val="FFFFFF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Account servicing — 7</a:t>
            </a:r>
          </a:p>
        </p:txBody>
      </p:sp>
      <p:sp>
        <p:nvSpPr>
          <p:cNvPr id="450" name="t"/>
          <p:cNvSpPr txBox="1"/>
          <p:nvPr/>
        </p:nvSpPr>
        <p:spPr>
          <a:xfrm>
            <a:off x="771525" y="5314950"/>
            <a:ext cx="7867650" cy="2952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 defTabSz="393192">
              <a:lnSpc>
                <a:spcPct val="115652"/>
              </a:lnSpc>
              <a:defRPr sz="1462">
                <a:solidFill>
                  <a:srgbClr val="FFFFFF">
                    <a:alpha val="64000"/>
                  </a:srgbClr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balance · pre-approved credit · card limits · invoice · transactions · phone read and change</a:t>
            </a:r>
          </a:p>
        </p:txBody>
      </p:sp>
      <p:sp>
        <p:nvSpPr>
          <p:cNvPr id="451" name="t"/>
          <p:cNvSpPr txBox="1"/>
          <p:nvPr/>
        </p:nvSpPr>
        <p:spPr>
          <a:xfrm>
            <a:off x="771525" y="5695950"/>
            <a:ext cx="7867650" cy="3143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 defTabSz="411479">
              <a:lnSpc>
                <a:spcPct val="102679"/>
              </a:lnSpc>
              <a:defRPr>
                <a:solidFill>
                  <a:srgbClr val="FFFFFF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Cards and disputes — 3</a:t>
            </a:r>
          </a:p>
        </p:txBody>
      </p:sp>
      <p:sp>
        <p:nvSpPr>
          <p:cNvPr id="452" name="t"/>
          <p:cNvSpPr txBox="1"/>
          <p:nvPr/>
        </p:nvSpPr>
        <p:spPr>
          <a:xfrm>
            <a:off x="771525" y="6019800"/>
            <a:ext cx="7867650" cy="2952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 defTabSz="425195">
              <a:lnSpc>
                <a:spcPct val="115652"/>
              </a:lnSpc>
              <a:defRPr sz="1581">
                <a:solidFill>
                  <a:srgbClr val="FFFFFF">
                    <a:alpha val="64000"/>
                  </a:srgbClr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request_block_card · request_unlock_card · file_transaction_dispute</a:t>
            </a:r>
          </a:p>
        </p:txBody>
      </p:sp>
      <p:sp>
        <p:nvSpPr>
          <p:cNvPr id="453" name="t"/>
          <p:cNvSpPr txBox="1"/>
          <p:nvPr/>
        </p:nvSpPr>
        <p:spPr>
          <a:xfrm>
            <a:off x="771525" y="6400800"/>
            <a:ext cx="7867650" cy="3143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 defTabSz="411479">
              <a:lnSpc>
                <a:spcPct val="102679"/>
              </a:lnSpc>
              <a:defRPr>
                <a:solidFill>
                  <a:srgbClr val="FFFFFF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Credit limit — 3</a:t>
            </a:r>
          </a:p>
        </p:txBody>
      </p:sp>
      <p:sp>
        <p:nvSpPr>
          <p:cNvPr id="454" name="t"/>
          <p:cNvSpPr txBox="1"/>
          <p:nvPr/>
        </p:nvSpPr>
        <p:spPr>
          <a:xfrm>
            <a:off x="771525" y="6724650"/>
            <a:ext cx="7867650" cy="2952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 defTabSz="425195">
              <a:lnSpc>
                <a:spcPct val="115652"/>
              </a:lnSpc>
              <a:defRPr sz="1581">
                <a:solidFill>
                  <a:srgbClr val="FFFFFF">
                    <a:alpha val="64000"/>
                  </a:srgbClr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within pre-approved · against investments held · reduce and release</a:t>
            </a:r>
          </a:p>
        </p:txBody>
      </p:sp>
      <p:sp>
        <p:nvSpPr>
          <p:cNvPr id="455" name="t"/>
          <p:cNvSpPr txBox="1"/>
          <p:nvPr/>
        </p:nvSpPr>
        <p:spPr>
          <a:xfrm>
            <a:off x="771525" y="7105650"/>
            <a:ext cx="7867650" cy="3143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 defTabSz="411479">
              <a:lnSpc>
                <a:spcPct val="102679"/>
              </a:lnSpc>
              <a:defRPr>
                <a:solidFill>
                  <a:srgbClr val="FFFFFF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Verification and knowledge — 1 each</a:t>
            </a:r>
          </a:p>
        </p:txBody>
      </p:sp>
      <p:sp>
        <p:nvSpPr>
          <p:cNvPr id="456" name="t"/>
          <p:cNvSpPr txBox="1"/>
          <p:nvPr/>
        </p:nvSpPr>
        <p:spPr>
          <a:xfrm>
            <a:off x="771525" y="7429500"/>
            <a:ext cx="7867650" cy="2952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 defTabSz="425195">
              <a:lnSpc>
                <a:spcPct val="115652"/>
              </a:lnSpc>
              <a:defRPr sz="1581">
                <a:solidFill>
                  <a:srgbClr val="FFFFFF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authenticate_client · retrieval through a context hub</a:t>
            </a:r>
          </a:p>
        </p:txBody>
      </p:sp>
      <p:sp>
        <p:nvSpPr>
          <p:cNvPr id="457" name="t"/>
          <p:cNvSpPr txBox="1"/>
          <p:nvPr/>
        </p:nvSpPr>
        <p:spPr>
          <a:xfrm>
            <a:off x="771525" y="7810500"/>
            <a:ext cx="7867650" cy="3143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 defTabSz="411479">
              <a:lnSpc>
                <a:spcPct val="102679"/>
              </a:lnSpc>
              <a:defRPr>
                <a:solidFill>
                  <a:srgbClr val="FFFFFF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Fired by the platform, never the model — 2</a:t>
            </a:r>
          </a:p>
        </p:txBody>
      </p:sp>
      <p:sp>
        <p:nvSpPr>
          <p:cNvPr id="458" name="t"/>
          <p:cNvSpPr txBox="1"/>
          <p:nvPr/>
        </p:nvSpPr>
        <p:spPr>
          <a:xfrm>
            <a:off x="771525" y="8134350"/>
            <a:ext cx="7867650" cy="2952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 defTabSz="416052">
              <a:lnSpc>
                <a:spcPct val="115652"/>
              </a:lnSpc>
              <a:defRPr sz="1547">
                <a:solidFill>
                  <a:srgbClr val="FFFFFF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record_interaction_result on OnEnd · record_interaction_tags on OnEnhancedFinished</a:t>
            </a:r>
          </a:p>
        </p:txBody>
      </p:sp>
      <p:sp>
        <p:nvSpPr>
          <p:cNvPr id="459" name="Rounded Rectangle 20"/>
          <p:cNvSpPr/>
          <p:nvPr/>
        </p:nvSpPr>
        <p:spPr>
          <a:xfrm>
            <a:off x="9410700" y="2857500"/>
            <a:ext cx="8458200" cy="5715000"/>
          </a:xfrm>
          <a:prstGeom prst="roundRect">
            <a:avLst>
              <a:gd name="adj" fmla="val 2000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18000"/>
              </a:srgbClr>
            </a:solidFill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460" name="t"/>
          <p:cNvSpPr txBox="1"/>
          <p:nvPr/>
        </p:nvSpPr>
        <p:spPr>
          <a:xfrm>
            <a:off x="9763125" y="3190875"/>
            <a:ext cx="7753350" cy="323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06786"/>
              </a:lnSpc>
              <a:defRPr sz="1700">
                <a:solidFill>
                  <a:srgbClr val="FFFFFF">
                    <a:alpha val="42000"/>
                  </a:srgbClr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The execution contract</a:t>
            </a:r>
          </a:p>
        </p:txBody>
      </p:sp>
      <p:sp>
        <p:nvSpPr>
          <p:cNvPr id="461" name="t"/>
          <p:cNvSpPr txBox="1"/>
          <p:nvPr/>
        </p:nvSpPr>
        <p:spPr>
          <a:xfrm>
            <a:off x="9763125" y="3590925"/>
            <a:ext cx="7753350" cy="457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85500"/>
              </a:lnSpc>
              <a:defRPr sz="2600">
                <a:solidFill>
                  <a:srgbClr val="FFFFFF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Three rules, all enforced in code</a:t>
            </a:r>
          </a:p>
        </p:txBody>
      </p:sp>
      <p:sp>
        <p:nvSpPr>
          <p:cNvPr id="462" name="t"/>
          <p:cNvSpPr txBox="1"/>
          <p:nvPr/>
        </p:nvSpPr>
        <p:spPr>
          <a:xfrm>
            <a:off x="9763125" y="4286250"/>
            <a:ext cx="7753350" cy="3619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03846"/>
              </a:lnSpc>
              <a:defRPr sz="2000">
                <a:solidFill>
                  <a:srgbClr val="FFFFFF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A tool never reads a table</a:t>
            </a:r>
          </a:p>
        </p:txBody>
      </p:sp>
      <p:sp>
        <p:nvSpPr>
          <p:cNvPr id="463" name="t"/>
          <p:cNvSpPr txBox="1"/>
          <p:nvPr/>
        </p:nvSpPr>
        <p:spPr>
          <a:xfrm>
            <a:off x="9763125" y="4686300"/>
            <a:ext cx="7753350" cy="6667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19107"/>
              </a:lnSpc>
              <a:defRPr sz="1700">
                <a:solidFill>
                  <a:srgbClr val="FFFFFF">
                    <a:alpha val="64000"/>
                  </a:srgbClr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A Function does. The tool calls it and reports what came back, so the data has exactly one owner.</a:t>
            </a:r>
          </a:p>
        </p:txBody>
      </p:sp>
      <p:sp>
        <p:nvSpPr>
          <p:cNvPr id="464" name="t"/>
          <p:cNvSpPr txBox="1"/>
          <p:nvPr/>
        </p:nvSpPr>
        <p:spPr>
          <a:xfrm>
            <a:off x="9763125" y="5353050"/>
            <a:ext cx="7753350" cy="3619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03846"/>
              </a:lnSpc>
              <a:defRPr sz="2000">
                <a:solidFill>
                  <a:srgbClr val="FFFFFF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No figure without a tool result</a:t>
            </a:r>
          </a:p>
        </p:txBody>
      </p:sp>
      <p:sp>
        <p:nvSpPr>
          <p:cNvPr id="465" name="t"/>
          <p:cNvSpPr txBox="1"/>
          <p:nvPr/>
        </p:nvSpPr>
        <p:spPr>
          <a:xfrm>
            <a:off x="9763125" y="5753100"/>
            <a:ext cx="7753350" cy="6667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19107"/>
              </a:lnSpc>
              <a:defRPr sz="1700">
                <a:solidFill>
                  <a:srgbClr val="FFFFFF">
                    <a:alpha val="64000"/>
                  </a:srgbClr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Nothing is stated about an account that a tool did not return. Where there is nothing, the agent says so.</a:t>
            </a:r>
          </a:p>
        </p:txBody>
      </p:sp>
      <p:sp>
        <p:nvSpPr>
          <p:cNvPr id="466" name="t"/>
          <p:cNvSpPr txBox="1"/>
          <p:nvPr/>
        </p:nvSpPr>
        <p:spPr>
          <a:xfrm>
            <a:off x="9763125" y="6419850"/>
            <a:ext cx="7753350" cy="3619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03846"/>
              </a:lnSpc>
              <a:defRPr sz="2000">
                <a:solidFill>
                  <a:srgbClr val="FFFFFF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A credit card number or verification code never enter context</a:t>
            </a:r>
          </a:p>
        </p:txBody>
      </p:sp>
      <p:sp>
        <p:nvSpPr>
          <p:cNvPr id="467" name="t"/>
          <p:cNvSpPr txBox="1"/>
          <p:nvPr/>
        </p:nvSpPr>
        <p:spPr>
          <a:xfrm>
            <a:off x="9763125" y="6819900"/>
            <a:ext cx="7753350" cy="6667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19107"/>
              </a:lnSpc>
              <a:defRPr sz="1700">
                <a:solidFill>
                  <a:srgbClr val="FFFFFF">
                    <a:alpha val="64000"/>
                  </a:srgbClr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These live in call state only. A card is named to the caller by its last four digits, and a test walks every reply to enforce it.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eyebrow"/>
          <p:cNvSpPr txBox="1"/>
          <p:nvPr/>
        </p:nvSpPr>
        <p:spPr>
          <a:xfrm>
            <a:off x="419100" y="342900"/>
            <a:ext cx="16344900" cy="3714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08000"/>
              </a:lnSpc>
              <a:defRPr sz="2000">
                <a:solidFill>
                  <a:srgbClr val="FFFFFF">
                    <a:alpha val="42000"/>
                  </a:srgbClr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Implementation</a:t>
            </a:r>
          </a:p>
        </p:txBody>
      </p:sp>
      <p:sp>
        <p:nvSpPr>
          <p:cNvPr id="470" name="h1"/>
          <p:cNvSpPr txBox="1"/>
          <p:nvPr/>
        </p:nvSpPr>
        <p:spPr>
          <a:xfrm>
            <a:off x="419100" y="790575"/>
            <a:ext cx="16344900" cy="5524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81930"/>
              </a:lnSpc>
              <a:defRPr sz="3200">
                <a:solidFill>
                  <a:srgbClr val="FFFFFF"/>
                </a:solidFill>
                <a:latin typeface="Inter ExtraLight"/>
                <a:ea typeface="Inter ExtraLight"/>
                <a:cs typeface="Inter ExtraLight"/>
                <a:sym typeface="Inter ExtraLight"/>
              </a:defRPr>
            </a:lvl1pPr>
          </a:lstStyle>
          <a:p>
            <a:pPr/>
            <a:r>
              <a:t>The loop closes after the call ends</a:t>
            </a:r>
          </a:p>
        </p:txBody>
      </p:sp>
      <p:sp>
        <p:nvSpPr>
          <p:cNvPr id="471" name="deck"/>
          <p:cNvSpPr txBox="1"/>
          <p:nvPr/>
        </p:nvSpPr>
        <p:spPr>
          <a:xfrm>
            <a:off x="419100" y="1390650"/>
            <a:ext cx="15297150" cy="7334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12153"/>
              </a:lnSpc>
              <a:defRPr sz="2000">
                <a:solidFill>
                  <a:srgbClr val="B5B5B7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A dispute filed on the phone becomes a row someone has to decide. The agent files it, the app decides it.</a:t>
            </a:r>
          </a:p>
        </p:txBody>
      </p:sp>
      <p:pic>
        <p:nvPicPr>
          <p:cNvPr id="472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6725900" y="9620250"/>
            <a:ext cx="1143000" cy="285750"/>
          </a:xfrm>
          <a:prstGeom prst="rect">
            <a:avLst/>
          </a:prstGeom>
          <a:ln w="12700">
            <a:miter lim="400000"/>
          </a:ln>
        </p:spPr>
      </p:pic>
      <p:sp>
        <p:nvSpPr>
          <p:cNvPr id="473" name="Rounded Rectangle 5"/>
          <p:cNvSpPr/>
          <p:nvPr/>
        </p:nvSpPr>
        <p:spPr>
          <a:xfrm>
            <a:off x="419100" y="4191000"/>
            <a:ext cx="8382000" cy="2857500"/>
          </a:xfrm>
          <a:prstGeom prst="roundRect">
            <a:avLst>
              <a:gd name="adj" fmla="val 4000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18000"/>
              </a:srgbClr>
            </a:solidFill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474" name="t"/>
          <p:cNvSpPr txBox="1"/>
          <p:nvPr/>
        </p:nvSpPr>
        <p:spPr>
          <a:xfrm>
            <a:off x="790575" y="4524375"/>
            <a:ext cx="7677150" cy="323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06786"/>
              </a:lnSpc>
              <a:defRPr sz="1700">
                <a:solidFill>
                  <a:srgbClr val="FFFFFF">
                    <a:alpha val="42000"/>
                  </a:srgbClr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On the call</a:t>
            </a:r>
          </a:p>
        </p:txBody>
      </p:sp>
      <p:sp>
        <p:nvSpPr>
          <p:cNvPr id="475" name="t"/>
          <p:cNvSpPr txBox="1"/>
          <p:nvPr/>
        </p:nvSpPr>
        <p:spPr>
          <a:xfrm>
            <a:off x="790575" y="4924425"/>
            <a:ext cx="7677150" cy="457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85500"/>
              </a:lnSpc>
              <a:defRPr sz="2600">
                <a:solidFill>
                  <a:srgbClr val="FFFFFF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File a dispute the caller can quote</a:t>
            </a:r>
          </a:p>
        </p:txBody>
      </p:sp>
      <p:sp>
        <p:nvSpPr>
          <p:cNvPr id="476" name="Rounded Rectangle 8"/>
          <p:cNvSpPr/>
          <p:nvPr/>
        </p:nvSpPr>
        <p:spPr>
          <a:xfrm>
            <a:off x="790575" y="5572125"/>
            <a:ext cx="619125" cy="333375"/>
          </a:xfrm>
          <a:prstGeom prst="roundRect">
            <a:avLst>
              <a:gd name="adj" fmla="val 50000"/>
            </a:avLst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26000"/>
              </a:srgbClr>
            </a:solidFill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477" name="pill"/>
          <p:cNvSpPr txBox="1"/>
          <p:nvPr/>
        </p:nvSpPr>
        <p:spPr>
          <a:xfrm>
            <a:off x="790575" y="5619750"/>
            <a:ext cx="619125" cy="2190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 algn="ctr">
              <a:lnSpc>
                <a:spcPct val="74348"/>
              </a:lnSpc>
              <a:defRPr sz="1000">
                <a:solidFill>
                  <a:srgbClr val="FFFFFF">
                    <a:alpha val="64000"/>
                  </a:srgbClr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card</a:t>
            </a:r>
          </a:p>
        </p:txBody>
      </p:sp>
      <p:sp>
        <p:nvSpPr>
          <p:cNvPr id="478" name="Rounded Rectangle 10"/>
          <p:cNvSpPr/>
          <p:nvPr/>
        </p:nvSpPr>
        <p:spPr>
          <a:xfrm>
            <a:off x="1524000" y="5572125"/>
            <a:ext cx="571500" cy="333375"/>
          </a:xfrm>
          <a:prstGeom prst="roundRect">
            <a:avLst>
              <a:gd name="adj" fmla="val 50000"/>
            </a:avLst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26000"/>
              </a:srgbClr>
            </a:solidFill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479" name="pill"/>
          <p:cNvSpPr txBox="1"/>
          <p:nvPr/>
        </p:nvSpPr>
        <p:spPr>
          <a:xfrm>
            <a:off x="1524000" y="5619750"/>
            <a:ext cx="571500" cy="2190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 algn="ctr">
              <a:lnSpc>
                <a:spcPct val="74348"/>
              </a:lnSpc>
              <a:defRPr sz="1000">
                <a:solidFill>
                  <a:srgbClr val="FFFFFF">
                    <a:alpha val="64000"/>
                  </a:srgbClr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day</a:t>
            </a:r>
          </a:p>
        </p:txBody>
      </p:sp>
      <p:sp>
        <p:nvSpPr>
          <p:cNvPr id="480" name="Rounded Rectangle 12"/>
          <p:cNvSpPr/>
          <p:nvPr/>
        </p:nvSpPr>
        <p:spPr>
          <a:xfrm>
            <a:off x="2209800" y="5572125"/>
            <a:ext cx="771525" cy="333375"/>
          </a:xfrm>
          <a:prstGeom prst="roundRect">
            <a:avLst>
              <a:gd name="adj" fmla="val 50000"/>
            </a:avLst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26000"/>
              </a:srgbClr>
            </a:solidFill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481" name="pill"/>
          <p:cNvSpPr txBox="1"/>
          <p:nvPr/>
        </p:nvSpPr>
        <p:spPr>
          <a:xfrm>
            <a:off x="2209800" y="5619750"/>
            <a:ext cx="771525" cy="2190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 algn="ctr">
              <a:lnSpc>
                <a:spcPct val="74348"/>
              </a:lnSpc>
              <a:defRPr sz="1000">
                <a:solidFill>
                  <a:srgbClr val="FFFFFF">
                    <a:alpha val="64000"/>
                  </a:srgbClr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charge</a:t>
            </a:r>
          </a:p>
        </p:txBody>
      </p:sp>
      <p:sp>
        <p:nvSpPr>
          <p:cNvPr id="482" name="Rounded Rectangle 14"/>
          <p:cNvSpPr/>
          <p:nvPr/>
        </p:nvSpPr>
        <p:spPr>
          <a:xfrm>
            <a:off x="3095625" y="5572125"/>
            <a:ext cx="847725" cy="333375"/>
          </a:xfrm>
          <a:prstGeom prst="roundRect">
            <a:avLst>
              <a:gd name="adj" fmla="val 50000"/>
            </a:avLst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26000"/>
              </a:srgbClr>
            </a:solidFill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483" name="pill"/>
          <p:cNvSpPr txBox="1"/>
          <p:nvPr/>
        </p:nvSpPr>
        <p:spPr>
          <a:xfrm>
            <a:off x="3095625" y="5619750"/>
            <a:ext cx="847725" cy="2190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 algn="ctr">
              <a:lnSpc>
                <a:spcPct val="74348"/>
              </a:lnSpc>
              <a:defRPr sz="1000">
                <a:solidFill>
                  <a:srgbClr val="FFFFFF">
                    <a:alpha val="64000"/>
                  </a:srgbClr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protocol</a:t>
            </a:r>
          </a:p>
        </p:txBody>
      </p:sp>
      <p:sp>
        <p:nvSpPr>
          <p:cNvPr id="484" name="t"/>
          <p:cNvSpPr txBox="1"/>
          <p:nvPr/>
        </p:nvSpPr>
        <p:spPr>
          <a:xfrm>
            <a:off x="790575" y="6134100"/>
            <a:ext cx="7677150" cy="704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19107"/>
              </a:lnSpc>
              <a:defRPr sz="1700">
                <a:solidFill>
                  <a:srgbClr val="FFFFFF">
                    <a:alpha val="64000"/>
                  </a:srgbClr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One Function writes the case. The charge is picked out of a listing.</a:t>
            </a:r>
          </a:p>
        </p:txBody>
      </p:sp>
      <p:sp>
        <p:nvSpPr>
          <p:cNvPr id="485" name="arrow"/>
          <p:cNvSpPr txBox="1"/>
          <p:nvPr/>
        </p:nvSpPr>
        <p:spPr>
          <a:xfrm>
            <a:off x="8839200" y="4191000"/>
            <a:ext cx="609600" cy="2857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 anchor="ctr">
            <a:normAutofit fontScale="100000" lnSpcReduction="0"/>
          </a:bodyPr>
          <a:lstStyle>
            <a:lvl1pPr algn="ctr">
              <a:lnSpc>
                <a:spcPct val="82609"/>
              </a:lnSpc>
              <a:defRPr sz="2800">
                <a:solidFill>
                  <a:srgbClr val="FFFFFF">
                    <a:alpha val="42000"/>
                  </a:srgbClr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486" name="Rounded Rectangle 18"/>
          <p:cNvSpPr/>
          <p:nvPr/>
        </p:nvSpPr>
        <p:spPr>
          <a:xfrm>
            <a:off x="9486900" y="4191000"/>
            <a:ext cx="8382000" cy="2857500"/>
          </a:xfrm>
          <a:prstGeom prst="roundRect">
            <a:avLst>
              <a:gd name="adj" fmla="val 4000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18000"/>
              </a:srgbClr>
            </a:solidFill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487" name="t"/>
          <p:cNvSpPr txBox="1"/>
          <p:nvPr/>
        </p:nvSpPr>
        <p:spPr>
          <a:xfrm>
            <a:off x="9858375" y="4524375"/>
            <a:ext cx="7677150" cy="323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06786"/>
              </a:lnSpc>
              <a:defRPr sz="1700">
                <a:solidFill>
                  <a:srgbClr val="FFFFFF">
                    <a:alpha val="42000"/>
                  </a:srgbClr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After the call</a:t>
            </a:r>
          </a:p>
        </p:txBody>
      </p:sp>
      <p:sp>
        <p:nvSpPr>
          <p:cNvPr id="488" name="t"/>
          <p:cNvSpPr txBox="1"/>
          <p:nvPr/>
        </p:nvSpPr>
        <p:spPr>
          <a:xfrm>
            <a:off x="9858375" y="4924425"/>
            <a:ext cx="7677150" cy="457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85500"/>
              </a:lnSpc>
              <a:defRPr sz="2600">
                <a:solidFill>
                  <a:srgbClr val="FFFFFF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Royal Finance back office</a:t>
            </a:r>
          </a:p>
        </p:txBody>
      </p:sp>
      <p:sp>
        <p:nvSpPr>
          <p:cNvPr id="489" name="Rectangle 21"/>
          <p:cNvSpPr/>
          <p:nvPr/>
        </p:nvSpPr>
        <p:spPr>
          <a:xfrm>
            <a:off x="9858375" y="5570537"/>
            <a:ext cx="3667125" cy="12701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490" name="t"/>
          <p:cNvSpPr txBox="1"/>
          <p:nvPr/>
        </p:nvSpPr>
        <p:spPr>
          <a:xfrm>
            <a:off x="9858375" y="5705475"/>
            <a:ext cx="3781425" cy="342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15000"/>
              </a:lnSpc>
              <a:defRPr sz="1700">
                <a:solidFill>
                  <a:srgbClr val="FFFFFF">
                    <a:alpha val="64000"/>
                  </a:srgbClr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The disputes queue, by standing</a:t>
            </a:r>
          </a:p>
        </p:txBody>
      </p:sp>
      <p:sp>
        <p:nvSpPr>
          <p:cNvPr id="491" name="Rectangle 23"/>
          <p:cNvSpPr/>
          <p:nvPr/>
        </p:nvSpPr>
        <p:spPr>
          <a:xfrm>
            <a:off x="13868400" y="5570537"/>
            <a:ext cx="3667125" cy="12701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492" name="t"/>
          <p:cNvSpPr txBox="1"/>
          <p:nvPr/>
        </p:nvSpPr>
        <p:spPr>
          <a:xfrm>
            <a:off x="13868400" y="5705475"/>
            <a:ext cx="3781425" cy="342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15000"/>
              </a:lnSpc>
              <a:defRPr sz="1700">
                <a:solidFill>
                  <a:srgbClr val="FFFFFF">
                    <a:alpha val="64000"/>
                  </a:srgbClr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Approve, or reject with a reason</a:t>
            </a:r>
          </a:p>
        </p:txBody>
      </p:sp>
      <p:sp>
        <p:nvSpPr>
          <p:cNvPr id="493" name="Rectangle 25"/>
          <p:cNvSpPr/>
          <p:nvPr/>
        </p:nvSpPr>
        <p:spPr>
          <a:xfrm>
            <a:off x="9858375" y="6122987"/>
            <a:ext cx="3667125" cy="12701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494" name="t"/>
          <p:cNvSpPr txBox="1"/>
          <p:nvPr/>
        </p:nvSpPr>
        <p:spPr>
          <a:xfrm>
            <a:off x="9858375" y="6257925"/>
            <a:ext cx="3781425" cy="342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15000"/>
              </a:lnSpc>
              <a:defRPr sz="1700">
                <a:solidFill>
                  <a:srgbClr val="FFFFFF">
                    <a:alpha val="64000"/>
                  </a:srgbClr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A risk worklist from the judged tags</a:t>
            </a:r>
          </a:p>
        </p:txBody>
      </p:sp>
      <p:sp>
        <p:nvSpPr>
          <p:cNvPr id="495" name="Rectangle 27"/>
          <p:cNvSpPr/>
          <p:nvPr/>
        </p:nvSpPr>
        <p:spPr>
          <a:xfrm>
            <a:off x="13868400" y="6122987"/>
            <a:ext cx="3667125" cy="12701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496" name="t"/>
          <p:cNvSpPr txBox="1"/>
          <p:nvPr/>
        </p:nvSpPr>
        <p:spPr>
          <a:xfrm>
            <a:off x="13868400" y="6257925"/>
            <a:ext cx="3781425" cy="342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15000"/>
              </a:lnSpc>
              <a:defRPr sz="1700">
                <a:solidFill>
                  <a:srgbClr val="FFFFFF">
                    <a:alpha val="64000"/>
                  </a:srgbClr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Metrics over the whole history</a:t>
            </a:r>
          </a:p>
        </p:txBody>
      </p:sp>
      <p:sp>
        <p:nvSpPr>
          <p:cNvPr id="497" name="Rectangle 29"/>
          <p:cNvSpPr/>
          <p:nvPr/>
        </p:nvSpPr>
        <p:spPr>
          <a:xfrm>
            <a:off x="476250" y="8208962"/>
            <a:ext cx="17335500" cy="12701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498" name="Oval 30"/>
          <p:cNvSpPr/>
          <p:nvPr/>
        </p:nvSpPr>
        <p:spPr>
          <a:xfrm>
            <a:off x="419100" y="8143875"/>
            <a:ext cx="133350" cy="133350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499" name="t"/>
          <p:cNvSpPr txBox="1"/>
          <p:nvPr/>
        </p:nvSpPr>
        <p:spPr>
          <a:xfrm>
            <a:off x="419100" y="8467725"/>
            <a:ext cx="4800600" cy="3333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10893"/>
              </a:lnSpc>
              <a:defRPr sz="1700">
                <a:solidFill>
                  <a:srgbClr val="4285F4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1  —  the tool files the case</a:t>
            </a:r>
          </a:p>
        </p:txBody>
      </p:sp>
      <p:sp>
        <p:nvSpPr>
          <p:cNvPr id="500" name="Oval 32"/>
          <p:cNvSpPr/>
          <p:nvPr/>
        </p:nvSpPr>
        <p:spPr>
          <a:xfrm>
            <a:off x="4781550" y="8143875"/>
            <a:ext cx="133350" cy="133350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501" name="t"/>
          <p:cNvSpPr txBox="1"/>
          <p:nvPr/>
        </p:nvSpPr>
        <p:spPr>
          <a:xfrm>
            <a:off x="4781550" y="8467725"/>
            <a:ext cx="4800600" cy="3333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10893"/>
              </a:lnSpc>
              <a:defRPr sz="1700">
                <a:solidFill>
                  <a:srgbClr val="4285F4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2  —  the app calls two Functions</a:t>
            </a:r>
          </a:p>
        </p:txBody>
      </p:sp>
      <p:sp>
        <p:nvSpPr>
          <p:cNvPr id="502" name="Oval 34"/>
          <p:cNvSpPr/>
          <p:nvPr/>
        </p:nvSpPr>
        <p:spPr>
          <a:xfrm>
            <a:off x="9144000" y="8143875"/>
            <a:ext cx="133350" cy="133350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503" name="t"/>
          <p:cNvSpPr txBox="1"/>
          <p:nvPr/>
        </p:nvSpPr>
        <p:spPr>
          <a:xfrm>
            <a:off x="9144000" y="8467725"/>
            <a:ext cx="4800600" cy="3333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10893"/>
              </a:lnSpc>
              <a:defRPr sz="1700">
                <a:solidFill>
                  <a:srgbClr val="4285F4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3  —  an operator decides</a:t>
            </a:r>
          </a:p>
        </p:txBody>
      </p:sp>
      <p:sp>
        <p:nvSpPr>
          <p:cNvPr id="504" name="Oval 36"/>
          <p:cNvSpPr/>
          <p:nvPr/>
        </p:nvSpPr>
        <p:spPr>
          <a:xfrm>
            <a:off x="13506450" y="8143875"/>
            <a:ext cx="133350" cy="133350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505" name="t"/>
          <p:cNvSpPr txBox="1"/>
          <p:nvPr/>
        </p:nvSpPr>
        <p:spPr>
          <a:xfrm>
            <a:off x="13506450" y="8467725"/>
            <a:ext cx="4362450" cy="3333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10893"/>
              </a:lnSpc>
              <a:defRPr sz="1700">
                <a:solidFill>
                  <a:srgbClr val="4285F4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4  —  the reason goes back on the row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eyebrow"/>
          <p:cNvSpPr txBox="1"/>
          <p:nvPr/>
        </p:nvSpPr>
        <p:spPr>
          <a:xfrm>
            <a:off x="419100" y="342900"/>
            <a:ext cx="16344900" cy="3714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08000"/>
              </a:lnSpc>
              <a:defRPr sz="2000">
                <a:solidFill>
                  <a:srgbClr val="FFFFFF">
                    <a:alpha val="42000"/>
                  </a:srgbClr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Instrumentation</a:t>
            </a:r>
          </a:p>
        </p:txBody>
      </p:sp>
      <p:sp>
        <p:nvSpPr>
          <p:cNvPr id="508" name="h1"/>
          <p:cNvSpPr txBox="1"/>
          <p:nvPr/>
        </p:nvSpPr>
        <p:spPr>
          <a:xfrm>
            <a:off x="419100" y="790575"/>
            <a:ext cx="16344900" cy="5524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81930"/>
              </a:lnSpc>
              <a:defRPr sz="3200">
                <a:solidFill>
                  <a:srgbClr val="FFFFFF"/>
                </a:solidFill>
                <a:latin typeface="Inter ExtraLight"/>
                <a:ea typeface="Inter ExtraLight"/>
                <a:cs typeface="Inter ExtraLight"/>
                <a:sym typeface="Inter ExtraLight"/>
              </a:defRPr>
            </a:lvl1pPr>
          </a:lstStyle>
          <a:p>
            <a:pPr/>
            <a:r>
              <a:t>A deed is recorded by code; an attitude is judged</a:t>
            </a:r>
          </a:p>
        </p:txBody>
      </p:sp>
      <p:sp>
        <p:nvSpPr>
          <p:cNvPr id="509" name="deck"/>
          <p:cNvSpPr txBox="1"/>
          <p:nvPr/>
        </p:nvSpPr>
        <p:spPr>
          <a:xfrm>
            <a:off x="419100" y="1409700"/>
            <a:ext cx="15297150" cy="7334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12153"/>
              </a:lnSpc>
              <a:defRPr sz="2000">
                <a:solidFill>
                  <a:srgbClr val="B5B5B7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Seventeen tags are attached at the exact point an outcome is reached. Three tags tell you the sentiment left behind.</a:t>
            </a:r>
          </a:p>
        </p:txBody>
      </p:sp>
      <p:pic>
        <p:nvPicPr>
          <p:cNvPr id="510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6725900" y="9620250"/>
            <a:ext cx="1143000" cy="285750"/>
          </a:xfrm>
          <a:prstGeom prst="rect">
            <a:avLst/>
          </a:prstGeom>
          <a:ln w="12700">
            <a:miter lim="400000"/>
          </a:ln>
        </p:spPr>
      </p:pic>
      <p:sp>
        <p:nvSpPr>
          <p:cNvPr id="511" name="Rounded Rectangle 5"/>
          <p:cNvSpPr/>
          <p:nvPr/>
        </p:nvSpPr>
        <p:spPr>
          <a:xfrm>
            <a:off x="419100" y="3048000"/>
            <a:ext cx="8572500" cy="3810000"/>
          </a:xfrm>
          <a:prstGeom prst="roundRect">
            <a:avLst>
              <a:gd name="adj" fmla="val 3000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18000"/>
              </a:srgbClr>
            </a:solidFill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512" name="t"/>
          <p:cNvSpPr txBox="1"/>
          <p:nvPr/>
        </p:nvSpPr>
        <p:spPr>
          <a:xfrm>
            <a:off x="771525" y="3381375"/>
            <a:ext cx="7867650" cy="323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06786"/>
              </a:lnSpc>
              <a:defRPr sz="1700">
                <a:solidFill>
                  <a:srgbClr val="FFFFFF">
                    <a:alpha val="42000"/>
                  </a:srgbClr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Seventeen tags</a:t>
            </a:r>
          </a:p>
        </p:txBody>
      </p:sp>
      <p:sp>
        <p:nvSpPr>
          <p:cNvPr id="513" name="t"/>
          <p:cNvSpPr txBox="1"/>
          <p:nvPr/>
        </p:nvSpPr>
        <p:spPr>
          <a:xfrm>
            <a:off x="771525" y="3781425"/>
            <a:ext cx="7867650" cy="457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85500"/>
              </a:lnSpc>
              <a:defRPr sz="2600">
                <a:solidFill>
                  <a:srgbClr val="FFFFFF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Attached by code</a:t>
            </a:r>
          </a:p>
        </p:txBody>
      </p:sp>
      <p:sp>
        <p:nvSpPr>
          <p:cNvPr id="514" name="t"/>
          <p:cNvSpPr txBox="1"/>
          <p:nvPr/>
        </p:nvSpPr>
        <p:spPr>
          <a:xfrm>
            <a:off x="771525" y="4429125"/>
            <a:ext cx="7867650" cy="9715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19107"/>
              </a:lnSpc>
              <a:defRPr sz="1700">
                <a:solidFill>
                  <a:srgbClr val="FFFFFF">
                    <a:alpha val="64000"/>
                  </a:srgbClr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The tool that reaches the outcome calls attachTag where it reaches it. No rule infers the deed from a tool's name and no judge reads it back off a transcript, because the code already knows.</a:t>
            </a:r>
          </a:p>
        </p:txBody>
      </p:sp>
      <p:sp>
        <p:nvSpPr>
          <p:cNvPr id="515" name="Rounded Rectangle 9"/>
          <p:cNvSpPr/>
          <p:nvPr/>
        </p:nvSpPr>
        <p:spPr>
          <a:xfrm>
            <a:off x="771525" y="5429250"/>
            <a:ext cx="1104900" cy="314325"/>
          </a:xfrm>
          <a:prstGeom prst="roundRect">
            <a:avLst>
              <a:gd name="adj" fmla="val 50000"/>
            </a:avLst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26000"/>
              </a:srgbClr>
            </a:solidFill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516" name="pill"/>
          <p:cNvSpPr txBox="1"/>
          <p:nvPr/>
        </p:nvSpPr>
        <p:spPr>
          <a:xfrm>
            <a:off x="771525" y="5467350"/>
            <a:ext cx="1104900" cy="2190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 algn="ctr">
              <a:lnSpc>
                <a:spcPct val="74348"/>
              </a:lnSpc>
              <a:defRPr sz="1000">
                <a:solidFill>
                  <a:srgbClr val="FFFFFF">
                    <a:alpha val="64000"/>
                  </a:srgbClr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card_blocked</a:t>
            </a:r>
          </a:p>
        </p:txBody>
      </p:sp>
      <p:sp>
        <p:nvSpPr>
          <p:cNvPr id="517" name="Rounded Rectangle 11"/>
          <p:cNvSpPr/>
          <p:nvPr/>
        </p:nvSpPr>
        <p:spPr>
          <a:xfrm>
            <a:off x="1971675" y="5429250"/>
            <a:ext cx="1171575" cy="314325"/>
          </a:xfrm>
          <a:prstGeom prst="roundRect">
            <a:avLst>
              <a:gd name="adj" fmla="val 50000"/>
            </a:avLst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26000"/>
              </a:srgbClr>
            </a:solidFill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518" name="pill"/>
          <p:cNvSpPr txBox="1"/>
          <p:nvPr/>
        </p:nvSpPr>
        <p:spPr>
          <a:xfrm>
            <a:off x="1971675" y="5467350"/>
            <a:ext cx="1171575" cy="2190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 algn="ctr">
              <a:lnSpc>
                <a:spcPct val="74348"/>
              </a:lnSpc>
              <a:defRPr sz="1000">
                <a:solidFill>
                  <a:srgbClr val="FFFFFF">
                    <a:alpha val="64000"/>
                  </a:srgbClr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card_canceled</a:t>
            </a:r>
          </a:p>
        </p:txBody>
      </p:sp>
      <p:sp>
        <p:nvSpPr>
          <p:cNvPr id="519" name="Rounded Rectangle 13"/>
          <p:cNvSpPr/>
          <p:nvPr/>
        </p:nvSpPr>
        <p:spPr>
          <a:xfrm>
            <a:off x="3238500" y="5429250"/>
            <a:ext cx="1285875" cy="314325"/>
          </a:xfrm>
          <a:prstGeom prst="roundRect">
            <a:avLst>
              <a:gd name="adj" fmla="val 50000"/>
            </a:avLst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26000"/>
              </a:srgbClr>
            </a:solidFill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520" name="pill"/>
          <p:cNvSpPr txBox="1"/>
          <p:nvPr/>
        </p:nvSpPr>
        <p:spPr>
          <a:xfrm>
            <a:off x="3238500" y="5467350"/>
            <a:ext cx="1285875" cy="2190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 algn="ctr">
              <a:lnSpc>
                <a:spcPct val="74348"/>
              </a:lnSpc>
              <a:defRPr sz="1000">
                <a:solidFill>
                  <a:srgbClr val="FFFFFF">
                    <a:alpha val="64000"/>
                  </a:srgbClr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card_reactivated</a:t>
            </a:r>
          </a:p>
        </p:txBody>
      </p:sp>
      <p:sp>
        <p:nvSpPr>
          <p:cNvPr id="521" name="Rounded Rectangle 15"/>
          <p:cNvSpPr/>
          <p:nvPr/>
        </p:nvSpPr>
        <p:spPr>
          <a:xfrm>
            <a:off x="4619625" y="5429250"/>
            <a:ext cx="1628775" cy="314325"/>
          </a:xfrm>
          <a:prstGeom prst="roundRect">
            <a:avLst>
              <a:gd name="adj" fmla="val 50000"/>
            </a:avLst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26000"/>
              </a:srgbClr>
            </a:solidFill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522" name="pill"/>
          <p:cNvSpPr txBox="1"/>
          <p:nvPr/>
        </p:nvSpPr>
        <p:spPr>
          <a:xfrm>
            <a:off x="4619625" y="5467350"/>
            <a:ext cx="1628775" cy="2190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 algn="ctr">
              <a:lnSpc>
                <a:spcPct val="74348"/>
              </a:lnSpc>
              <a:defRPr sz="1000">
                <a:solidFill>
                  <a:srgbClr val="FFFFFF">
                    <a:alpha val="64000"/>
                  </a:srgbClr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client_authenticated_l1</a:t>
            </a:r>
          </a:p>
        </p:txBody>
      </p:sp>
      <p:sp>
        <p:nvSpPr>
          <p:cNvPr id="523" name="Rounded Rectangle 17"/>
          <p:cNvSpPr/>
          <p:nvPr/>
        </p:nvSpPr>
        <p:spPr>
          <a:xfrm>
            <a:off x="6343650" y="5429250"/>
            <a:ext cx="1657350" cy="314325"/>
          </a:xfrm>
          <a:prstGeom prst="roundRect">
            <a:avLst>
              <a:gd name="adj" fmla="val 50000"/>
            </a:avLst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26000"/>
              </a:srgbClr>
            </a:solidFill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524" name="pill"/>
          <p:cNvSpPr txBox="1"/>
          <p:nvPr/>
        </p:nvSpPr>
        <p:spPr>
          <a:xfrm>
            <a:off x="6343650" y="5467350"/>
            <a:ext cx="1657350" cy="2190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 algn="ctr">
              <a:lnSpc>
                <a:spcPct val="74348"/>
              </a:lnSpc>
              <a:defRPr sz="1000">
                <a:solidFill>
                  <a:srgbClr val="FFFFFF">
                    <a:alpha val="64000"/>
                  </a:srgbClr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client_authenticated_l2</a:t>
            </a:r>
          </a:p>
        </p:txBody>
      </p:sp>
      <p:sp>
        <p:nvSpPr>
          <p:cNvPr id="525" name="Rounded Rectangle 19"/>
          <p:cNvSpPr/>
          <p:nvPr/>
        </p:nvSpPr>
        <p:spPr>
          <a:xfrm>
            <a:off x="771525" y="5838825"/>
            <a:ext cx="2381250" cy="314325"/>
          </a:xfrm>
          <a:prstGeom prst="roundRect">
            <a:avLst>
              <a:gd name="adj" fmla="val 50000"/>
            </a:avLst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26000"/>
              </a:srgbClr>
            </a:solidFill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526" name="pill"/>
          <p:cNvSpPr txBox="1"/>
          <p:nvPr/>
        </p:nvSpPr>
        <p:spPr>
          <a:xfrm>
            <a:off x="771525" y="5876925"/>
            <a:ext cx="2381250" cy="2190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 algn="ctr">
              <a:lnSpc>
                <a:spcPct val="74348"/>
              </a:lnSpc>
              <a:defRPr sz="1000">
                <a:solidFill>
                  <a:srgbClr val="FFFFFF">
                    <a:alpha val="64000"/>
                  </a:srgbClr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card_limit_increased_pre_approved</a:t>
            </a:r>
          </a:p>
        </p:txBody>
      </p:sp>
      <p:sp>
        <p:nvSpPr>
          <p:cNvPr id="527" name="Rounded Rectangle 21"/>
          <p:cNvSpPr/>
          <p:nvPr/>
        </p:nvSpPr>
        <p:spPr>
          <a:xfrm>
            <a:off x="3248025" y="5838825"/>
            <a:ext cx="2828925" cy="314325"/>
          </a:xfrm>
          <a:prstGeom prst="roundRect">
            <a:avLst>
              <a:gd name="adj" fmla="val 50000"/>
            </a:avLst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26000"/>
              </a:srgbClr>
            </a:solidFill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528" name="pill"/>
          <p:cNvSpPr txBox="1"/>
          <p:nvPr/>
        </p:nvSpPr>
        <p:spPr>
          <a:xfrm>
            <a:off x="3248025" y="5876925"/>
            <a:ext cx="2828925" cy="2190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 algn="ctr">
              <a:lnSpc>
                <a:spcPct val="74348"/>
              </a:lnSpc>
              <a:defRPr sz="1000">
                <a:solidFill>
                  <a:srgbClr val="FFFFFF">
                    <a:alpha val="64000"/>
                  </a:srgbClr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card_limit_decreased_released_investment</a:t>
            </a:r>
          </a:p>
        </p:txBody>
      </p:sp>
      <p:sp>
        <p:nvSpPr>
          <p:cNvPr id="529" name="Rounded Rectangle 23"/>
          <p:cNvSpPr/>
          <p:nvPr/>
        </p:nvSpPr>
        <p:spPr>
          <a:xfrm>
            <a:off x="6172200" y="5838825"/>
            <a:ext cx="1933575" cy="314325"/>
          </a:xfrm>
          <a:prstGeom prst="roundRect">
            <a:avLst>
              <a:gd name="adj" fmla="val 50000"/>
            </a:avLst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26000"/>
              </a:srgbClr>
            </a:solidFill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530" name="pill"/>
          <p:cNvSpPr txBox="1"/>
          <p:nvPr/>
        </p:nvSpPr>
        <p:spPr>
          <a:xfrm>
            <a:off x="6172200" y="5876925"/>
            <a:ext cx="1933575" cy="2190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 algn="ctr">
              <a:lnSpc>
                <a:spcPct val="74348"/>
              </a:lnSpc>
              <a:defRPr sz="1000">
                <a:solidFill>
                  <a:srgbClr val="FFFFFF">
                    <a:alpha val="64000"/>
                  </a:srgbClr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question_answered_by_rag</a:t>
            </a:r>
          </a:p>
        </p:txBody>
      </p:sp>
      <p:sp>
        <p:nvSpPr>
          <p:cNvPr id="531" name="Rounded Rectangle 25"/>
          <p:cNvSpPr/>
          <p:nvPr/>
        </p:nvSpPr>
        <p:spPr>
          <a:xfrm>
            <a:off x="771525" y="6248400"/>
            <a:ext cx="1181100" cy="314325"/>
          </a:xfrm>
          <a:prstGeom prst="roundRect">
            <a:avLst>
              <a:gd name="adj" fmla="val 50000"/>
            </a:avLst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26000"/>
              </a:srgbClr>
            </a:solidFill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532" name="pill"/>
          <p:cNvSpPr txBox="1"/>
          <p:nvPr/>
        </p:nvSpPr>
        <p:spPr>
          <a:xfrm>
            <a:off x="771525" y="6286500"/>
            <a:ext cx="1181100" cy="2190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 algn="ctr">
              <a:lnSpc>
                <a:spcPct val="74348"/>
              </a:lnSpc>
              <a:defRPr sz="1000">
                <a:solidFill>
                  <a:srgbClr val="FFFFFF">
                    <a:alpha val="64000"/>
                  </a:srgbClr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and nine more</a:t>
            </a:r>
          </a:p>
        </p:txBody>
      </p:sp>
      <p:sp>
        <p:nvSpPr>
          <p:cNvPr id="533" name="Rounded Rectangle 27"/>
          <p:cNvSpPr/>
          <p:nvPr/>
        </p:nvSpPr>
        <p:spPr>
          <a:xfrm>
            <a:off x="9410700" y="3009900"/>
            <a:ext cx="8458201" cy="3810001"/>
          </a:xfrm>
          <a:prstGeom prst="roundRect">
            <a:avLst>
              <a:gd name="adj" fmla="val 3000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18000"/>
              </a:srgbClr>
            </a:solidFill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534" name="t"/>
          <p:cNvSpPr txBox="1"/>
          <p:nvPr/>
        </p:nvSpPr>
        <p:spPr>
          <a:xfrm>
            <a:off x="9763125" y="3381375"/>
            <a:ext cx="7753350" cy="323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06786"/>
              </a:lnSpc>
              <a:defRPr sz="1700">
                <a:solidFill>
                  <a:srgbClr val="FFFFFF">
                    <a:alpha val="42000"/>
                  </a:srgbClr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Three tags</a:t>
            </a:r>
          </a:p>
        </p:txBody>
      </p:sp>
      <p:sp>
        <p:nvSpPr>
          <p:cNvPr id="535" name="t"/>
          <p:cNvSpPr txBox="1"/>
          <p:nvPr/>
        </p:nvSpPr>
        <p:spPr>
          <a:xfrm>
            <a:off x="9763125" y="3781425"/>
            <a:ext cx="7753350" cy="457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85500"/>
              </a:lnSpc>
              <a:defRPr sz="2600">
                <a:solidFill>
                  <a:srgbClr val="FFFFFF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Judged after it closes</a:t>
            </a:r>
          </a:p>
        </p:txBody>
      </p:sp>
      <p:sp>
        <p:nvSpPr>
          <p:cNvPr id="536" name="t"/>
          <p:cNvSpPr txBox="1"/>
          <p:nvPr/>
        </p:nvSpPr>
        <p:spPr>
          <a:xfrm>
            <a:off x="9763125" y="4429125"/>
            <a:ext cx="7753350" cy="9715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19107"/>
              </a:lnSpc>
              <a:defRPr sz="1700">
                <a:solidFill>
                  <a:srgbClr val="FFFFFF">
                    <a:alpha val="64000"/>
                  </a:srgbClr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Nothing the agent does reaches these, so there is no deed to attach one at. Most of each judge's brief is spent on what does not count: disputing a charge is using the product, and cancelling a stolen card is not leaving.</a:t>
            </a:r>
          </a:p>
        </p:txBody>
      </p:sp>
      <p:sp>
        <p:nvSpPr>
          <p:cNvPr id="537" name="Rounded Rectangle 31"/>
          <p:cNvSpPr/>
          <p:nvPr/>
        </p:nvSpPr>
        <p:spPr>
          <a:xfrm>
            <a:off x="9763125" y="5838825"/>
            <a:ext cx="1114425" cy="314325"/>
          </a:xfrm>
          <a:prstGeom prst="roundRect">
            <a:avLst>
              <a:gd name="adj" fmla="val 50000"/>
            </a:avLst>
          </a:prstGeom>
          <a:ln w="12700">
            <a:solidFill>
              <a:srgbClr val="FF7A8C">
                <a:alpha val="26000"/>
              </a:srgbClr>
            </a:solidFill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538" name="pill"/>
          <p:cNvSpPr txBox="1"/>
          <p:nvPr/>
        </p:nvSpPr>
        <p:spPr>
          <a:xfrm>
            <a:off x="9763125" y="5876925"/>
            <a:ext cx="1114425" cy="2190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 algn="ctr">
              <a:lnSpc>
                <a:spcPct val="74348"/>
              </a:lnSpc>
              <a:defRPr sz="1000">
                <a:solidFill>
                  <a:srgbClr val="FF7A8C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threat_to_sue</a:t>
            </a:r>
          </a:p>
        </p:txBody>
      </p:sp>
      <p:sp>
        <p:nvSpPr>
          <p:cNvPr id="539" name="Rounded Rectangle 33"/>
          <p:cNvSpPr/>
          <p:nvPr/>
        </p:nvSpPr>
        <p:spPr>
          <a:xfrm>
            <a:off x="10972800" y="5838825"/>
            <a:ext cx="1209675" cy="314325"/>
          </a:xfrm>
          <a:prstGeom prst="roundRect">
            <a:avLst>
              <a:gd name="adj" fmla="val 50000"/>
            </a:avLst>
          </a:prstGeom>
          <a:ln w="12700">
            <a:solidFill>
              <a:srgbClr val="FFBB65">
                <a:alpha val="26000"/>
              </a:srgbClr>
            </a:solidFill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540" name="pill"/>
          <p:cNvSpPr txBox="1"/>
          <p:nvPr/>
        </p:nvSpPr>
        <p:spPr>
          <a:xfrm>
            <a:off x="10972800" y="5876925"/>
            <a:ext cx="1209675" cy="2190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 algn="ctr">
              <a:lnSpc>
                <a:spcPct val="74348"/>
              </a:lnSpc>
              <a:defRPr sz="1000">
                <a:solidFill>
                  <a:srgbClr val="FFBB65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threat_to_leave</a:t>
            </a:r>
          </a:p>
        </p:txBody>
      </p:sp>
      <p:sp>
        <p:nvSpPr>
          <p:cNvPr id="541" name="Rounded Rectangle 35"/>
          <p:cNvSpPr/>
          <p:nvPr/>
        </p:nvSpPr>
        <p:spPr>
          <a:xfrm>
            <a:off x="12277725" y="5838825"/>
            <a:ext cx="1695450" cy="314325"/>
          </a:xfrm>
          <a:prstGeom prst="roundRect">
            <a:avLst>
              <a:gd name="adj" fmla="val 50000"/>
            </a:avLst>
          </a:prstGeom>
          <a:ln w="12700">
            <a:solidFill>
              <a:srgbClr val="FF7A8C">
                <a:alpha val="26000"/>
              </a:srgbClr>
            </a:solidFill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542" name="pill"/>
          <p:cNvSpPr txBox="1"/>
          <p:nvPr/>
        </p:nvSpPr>
        <p:spPr>
          <a:xfrm>
            <a:off x="12277725" y="5876925"/>
            <a:ext cx="1695450" cy="2190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 algn="ctr">
              <a:lnSpc>
                <a:spcPct val="74348"/>
              </a:lnSpc>
              <a:defRPr sz="1000">
                <a:solidFill>
                  <a:srgbClr val="FF7A8C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extreme_dissatisfaction</a:t>
            </a:r>
          </a:p>
        </p:txBody>
      </p:sp>
      <p:sp>
        <p:nvSpPr>
          <p:cNvPr id="543" name="Rounded Rectangle 38"/>
          <p:cNvSpPr/>
          <p:nvPr/>
        </p:nvSpPr>
        <p:spPr>
          <a:xfrm>
            <a:off x="419100" y="7096125"/>
            <a:ext cx="17449800" cy="1666875"/>
          </a:xfrm>
          <a:prstGeom prst="roundRect">
            <a:avLst>
              <a:gd name="adj" fmla="val 8000"/>
            </a:avLst>
          </a:prstGeom>
          <a:solidFill>
            <a:srgbClr val="FFFFFF">
              <a:alpha val="10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544" name="t"/>
          <p:cNvSpPr txBox="1"/>
          <p:nvPr/>
        </p:nvSpPr>
        <p:spPr>
          <a:xfrm>
            <a:off x="1114425" y="7505700"/>
            <a:ext cx="2857500" cy="6286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74693"/>
              </a:lnSpc>
              <a:defRPr sz="3700">
                <a:solidFill>
                  <a:srgbClr val="FFFFFF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24</a:t>
            </a:r>
          </a:p>
        </p:txBody>
      </p:sp>
      <p:sp>
        <p:nvSpPr>
          <p:cNvPr id="545" name="t"/>
          <p:cNvSpPr txBox="1"/>
          <p:nvPr/>
        </p:nvSpPr>
        <p:spPr>
          <a:xfrm>
            <a:off x="1114425" y="8172450"/>
            <a:ext cx="3810000" cy="3333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10893"/>
              </a:lnSpc>
              <a:defRPr sz="1700">
                <a:solidFill>
                  <a:srgbClr val="FFFFFF">
                    <a:alpha val="64000"/>
                  </a:srgbClr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Metrics</a:t>
            </a:r>
          </a:p>
        </p:txBody>
      </p:sp>
      <p:sp>
        <p:nvSpPr>
          <p:cNvPr id="546" name="Rectangle 41"/>
          <p:cNvSpPr/>
          <p:nvPr/>
        </p:nvSpPr>
        <p:spPr>
          <a:xfrm>
            <a:off x="4570412" y="7505700"/>
            <a:ext cx="12701" cy="1000125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547" name="t"/>
          <p:cNvSpPr txBox="1"/>
          <p:nvPr/>
        </p:nvSpPr>
        <p:spPr>
          <a:xfrm>
            <a:off x="5048250" y="7553325"/>
            <a:ext cx="12382500" cy="3619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03846"/>
              </a:lnSpc>
              <a:defRPr sz="2000">
                <a:solidFill>
                  <a:srgbClr val="FFFFFF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Each one an expression over tag slugs, and nothing else</a:t>
            </a:r>
          </a:p>
        </p:txBody>
      </p:sp>
      <p:sp>
        <p:nvSpPr>
          <p:cNvPr id="548" name="t"/>
          <p:cNvSpPr txBox="1"/>
          <p:nvPr/>
        </p:nvSpPr>
        <p:spPr>
          <a:xfrm>
            <a:off x="5048250" y="7991475"/>
            <a:ext cx="12382500" cy="6667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19107"/>
              </a:lnSpc>
              <a:defRPr sz="1700">
                <a:solidFill>
                  <a:srgbClr val="FFFFFF">
                    <a:alpha val="64000"/>
                  </a:srgbClr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A has, or a has with a not. Rule groups are OR'd and the conditions inside one are AND'd. Publishing a metric scores the history that already exists — there is no backfill step.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eyebrow"/>
          <p:cNvSpPr txBox="1"/>
          <p:nvPr/>
        </p:nvSpPr>
        <p:spPr>
          <a:xfrm>
            <a:off x="419100" y="342900"/>
            <a:ext cx="16344900" cy="3714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08000"/>
              </a:lnSpc>
              <a:defRPr sz="2000">
                <a:solidFill>
                  <a:srgbClr val="FFFFFF">
                    <a:alpha val="42000"/>
                  </a:srgbClr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Configuration</a:t>
            </a:r>
          </a:p>
        </p:txBody>
      </p:sp>
      <p:sp>
        <p:nvSpPr>
          <p:cNvPr id="551" name="h1"/>
          <p:cNvSpPr txBox="1"/>
          <p:nvPr/>
        </p:nvSpPr>
        <p:spPr>
          <a:xfrm>
            <a:off x="419100" y="790575"/>
            <a:ext cx="16344900" cy="5524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81930"/>
              </a:lnSpc>
              <a:defRPr sz="3200">
                <a:solidFill>
                  <a:srgbClr val="FFFFFF"/>
                </a:solidFill>
                <a:latin typeface="Inter ExtraLight"/>
                <a:ea typeface="Inter ExtraLight"/>
                <a:cs typeface="Inter ExtraLight"/>
                <a:sym typeface="Inter ExtraLight"/>
              </a:defRPr>
            </a:lvl1pPr>
          </a:lstStyle>
          <a:p>
            <a:pPr/>
            <a:r>
              <a:t>The voice stack</a:t>
            </a:r>
          </a:p>
        </p:txBody>
      </p:sp>
      <p:sp>
        <p:nvSpPr>
          <p:cNvPr id="552" name="deck"/>
          <p:cNvSpPr txBox="1"/>
          <p:nvPr/>
        </p:nvSpPr>
        <p:spPr>
          <a:xfrm>
            <a:off x="419100" y="1390650"/>
            <a:ext cx="14325600" cy="7334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12153"/>
              </a:lnSpc>
              <a:defRPr sz="2000">
                <a:solidFill>
                  <a:srgbClr val="B5B5B7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Traditional orchestration keeps the model, the transcription and the speech legs independently replaceable, and every leg has a fallback behind it. Multi-skill optimizes token usage.</a:t>
            </a:r>
          </a:p>
        </p:txBody>
      </p:sp>
      <p:pic>
        <p:nvPicPr>
          <p:cNvPr id="553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6725900" y="9620250"/>
            <a:ext cx="1143000" cy="285750"/>
          </a:xfrm>
          <a:prstGeom prst="rect">
            <a:avLst/>
          </a:prstGeom>
          <a:ln w="12700">
            <a:miter lim="400000"/>
          </a:ln>
        </p:spPr>
      </p:pic>
      <p:sp>
        <p:nvSpPr>
          <p:cNvPr id="554" name="Rounded Rectangle 5"/>
          <p:cNvSpPr/>
          <p:nvPr/>
        </p:nvSpPr>
        <p:spPr>
          <a:xfrm>
            <a:off x="419100" y="3533775"/>
            <a:ext cx="17449800" cy="5038725"/>
          </a:xfrm>
          <a:prstGeom prst="roundRect">
            <a:avLst>
              <a:gd name="adj" fmla="val 2647"/>
            </a:avLst>
          </a:prstGeom>
          <a:solidFill>
            <a:srgbClr val="FFFFFF">
              <a:alpha val="10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555" name="t"/>
          <p:cNvSpPr txBox="1"/>
          <p:nvPr/>
        </p:nvSpPr>
        <p:spPr>
          <a:xfrm>
            <a:off x="847725" y="3886200"/>
            <a:ext cx="2933700" cy="2190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74348"/>
              </a:lnSpc>
              <a:defRPr sz="1000">
                <a:solidFill>
                  <a:srgbClr val="FFFFFF">
                    <a:alpha val="42000"/>
                  </a:srgbClr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Leg</a:t>
            </a:r>
          </a:p>
        </p:txBody>
      </p:sp>
      <p:sp>
        <p:nvSpPr>
          <p:cNvPr id="556" name="t"/>
          <p:cNvSpPr txBox="1"/>
          <p:nvPr/>
        </p:nvSpPr>
        <p:spPr>
          <a:xfrm>
            <a:off x="3895725" y="3886200"/>
            <a:ext cx="6667500" cy="2190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74348"/>
              </a:lnSpc>
              <a:defRPr sz="1000">
                <a:solidFill>
                  <a:srgbClr val="FFFFFF">
                    <a:alpha val="42000"/>
                  </a:srgbClr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Primary</a:t>
            </a:r>
          </a:p>
        </p:txBody>
      </p:sp>
      <p:sp>
        <p:nvSpPr>
          <p:cNvPr id="557" name="t"/>
          <p:cNvSpPr txBox="1"/>
          <p:nvPr/>
        </p:nvSpPr>
        <p:spPr>
          <a:xfrm>
            <a:off x="10858500" y="3886200"/>
            <a:ext cx="7000875" cy="2190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74348"/>
              </a:lnSpc>
              <a:defRPr sz="1000">
                <a:solidFill>
                  <a:srgbClr val="FFFFFF">
                    <a:alpha val="42000"/>
                  </a:srgbClr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Fallback</a:t>
            </a:r>
          </a:p>
        </p:txBody>
      </p:sp>
      <p:sp>
        <p:nvSpPr>
          <p:cNvPr id="558" name="Rectangle 9"/>
          <p:cNvSpPr/>
          <p:nvPr/>
        </p:nvSpPr>
        <p:spPr>
          <a:xfrm>
            <a:off x="847725" y="4217987"/>
            <a:ext cx="16592550" cy="12701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559" name="t"/>
          <p:cNvSpPr txBox="1"/>
          <p:nvPr/>
        </p:nvSpPr>
        <p:spPr>
          <a:xfrm>
            <a:off x="847725" y="4467225"/>
            <a:ext cx="2933700" cy="3143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 defTabSz="434340">
              <a:lnSpc>
                <a:spcPct val="89722"/>
              </a:lnSpc>
              <a:defRPr sz="1804">
                <a:solidFill>
                  <a:srgbClr val="FFFFFF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Orchestrator</a:t>
            </a:r>
          </a:p>
        </p:txBody>
      </p:sp>
      <p:sp>
        <p:nvSpPr>
          <p:cNvPr id="560" name="t"/>
          <p:cNvSpPr txBox="1"/>
          <p:nvPr/>
        </p:nvSpPr>
        <p:spPr>
          <a:xfrm>
            <a:off x="3895725" y="4467225"/>
            <a:ext cx="6667500" cy="3524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15000"/>
              </a:lnSpc>
              <a:defRPr sz="1700">
                <a:solidFill>
                  <a:srgbClr val="FFFFFF">
                    <a:alpha val="88000"/>
                  </a:srgbClr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Traditional, automated multi-skill</a:t>
            </a:r>
          </a:p>
        </p:txBody>
      </p:sp>
      <p:sp>
        <p:nvSpPr>
          <p:cNvPr id="561" name="t"/>
          <p:cNvSpPr txBox="1"/>
          <p:nvPr/>
        </p:nvSpPr>
        <p:spPr>
          <a:xfrm>
            <a:off x="10858500" y="4467225"/>
            <a:ext cx="7000875" cy="3524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15000"/>
              </a:lnSpc>
              <a:defRPr sz="1700">
                <a:solidFill>
                  <a:srgbClr val="FFFFFF">
                    <a:alpha val="64000"/>
                  </a:srgbClr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-</a:t>
            </a:r>
          </a:p>
        </p:txBody>
      </p:sp>
      <p:sp>
        <p:nvSpPr>
          <p:cNvPr id="562" name="Rectangle 13"/>
          <p:cNvSpPr/>
          <p:nvPr/>
        </p:nvSpPr>
        <p:spPr>
          <a:xfrm>
            <a:off x="847725" y="5065712"/>
            <a:ext cx="16592550" cy="12701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563" name="t"/>
          <p:cNvSpPr txBox="1"/>
          <p:nvPr/>
        </p:nvSpPr>
        <p:spPr>
          <a:xfrm>
            <a:off x="847725" y="5162550"/>
            <a:ext cx="2933700" cy="3143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 defTabSz="434340">
              <a:lnSpc>
                <a:spcPct val="89722"/>
              </a:lnSpc>
              <a:defRPr sz="1804">
                <a:solidFill>
                  <a:srgbClr val="FFFFFF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LLM</a:t>
            </a:r>
          </a:p>
        </p:txBody>
      </p:sp>
      <p:sp>
        <p:nvSpPr>
          <p:cNvPr id="564" name="t"/>
          <p:cNvSpPr txBox="1"/>
          <p:nvPr/>
        </p:nvSpPr>
        <p:spPr>
          <a:xfrm>
            <a:off x="3895725" y="5215731"/>
            <a:ext cx="6667500" cy="3524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15000"/>
              </a:lnSpc>
              <a:defRPr sz="1700">
                <a:solidFill>
                  <a:srgbClr val="FFFFFF">
                    <a:alpha val="88000"/>
                  </a:srgbClr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wonderful/gemma-4-31b  ·  temp 0</a:t>
            </a:r>
          </a:p>
        </p:txBody>
      </p:sp>
      <p:sp>
        <p:nvSpPr>
          <p:cNvPr id="565" name="t"/>
          <p:cNvSpPr txBox="1"/>
          <p:nvPr/>
        </p:nvSpPr>
        <p:spPr>
          <a:xfrm>
            <a:off x="10858500" y="5162550"/>
            <a:ext cx="7000875" cy="3524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15000"/>
              </a:lnSpc>
              <a:defRPr sz="1700">
                <a:solidFill>
                  <a:srgbClr val="FFFFFF">
                    <a:alpha val="64000"/>
                  </a:srgbClr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OpenAI gpt-realtime-1.5</a:t>
            </a:r>
          </a:p>
        </p:txBody>
      </p:sp>
      <p:sp>
        <p:nvSpPr>
          <p:cNvPr id="566" name="Rectangle 17"/>
          <p:cNvSpPr/>
          <p:nvPr/>
        </p:nvSpPr>
        <p:spPr>
          <a:xfrm>
            <a:off x="847725" y="5761037"/>
            <a:ext cx="16592550" cy="12701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567" name="t"/>
          <p:cNvSpPr txBox="1"/>
          <p:nvPr/>
        </p:nvSpPr>
        <p:spPr>
          <a:xfrm>
            <a:off x="847725" y="5857875"/>
            <a:ext cx="2933700" cy="3143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 defTabSz="434340">
              <a:lnSpc>
                <a:spcPct val="89722"/>
              </a:lnSpc>
              <a:defRPr sz="1804">
                <a:solidFill>
                  <a:srgbClr val="FFFFFF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STT</a:t>
            </a:r>
          </a:p>
        </p:txBody>
      </p:sp>
      <p:sp>
        <p:nvSpPr>
          <p:cNvPr id="568" name="t"/>
          <p:cNvSpPr txBox="1"/>
          <p:nvPr/>
        </p:nvSpPr>
        <p:spPr>
          <a:xfrm>
            <a:off x="3895725" y="5857875"/>
            <a:ext cx="6667500" cy="3524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15000"/>
              </a:lnSpc>
              <a:defRPr sz="1700">
                <a:solidFill>
                  <a:srgbClr val="FFFFFF">
                    <a:alpha val="88000"/>
                  </a:srgbClr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Soniox stt-rt-v4</a:t>
            </a:r>
          </a:p>
        </p:txBody>
      </p:sp>
      <p:sp>
        <p:nvSpPr>
          <p:cNvPr id="569" name="t"/>
          <p:cNvSpPr txBox="1"/>
          <p:nvPr/>
        </p:nvSpPr>
        <p:spPr>
          <a:xfrm>
            <a:off x="10858500" y="5857875"/>
            <a:ext cx="7000875" cy="3524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15000"/>
              </a:lnSpc>
              <a:defRPr sz="1700">
                <a:solidFill>
                  <a:srgbClr val="FFFFFF">
                    <a:alpha val="64000"/>
                  </a:srgbClr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Deepgram nova-3</a:t>
            </a:r>
          </a:p>
        </p:txBody>
      </p:sp>
      <p:sp>
        <p:nvSpPr>
          <p:cNvPr id="570" name="Rectangle 21"/>
          <p:cNvSpPr/>
          <p:nvPr/>
        </p:nvSpPr>
        <p:spPr>
          <a:xfrm>
            <a:off x="847725" y="6456362"/>
            <a:ext cx="16592550" cy="12701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571" name="t"/>
          <p:cNvSpPr txBox="1"/>
          <p:nvPr/>
        </p:nvSpPr>
        <p:spPr>
          <a:xfrm>
            <a:off x="847725" y="6553200"/>
            <a:ext cx="2933700" cy="3143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 defTabSz="434340">
              <a:lnSpc>
                <a:spcPct val="89722"/>
              </a:lnSpc>
              <a:defRPr sz="1804">
                <a:solidFill>
                  <a:srgbClr val="FFFFFF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TTS</a:t>
            </a:r>
          </a:p>
        </p:txBody>
      </p:sp>
      <p:sp>
        <p:nvSpPr>
          <p:cNvPr id="572" name="t"/>
          <p:cNvSpPr txBox="1"/>
          <p:nvPr/>
        </p:nvSpPr>
        <p:spPr>
          <a:xfrm>
            <a:off x="3895725" y="6553200"/>
            <a:ext cx="6667500" cy="3524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15000"/>
              </a:lnSpc>
              <a:defRPr sz="1700">
                <a:solidFill>
                  <a:srgbClr val="FFFFFF">
                    <a:alpha val="88000"/>
                  </a:srgbClr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Gemini 3.1 Flash Preview</a:t>
            </a:r>
          </a:p>
        </p:txBody>
      </p:sp>
      <p:sp>
        <p:nvSpPr>
          <p:cNvPr id="573" name="t"/>
          <p:cNvSpPr txBox="1"/>
          <p:nvPr/>
        </p:nvSpPr>
        <p:spPr>
          <a:xfrm>
            <a:off x="10858500" y="6553200"/>
            <a:ext cx="7000875" cy="3524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15000"/>
              </a:lnSpc>
              <a:defRPr sz="1700">
                <a:solidFill>
                  <a:srgbClr val="FFFFFF">
                    <a:alpha val="64000"/>
                  </a:srgbClr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Cartesia sonic-3.5</a:t>
            </a:r>
          </a:p>
        </p:txBody>
      </p:sp>
      <p:sp>
        <p:nvSpPr>
          <p:cNvPr id="574" name="Rectangle 25"/>
          <p:cNvSpPr/>
          <p:nvPr/>
        </p:nvSpPr>
        <p:spPr>
          <a:xfrm>
            <a:off x="847725" y="7151687"/>
            <a:ext cx="16592550" cy="12701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575" name="t"/>
          <p:cNvSpPr txBox="1"/>
          <p:nvPr/>
        </p:nvSpPr>
        <p:spPr>
          <a:xfrm>
            <a:off x="847725" y="7248525"/>
            <a:ext cx="2933700" cy="3143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 defTabSz="434340">
              <a:lnSpc>
                <a:spcPct val="89722"/>
              </a:lnSpc>
              <a:defRPr sz="1804">
                <a:solidFill>
                  <a:srgbClr val="FFFFFF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End of Turn</a:t>
            </a:r>
          </a:p>
        </p:txBody>
      </p:sp>
      <p:sp>
        <p:nvSpPr>
          <p:cNvPr id="576" name="t"/>
          <p:cNvSpPr txBox="1"/>
          <p:nvPr/>
        </p:nvSpPr>
        <p:spPr>
          <a:xfrm>
            <a:off x="3895725" y="7248525"/>
            <a:ext cx="6667500" cy="3524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15000"/>
              </a:lnSpc>
              <a:defRPr sz="1700">
                <a:solidFill>
                  <a:srgbClr val="FFFFFF">
                    <a:alpha val="88000"/>
                  </a:srgbClr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smart-turn v3.2-multilingual  ·  700 ms</a:t>
            </a:r>
          </a:p>
        </p:txBody>
      </p:sp>
      <p:sp>
        <p:nvSpPr>
          <p:cNvPr id="577" name="t"/>
          <p:cNvSpPr txBox="1"/>
          <p:nvPr/>
        </p:nvSpPr>
        <p:spPr>
          <a:xfrm>
            <a:off x="10858500" y="7248525"/>
            <a:ext cx="7000875" cy="3524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15000"/>
              </a:lnSpc>
              <a:defRPr sz="1700">
                <a:solidFill>
                  <a:srgbClr val="FFFFFF">
                    <a:alpha val="64000"/>
                  </a:srgbClr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Dynamic EoT timeout</a:t>
            </a:r>
          </a:p>
        </p:txBody>
      </p:sp>
      <p:sp>
        <p:nvSpPr>
          <p:cNvPr id="578" name="Rectangle 29"/>
          <p:cNvSpPr/>
          <p:nvPr/>
        </p:nvSpPr>
        <p:spPr>
          <a:xfrm>
            <a:off x="847725" y="7847012"/>
            <a:ext cx="16592550" cy="12701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579" name="t"/>
          <p:cNvSpPr txBox="1"/>
          <p:nvPr/>
        </p:nvSpPr>
        <p:spPr>
          <a:xfrm>
            <a:off x="847725" y="7943850"/>
            <a:ext cx="2933700" cy="3143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 defTabSz="434340">
              <a:lnSpc>
                <a:spcPct val="89722"/>
              </a:lnSpc>
              <a:defRPr sz="1804">
                <a:solidFill>
                  <a:srgbClr val="FFFFFF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Language</a:t>
            </a:r>
          </a:p>
        </p:txBody>
      </p:sp>
      <p:sp>
        <p:nvSpPr>
          <p:cNvPr id="580" name="t"/>
          <p:cNvSpPr txBox="1"/>
          <p:nvPr/>
        </p:nvSpPr>
        <p:spPr>
          <a:xfrm>
            <a:off x="3895725" y="7943850"/>
            <a:ext cx="6667500" cy="3524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15000"/>
              </a:lnSpc>
              <a:defRPr sz="1700">
                <a:solidFill>
                  <a:srgbClr val="FFFFFF">
                    <a:alpha val="88000"/>
                  </a:srgbClr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English, en-US</a:t>
            </a:r>
          </a:p>
        </p:txBody>
      </p:sp>
      <p:sp>
        <p:nvSpPr>
          <p:cNvPr id="581" name="t"/>
          <p:cNvSpPr txBox="1"/>
          <p:nvPr/>
        </p:nvSpPr>
        <p:spPr>
          <a:xfrm>
            <a:off x="10858500" y="7943850"/>
            <a:ext cx="7000875" cy="3524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15000"/>
              </a:lnSpc>
              <a:defRPr sz="1700">
                <a:solidFill>
                  <a:srgbClr val="FFFFFF">
                    <a:alpha val="64000"/>
                  </a:srgbClr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Multilingual is not implemented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eyebrow"/>
          <p:cNvSpPr txBox="1"/>
          <p:nvPr/>
        </p:nvSpPr>
        <p:spPr>
          <a:xfrm>
            <a:off x="419100" y="342900"/>
            <a:ext cx="16344900" cy="3714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08000"/>
              </a:lnSpc>
              <a:defRPr sz="2000">
                <a:solidFill>
                  <a:srgbClr val="FFFFFF">
                    <a:alpha val="42000"/>
                  </a:srgbClr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Configuration</a:t>
            </a:r>
          </a:p>
        </p:txBody>
      </p:sp>
      <p:sp>
        <p:nvSpPr>
          <p:cNvPr id="584" name="h1"/>
          <p:cNvSpPr txBox="1"/>
          <p:nvPr/>
        </p:nvSpPr>
        <p:spPr>
          <a:xfrm>
            <a:off x="419100" y="790575"/>
            <a:ext cx="16344900" cy="5524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81930"/>
              </a:lnSpc>
              <a:defRPr sz="3200">
                <a:solidFill>
                  <a:srgbClr val="FFFFFF"/>
                </a:solidFill>
                <a:latin typeface="Inter ExtraLight"/>
                <a:ea typeface="Inter ExtraLight"/>
                <a:cs typeface="Inter ExtraLight"/>
                <a:sym typeface="Inter ExtraLight"/>
              </a:defRPr>
            </a:lvl1pPr>
          </a:lstStyle>
          <a:p>
            <a:pPr/>
            <a:r>
              <a:t>Guardrails: what is asked of the model, and what is taken away from it</a:t>
            </a:r>
          </a:p>
        </p:txBody>
      </p:sp>
      <p:sp>
        <p:nvSpPr>
          <p:cNvPr id="585" name="deck"/>
          <p:cNvSpPr txBox="1"/>
          <p:nvPr/>
        </p:nvSpPr>
        <p:spPr>
          <a:xfrm>
            <a:off x="419100" y="1390650"/>
            <a:ext cx="15297150" cy="7334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12153"/>
              </a:lnSpc>
              <a:defRPr sz="2000">
                <a:solidFill>
                  <a:srgbClr val="B5B5B7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A rule the model can be talked out of is not a guardrail. The ones that hold are the ones where the value it would need is not there to say.</a:t>
            </a:r>
          </a:p>
        </p:txBody>
      </p:sp>
      <p:pic>
        <p:nvPicPr>
          <p:cNvPr id="586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6725900" y="9620250"/>
            <a:ext cx="1143000" cy="285750"/>
          </a:xfrm>
          <a:prstGeom prst="rect">
            <a:avLst/>
          </a:prstGeom>
          <a:ln w="12700">
            <a:miter lim="400000"/>
          </a:ln>
        </p:spPr>
      </p:pic>
      <p:sp>
        <p:nvSpPr>
          <p:cNvPr id="587" name="Rounded Rectangle 5"/>
          <p:cNvSpPr/>
          <p:nvPr/>
        </p:nvSpPr>
        <p:spPr>
          <a:xfrm>
            <a:off x="419100" y="3619500"/>
            <a:ext cx="5534025" cy="4191000"/>
          </a:xfrm>
          <a:prstGeom prst="roundRect">
            <a:avLst>
              <a:gd name="adj" fmla="val 2727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18000"/>
              </a:srgbClr>
            </a:solidFill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588" name="t"/>
          <p:cNvSpPr txBox="1"/>
          <p:nvPr/>
        </p:nvSpPr>
        <p:spPr>
          <a:xfrm>
            <a:off x="771525" y="3914775"/>
            <a:ext cx="4829175" cy="323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06786"/>
              </a:lnSpc>
              <a:defRPr sz="1700">
                <a:solidFill>
                  <a:srgbClr val="FFFFFF">
                    <a:alpha val="42000"/>
                  </a:srgbClr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Prompt</a:t>
            </a:r>
          </a:p>
        </p:txBody>
      </p:sp>
      <p:sp>
        <p:nvSpPr>
          <p:cNvPr id="589" name="t"/>
          <p:cNvSpPr txBox="1"/>
          <p:nvPr/>
        </p:nvSpPr>
        <p:spPr>
          <a:xfrm>
            <a:off x="771525" y="4314825"/>
            <a:ext cx="4829175" cy="457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85500"/>
              </a:lnSpc>
              <a:defRPr sz="2600">
                <a:solidFill>
                  <a:srgbClr val="FFFFFF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Forbidden</a:t>
            </a:r>
          </a:p>
        </p:txBody>
      </p:sp>
      <p:sp>
        <p:nvSpPr>
          <p:cNvPr id="590" name="Rectangle 8"/>
          <p:cNvSpPr/>
          <p:nvPr/>
        </p:nvSpPr>
        <p:spPr>
          <a:xfrm>
            <a:off x="771525" y="4818062"/>
            <a:ext cx="4124325" cy="12701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591" name="t"/>
          <p:cNvSpPr txBox="1"/>
          <p:nvPr/>
        </p:nvSpPr>
        <p:spPr>
          <a:xfrm>
            <a:off x="771525" y="4953000"/>
            <a:ext cx="4829175" cy="3524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15000"/>
              </a:lnSpc>
              <a:defRPr sz="1700">
                <a:solidFill>
                  <a:srgbClr val="FFFFFF">
                    <a:alpha val="64000"/>
                  </a:srgbClr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No figure a tool did not return</a:t>
            </a:r>
          </a:p>
        </p:txBody>
      </p:sp>
      <p:sp>
        <p:nvSpPr>
          <p:cNvPr id="592" name="Rectangle 10"/>
          <p:cNvSpPr/>
          <p:nvPr/>
        </p:nvSpPr>
        <p:spPr>
          <a:xfrm>
            <a:off x="771525" y="5380037"/>
            <a:ext cx="4124325" cy="12701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593" name="Rectangle 12"/>
          <p:cNvSpPr/>
          <p:nvPr/>
        </p:nvSpPr>
        <p:spPr>
          <a:xfrm>
            <a:off x="771525" y="5942012"/>
            <a:ext cx="4124325" cy="12701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594" name="t"/>
          <p:cNvSpPr txBox="1"/>
          <p:nvPr/>
        </p:nvSpPr>
        <p:spPr>
          <a:xfrm>
            <a:off x="771525" y="5481637"/>
            <a:ext cx="4829175" cy="3524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15000"/>
              </a:lnSpc>
              <a:defRPr sz="1700">
                <a:solidFill>
                  <a:srgbClr val="FFFFFF">
                    <a:alpha val="64000"/>
                  </a:srgbClr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No financial advice, however pressed</a:t>
            </a:r>
          </a:p>
        </p:txBody>
      </p:sp>
      <p:sp>
        <p:nvSpPr>
          <p:cNvPr id="595" name="Rectangle 14"/>
          <p:cNvSpPr/>
          <p:nvPr/>
        </p:nvSpPr>
        <p:spPr>
          <a:xfrm>
            <a:off x="771525" y="6503987"/>
            <a:ext cx="4124325" cy="12701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596" name="t"/>
          <p:cNvSpPr txBox="1"/>
          <p:nvPr/>
        </p:nvSpPr>
        <p:spPr>
          <a:xfrm>
            <a:off x="771525" y="6009481"/>
            <a:ext cx="4829175" cy="3524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15000"/>
              </a:lnSpc>
              <a:defRPr sz="1700">
                <a:solidFill>
                  <a:srgbClr val="FFFFFF">
                    <a:alpha val="64000"/>
                  </a:srgbClr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Anger answered, never matched</a:t>
            </a:r>
          </a:p>
        </p:txBody>
      </p:sp>
      <p:sp>
        <p:nvSpPr>
          <p:cNvPr id="597" name="t"/>
          <p:cNvSpPr txBox="1"/>
          <p:nvPr/>
        </p:nvSpPr>
        <p:spPr>
          <a:xfrm>
            <a:off x="771525" y="6619875"/>
            <a:ext cx="4829175" cy="3524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15000"/>
              </a:lnSpc>
              <a:defRPr sz="1700">
                <a:solidFill>
                  <a:srgbClr val="FFFFFF">
                    <a:alpha val="64000"/>
                  </a:srgbClr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English only, and the decline is the turn</a:t>
            </a:r>
          </a:p>
        </p:txBody>
      </p:sp>
      <p:sp>
        <p:nvSpPr>
          <p:cNvPr id="598" name="Rounded Rectangle 18"/>
          <p:cNvSpPr/>
          <p:nvPr/>
        </p:nvSpPr>
        <p:spPr>
          <a:xfrm>
            <a:off x="6381750" y="3619500"/>
            <a:ext cx="5534025" cy="4191000"/>
          </a:xfrm>
          <a:prstGeom prst="roundRect">
            <a:avLst>
              <a:gd name="adj" fmla="val 2727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18000"/>
              </a:srgbClr>
            </a:solidFill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599" name="t"/>
          <p:cNvSpPr txBox="1"/>
          <p:nvPr/>
        </p:nvSpPr>
        <p:spPr>
          <a:xfrm>
            <a:off x="6734175" y="3914775"/>
            <a:ext cx="4829175" cy="323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06786"/>
              </a:lnSpc>
              <a:defRPr sz="1700">
                <a:solidFill>
                  <a:srgbClr val="FFFFFF">
                    <a:alpha val="42000"/>
                  </a:srgbClr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Code</a:t>
            </a:r>
          </a:p>
        </p:txBody>
      </p:sp>
      <p:sp>
        <p:nvSpPr>
          <p:cNvPr id="600" name="t"/>
          <p:cNvSpPr txBox="1"/>
          <p:nvPr/>
        </p:nvSpPr>
        <p:spPr>
          <a:xfrm>
            <a:off x="6734175" y="4314825"/>
            <a:ext cx="4829175" cy="457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85500"/>
              </a:lnSpc>
              <a:defRPr sz="2600">
                <a:solidFill>
                  <a:srgbClr val="FFFFFF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What gets enforced</a:t>
            </a:r>
          </a:p>
        </p:txBody>
      </p:sp>
      <p:sp>
        <p:nvSpPr>
          <p:cNvPr id="601" name="Rectangle 21"/>
          <p:cNvSpPr/>
          <p:nvPr/>
        </p:nvSpPr>
        <p:spPr>
          <a:xfrm>
            <a:off x="6734175" y="4818062"/>
            <a:ext cx="4124325" cy="12701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602" name="t"/>
          <p:cNvSpPr txBox="1"/>
          <p:nvPr/>
        </p:nvSpPr>
        <p:spPr>
          <a:xfrm>
            <a:off x="6734175" y="4953000"/>
            <a:ext cx="4829175" cy="3524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15000"/>
              </a:lnSpc>
              <a:defRPr sz="1700">
                <a:solidFill>
                  <a:srgbClr val="FFFFFF">
                    <a:alpha val="64000"/>
                  </a:srgbClr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The level each tool requires</a:t>
            </a:r>
          </a:p>
        </p:txBody>
      </p:sp>
      <p:sp>
        <p:nvSpPr>
          <p:cNvPr id="603" name="Rectangle 23"/>
          <p:cNvSpPr/>
          <p:nvPr/>
        </p:nvSpPr>
        <p:spPr>
          <a:xfrm>
            <a:off x="6734175" y="5380037"/>
            <a:ext cx="4124325" cy="12701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604" name="t"/>
          <p:cNvSpPr txBox="1"/>
          <p:nvPr/>
        </p:nvSpPr>
        <p:spPr>
          <a:xfrm>
            <a:off x="6734175" y="5514975"/>
            <a:ext cx="4829175" cy="3524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15000"/>
              </a:lnSpc>
              <a:defRPr sz="1700">
                <a:solidFill>
                  <a:srgbClr val="FFFFFF">
                    <a:alpha val="64000"/>
                  </a:srgbClr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Attempt bounds, and what exhausted means</a:t>
            </a:r>
          </a:p>
        </p:txBody>
      </p:sp>
      <p:sp>
        <p:nvSpPr>
          <p:cNvPr id="605" name="Rectangle 25"/>
          <p:cNvSpPr/>
          <p:nvPr/>
        </p:nvSpPr>
        <p:spPr>
          <a:xfrm>
            <a:off x="6734175" y="5942012"/>
            <a:ext cx="4124325" cy="12701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606" name="t"/>
          <p:cNvSpPr txBox="1"/>
          <p:nvPr/>
        </p:nvSpPr>
        <p:spPr>
          <a:xfrm>
            <a:off x="6734175" y="6076950"/>
            <a:ext cx="4829175" cy="3524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15000"/>
              </a:lnSpc>
              <a:defRPr sz="1700">
                <a:solidFill>
                  <a:srgbClr val="FFFFFF">
                    <a:alpha val="64000"/>
                  </a:srgbClr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One account — the verified one</a:t>
            </a:r>
          </a:p>
        </p:txBody>
      </p:sp>
      <p:sp>
        <p:nvSpPr>
          <p:cNvPr id="607" name="Rectangle 27"/>
          <p:cNvSpPr/>
          <p:nvPr/>
        </p:nvSpPr>
        <p:spPr>
          <a:xfrm>
            <a:off x="6734175" y="6503987"/>
            <a:ext cx="4124325" cy="12701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608" name="t"/>
          <p:cNvSpPr txBox="1"/>
          <p:nvPr/>
        </p:nvSpPr>
        <p:spPr>
          <a:xfrm>
            <a:off x="6734175" y="6638925"/>
            <a:ext cx="4829175" cy="3524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15000"/>
              </a:lnSpc>
              <a:defRPr sz="1700">
                <a:solidFill>
                  <a:srgbClr val="FFFFFF">
                    <a:alpha val="64000"/>
                  </a:srgbClr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Every spoken figure composed here</a:t>
            </a:r>
          </a:p>
        </p:txBody>
      </p:sp>
      <p:sp>
        <p:nvSpPr>
          <p:cNvPr id="609" name="Rectangle 29"/>
          <p:cNvSpPr/>
          <p:nvPr/>
        </p:nvSpPr>
        <p:spPr>
          <a:xfrm>
            <a:off x="6734175" y="7065962"/>
            <a:ext cx="4124325" cy="12701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610" name="t"/>
          <p:cNvSpPr txBox="1"/>
          <p:nvPr/>
        </p:nvSpPr>
        <p:spPr>
          <a:xfrm>
            <a:off x="6734175" y="7200900"/>
            <a:ext cx="4829175" cy="3524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15000"/>
              </a:lnSpc>
              <a:defRPr sz="1700">
                <a:solidFill>
                  <a:srgbClr val="FFFFFF">
                    <a:alpha val="64000"/>
                  </a:srgbClr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The tag attached after the action</a:t>
            </a:r>
          </a:p>
        </p:txBody>
      </p:sp>
      <p:sp>
        <p:nvSpPr>
          <p:cNvPr id="611" name="Rounded Rectangle 31"/>
          <p:cNvSpPr/>
          <p:nvPr/>
        </p:nvSpPr>
        <p:spPr>
          <a:xfrm>
            <a:off x="12344400" y="3619500"/>
            <a:ext cx="5534025" cy="4191000"/>
          </a:xfrm>
          <a:prstGeom prst="roundRect">
            <a:avLst>
              <a:gd name="adj" fmla="val 2727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18000"/>
              </a:srgbClr>
            </a:solidFill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612" name="t"/>
          <p:cNvSpPr txBox="1"/>
          <p:nvPr/>
        </p:nvSpPr>
        <p:spPr>
          <a:xfrm>
            <a:off x="12696825" y="3914775"/>
            <a:ext cx="4829175" cy="323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06786"/>
              </a:lnSpc>
              <a:defRPr sz="1700">
                <a:solidFill>
                  <a:srgbClr val="FFFFFF">
                    <a:alpha val="42000"/>
                  </a:srgbClr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Channel</a:t>
            </a:r>
          </a:p>
        </p:txBody>
      </p:sp>
      <p:sp>
        <p:nvSpPr>
          <p:cNvPr id="613" name="t"/>
          <p:cNvSpPr txBox="1"/>
          <p:nvPr/>
        </p:nvSpPr>
        <p:spPr>
          <a:xfrm>
            <a:off x="12696825" y="4314825"/>
            <a:ext cx="4829175" cy="457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85500"/>
              </a:lnSpc>
              <a:defRPr sz="2600">
                <a:solidFill>
                  <a:srgbClr val="FFFFFF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What leaves the call</a:t>
            </a:r>
          </a:p>
        </p:txBody>
      </p:sp>
      <p:sp>
        <p:nvSpPr>
          <p:cNvPr id="614" name="Rectangle 34"/>
          <p:cNvSpPr/>
          <p:nvPr/>
        </p:nvSpPr>
        <p:spPr>
          <a:xfrm>
            <a:off x="12696825" y="4818062"/>
            <a:ext cx="4124325" cy="12701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615" name="t"/>
          <p:cNvSpPr txBox="1"/>
          <p:nvPr/>
        </p:nvSpPr>
        <p:spPr>
          <a:xfrm>
            <a:off x="12696825" y="4953000"/>
            <a:ext cx="4829175" cy="3524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15000"/>
              </a:lnSpc>
              <a:defRPr sz="1700">
                <a:solidFill>
                  <a:srgbClr val="FFFFFF">
                    <a:alpha val="64000"/>
                  </a:srgbClr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Voice inbound is the only leg</a:t>
            </a:r>
          </a:p>
        </p:txBody>
      </p:sp>
      <p:sp>
        <p:nvSpPr>
          <p:cNvPr id="616" name="Rectangle 36"/>
          <p:cNvSpPr/>
          <p:nvPr/>
        </p:nvSpPr>
        <p:spPr>
          <a:xfrm>
            <a:off x="12696825" y="5380037"/>
            <a:ext cx="4124325" cy="12701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617" name="t"/>
          <p:cNvSpPr txBox="1"/>
          <p:nvPr/>
        </p:nvSpPr>
        <p:spPr>
          <a:xfrm>
            <a:off x="12696825" y="5514975"/>
            <a:ext cx="4829175" cy="3524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15000"/>
              </a:lnSpc>
              <a:defRPr sz="1700">
                <a:solidFill>
                  <a:srgbClr val="FFFFFF">
                    <a:alpha val="64000"/>
                  </a:srgbClr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The verification code goes out, not said</a:t>
            </a:r>
          </a:p>
        </p:txBody>
      </p:sp>
      <p:sp>
        <p:nvSpPr>
          <p:cNvPr id="618" name="Rectangle 38"/>
          <p:cNvSpPr/>
          <p:nvPr/>
        </p:nvSpPr>
        <p:spPr>
          <a:xfrm>
            <a:off x="12696825" y="5942012"/>
            <a:ext cx="4124325" cy="12701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619" name="t"/>
          <p:cNvSpPr txBox="1"/>
          <p:nvPr/>
        </p:nvSpPr>
        <p:spPr>
          <a:xfrm>
            <a:off x="12696825" y="6053137"/>
            <a:ext cx="4829175" cy="3524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15000"/>
              </a:lnSpc>
              <a:defRPr sz="1700">
                <a:solidFill>
                  <a:srgbClr val="FFFFFF">
                    <a:alpha val="64000"/>
                  </a:srgbClr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No identifier reaches the model</a:t>
            </a:r>
          </a:p>
        </p:txBody>
      </p:sp>
      <p:sp>
        <p:nvSpPr>
          <p:cNvPr id="620" name="Rectangle 42"/>
          <p:cNvSpPr/>
          <p:nvPr/>
        </p:nvSpPr>
        <p:spPr>
          <a:xfrm>
            <a:off x="12696825" y="6503987"/>
            <a:ext cx="4124326" cy="12701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621" name="t"/>
          <p:cNvSpPr txBox="1"/>
          <p:nvPr/>
        </p:nvSpPr>
        <p:spPr>
          <a:xfrm>
            <a:off x="12696825" y="6638924"/>
            <a:ext cx="4829175" cy="3524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15000"/>
              </a:lnSpc>
              <a:defRPr sz="1700">
                <a:solidFill>
                  <a:srgbClr val="FFFFFF">
                    <a:alpha val="64000"/>
                  </a:srgbClr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A full card number never leaves a Function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="0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eyebrow"/>
          <p:cNvSpPr txBox="1"/>
          <p:nvPr/>
        </p:nvSpPr>
        <p:spPr>
          <a:xfrm>
            <a:off x="419100" y="342900"/>
            <a:ext cx="16344900" cy="3714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08000"/>
              </a:lnSpc>
              <a:defRPr sz="2000">
                <a:solidFill>
                  <a:srgbClr val="FFFFFF">
                    <a:alpha val="42000"/>
                  </a:srgbClr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Evidence</a:t>
            </a:r>
          </a:p>
        </p:txBody>
      </p:sp>
      <p:sp>
        <p:nvSpPr>
          <p:cNvPr id="624" name="h1"/>
          <p:cNvSpPr txBox="1"/>
          <p:nvPr/>
        </p:nvSpPr>
        <p:spPr>
          <a:xfrm>
            <a:off x="419100" y="790575"/>
            <a:ext cx="16344900" cy="5524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81930"/>
              </a:lnSpc>
              <a:defRPr sz="3200">
                <a:solidFill>
                  <a:srgbClr val="FFFFFF"/>
                </a:solidFill>
                <a:latin typeface="Inter ExtraLight"/>
                <a:ea typeface="Inter ExtraLight"/>
                <a:cs typeface="Inter ExtraLight"/>
                <a:sym typeface="Inter ExtraLight"/>
              </a:defRPr>
            </a:lvl1pPr>
          </a:lstStyle>
          <a:p>
            <a:pPr/>
            <a:r>
              <a:t>What is proven, and by what</a:t>
            </a:r>
          </a:p>
        </p:txBody>
      </p:sp>
      <p:sp>
        <p:nvSpPr>
          <p:cNvPr id="625" name="deck"/>
          <p:cNvSpPr txBox="1"/>
          <p:nvPr/>
        </p:nvSpPr>
        <p:spPr>
          <a:xfrm>
            <a:off x="419100" y="1390650"/>
            <a:ext cx="15297150" cy="7334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12153"/>
              </a:lnSpc>
              <a:defRPr sz="2000">
                <a:solidFill>
                  <a:srgbClr val="B5B5B7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Each kind of claim has one kind of evidence behind it, and they are not interchangeable. Where there is none yet, this deck says so.</a:t>
            </a:r>
          </a:p>
        </p:txBody>
      </p:sp>
      <p:pic>
        <p:nvPicPr>
          <p:cNvPr id="626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6725900" y="9620250"/>
            <a:ext cx="1143000" cy="285750"/>
          </a:xfrm>
          <a:prstGeom prst="rect">
            <a:avLst/>
          </a:prstGeom>
          <a:ln w="12700">
            <a:miter lim="400000"/>
          </a:ln>
        </p:spPr>
      </p:pic>
      <p:sp>
        <p:nvSpPr>
          <p:cNvPr id="627" name="Rounded Rectangle 5"/>
          <p:cNvSpPr/>
          <p:nvPr/>
        </p:nvSpPr>
        <p:spPr>
          <a:xfrm>
            <a:off x="419100" y="3143250"/>
            <a:ext cx="4162425" cy="4143375"/>
          </a:xfrm>
          <a:prstGeom prst="roundRect">
            <a:avLst>
              <a:gd name="adj" fmla="val 2759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18000"/>
              </a:srgbClr>
            </a:solidFill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628" name="t"/>
          <p:cNvSpPr txBox="1"/>
          <p:nvPr/>
        </p:nvSpPr>
        <p:spPr>
          <a:xfrm>
            <a:off x="752475" y="3438525"/>
            <a:ext cx="3495675" cy="323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06786"/>
              </a:lnSpc>
              <a:defRPr sz="1700">
                <a:solidFill>
                  <a:srgbClr val="FFFFFF">
                    <a:alpha val="42000"/>
                  </a:srgbClr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Unit test</a:t>
            </a:r>
          </a:p>
        </p:txBody>
      </p:sp>
      <p:sp>
        <p:nvSpPr>
          <p:cNvPr id="629" name="t"/>
          <p:cNvSpPr txBox="1"/>
          <p:nvPr/>
        </p:nvSpPr>
        <p:spPr>
          <a:xfrm>
            <a:off x="752475" y="3886200"/>
            <a:ext cx="3495675" cy="6286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74693"/>
              </a:lnSpc>
              <a:defRPr sz="3700">
                <a:solidFill>
                  <a:srgbClr val="FFFFFF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901</a:t>
            </a:r>
          </a:p>
        </p:txBody>
      </p:sp>
      <p:sp>
        <p:nvSpPr>
          <p:cNvPr id="630" name="t"/>
          <p:cNvSpPr txBox="1"/>
          <p:nvPr/>
        </p:nvSpPr>
        <p:spPr>
          <a:xfrm>
            <a:off x="752475" y="4629150"/>
            <a:ext cx="3495675" cy="3333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10893"/>
              </a:lnSpc>
              <a:defRPr sz="1700">
                <a:solidFill>
                  <a:srgbClr val="FFFFFF">
                    <a:alpha val="88000"/>
                  </a:srgbClr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tests, across thirty-one files</a:t>
            </a:r>
          </a:p>
        </p:txBody>
      </p:sp>
      <p:sp>
        <p:nvSpPr>
          <p:cNvPr id="631" name="t"/>
          <p:cNvSpPr txBox="1"/>
          <p:nvPr/>
        </p:nvSpPr>
        <p:spPr>
          <a:xfrm>
            <a:off x="752475" y="5334000"/>
            <a:ext cx="3495675" cy="12858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19107"/>
              </a:lnSpc>
              <a:defRPr sz="1700">
                <a:solidFill>
                  <a:srgbClr val="FFFFFF">
                    <a:alpha val="64000"/>
                  </a:srgbClr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Bounds, counters, refusals, customer scoping, idempotency — everything a mocked transcript cannot prove. Every tool has one.</a:t>
            </a:r>
          </a:p>
        </p:txBody>
      </p:sp>
      <p:sp>
        <p:nvSpPr>
          <p:cNvPr id="632" name="Rounded Rectangle 10"/>
          <p:cNvSpPr/>
          <p:nvPr/>
        </p:nvSpPr>
        <p:spPr>
          <a:xfrm>
            <a:off x="4848225" y="3143250"/>
            <a:ext cx="4162425" cy="4143375"/>
          </a:xfrm>
          <a:prstGeom prst="roundRect">
            <a:avLst>
              <a:gd name="adj" fmla="val 2759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18000"/>
              </a:srgbClr>
            </a:solidFill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633" name="t"/>
          <p:cNvSpPr txBox="1"/>
          <p:nvPr/>
        </p:nvSpPr>
        <p:spPr>
          <a:xfrm>
            <a:off x="5181600" y="3438525"/>
            <a:ext cx="3495675" cy="323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06786"/>
              </a:lnSpc>
              <a:defRPr sz="1700">
                <a:solidFill>
                  <a:srgbClr val="FFFFFF">
                    <a:alpha val="42000"/>
                  </a:srgbClr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Chat eval</a:t>
            </a:r>
          </a:p>
        </p:txBody>
      </p:sp>
      <p:sp>
        <p:nvSpPr>
          <p:cNvPr id="634" name="t"/>
          <p:cNvSpPr txBox="1"/>
          <p:nvPr/>
        </p:nvSpPr>
        <p:spPr>
          <a:xfrm>
            <a:off x="5181600" y="3886200"/>
            <a:ext cx="3495675" cy="6286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74693"/>
              </a:lnSpc>
              <a:defRPr sz="3700">
                <a:solidFill>
                  <a:srgbClr val="FFFFFF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42</a:t>
            </a:r>
          </a:p>
        </p:txBody>
      </p:sp>
      <p:sp>
        <p:nvSpPr>
          <p:cNvPr id="635" name="t"/>
          <p:cNvSpPr txBox="1"/>
          <p:nvPr/>
        </p:nvSpPr>
        <p:spPr>
          <a:xfrm>
            <a:off x="5181600" y="4629150"/>
            <a:ext cx="3495675" cy="3333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10893"/>
              </a:lnSpc>
              <a:defRPr sz="1700">
                <a:solidFill>
                  <a:srgbClr val="FFFFFF">
                    <a:alpha val="88000"/>
                  </a:srgbClr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scenarios, in five batches</a:t>
            </a:r>
          </a:p>
        </p:txBody>
      </p:sp>
      <p:sp>
        <p:nvSpPr>
          <p:cNvPr id="636" name="t"/>
          <p:cNvSpPr txBox="1"/>
          <p:nvPr/>
        </p:nvSpPr>
        <p:spPr>
          <a:xfrm>
            <a:off x="5181600" y="5334000"/>
            <a:ext cx="3495675" cy="15906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19107"/>
              </a:lnSpc>
              <a:defRPr sz="1700">
                <a:solidFill>
                  <a:srgbClr val="FFFFFF">
                    <a:alpha val="64000"/>
                  </a:srgbClr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What the agent says, which tools it calls, and in what order. The tool mocks are generated from the reply builders, so a mock cannot quietly drift.</a:t>
            </a:r>
          </a:p>
        </p:txBody>
      </p:sp>
      <p:sp>
        <p:nvSpPr>
          <p:cNvPr id="637" name="Rounded Rectangle 15"/>
          <p:cNvSpPr/>
          <p:nvPr/>
        </p:nvSpPr>
        <p:spPr>
          <a:xfrm>
            <a:off x="9277350" y="3143250"/>
            <a:ext cx="4162425" cy="4143375"/>
          </a:xfrm>
          <a:prstGeom prst="roundRect">
            <a:avLst>
              <a:gd name="adj" fmla="val 2759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18000"/>
              </a:srgbClr>
            </a:solidFill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638" name="t"/>
          <p:cNvSpPr txBox="1"/>
          <p:nvPr/>
        </p:nvSpPr>
        <p:spPr>
          <a:xfrm>
            <a:off x="9610725" y="3438525"/>
            <a:ext cx="3495675" cy="323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06786"/>
              </a:lnSpc>
              <a:defRPr sz="1700">
                <a:solidFill>
                  <a:srgbClr val="FFFFFF">
                    <a:alpha val="42000"/>
                  </a:srgbClr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Live call</a:t>
            </a:r>
          </a:p>
        </p:txBody>
      </p:sp>
      <p:sp>
        <p:nvSpPr>
          <p:cNvPr id="639" name="t"/>
          <p:cNvSpPr txBox="1"/>
          <p:nvPr/>
        </p:nvSpPr>
        <p:spPr>
          <a:xfrm>
            <a:off x="9610725" y="3886200"/>
            <a:ext cx="3495675" cy="6286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74693"/>
              </a:lnSpc>
              <a:defRPr sz="3700">
                <a:solidFill>
                  <a:srgbClr val="FFFFFF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640" name="t"/>
          <p:cNvSpPr txBox="1"/>
          <p:nvPr/>
        </p:nvSpPr>
        <p:spPr>
          <a:xfrm>
            <a:off x="9610725" y="4629150"/>
            <a:ext cx="3495675" cy="3333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10893"/>
              </a:lnSpc>
              <a:defRPr sz="1700">
                <a:solidFill>
                  <a:srgbClr val="FFFFFF">
                    <a:alpha val="88000"/>
                  </a:srgbClr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defects found in a single call</a:t>
            </a:r>
          </a:p>
        </p:txBody>
      </p:sp>
      <p:sp>
        <p:nvSpPr>
          <p:cNvPr id="641" name="t"/>
          <p:cNvSpPr txBox="1"/>
          <p:nvPr/>
        </p:nvSpPr>
        <p:spPr>
          <a:xfrm>
            <a:off x="9610725" y="5334000"/>
            <a:ext cx="3495675" cy="15906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19107"/>
              </a:lnSpc>
              <a:defRPr sz="1700">
                <a:solidFill>
                  <a:srgbClr val="FFFFFF">
                    <a:alpha val="64000"/>
                  </a:srgbClr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Pronunciation, turn-taking, and what a caller actually hears. Each was fixed where it lived, which for one of them was the Function that mints the reference.</a:t>
            </a:r>
          </a:p>
        </p:txBody>
      </p:sp>
      <p:sp>
        <p:nvSpPr>
          <p:cNvPr id="642" name="Rounded Rectangle 20"/>
          <p:cNvSpPr/>
          <p:nvPr/>
        </p:nvSpPr>
        <p:spPr>
          <a:xfrm>
            <a:off x="13706475" y="3143250"/>
            <a:ext cx="4162425" cy="4143375"/>
          </a:xfrm>
          <a:prstGeom prst="roundRect">
            <a:avLst>
              <a:gd name="adj" fmla="val 2759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18000"/>
              </a:srgbClr>
            </a:solidFill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643" name="t"/>
          <p:cNvSpPr txBox="1"/>
          <p:nvPr/>
        </p:nvSpPr>
        <p:spPr>
          <a:xfrm>
            <a:off x="14039850" y="3438525"/>
            <a:ext cx="3495675" cy="323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06786"/>
              </a:lnSpc>
              <a:defRPr sz="1700">
                <a:solidFill>
                  <a:srgbClr val="FFFFFF">
                    <a:alpha val="42000"/>
                  </a:srgbClr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Not yet proven</a:t>
            </a:r>
          </a:p>
        </p:txBody>
      </p:sp>
      <p:sp>
        <p:nvSpPr>
          <p:cNvPr id="644" name="t"/>
          <p:cNvSpPr txBox="1"/>
          <p:nvPr/>
        </p:nvSpPr>
        <p:spPr>
          <a:xfrm>
            <a:off x="14039850" y="3886200"/>
            <a:ext cx="3495675" cy="6286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74693"/>
              </a:lnSpc>
              <a:defRPr sz="3700">
                <a:solidFill>
                  <a:srgbClr val="FFFFFF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645" name="t"/>
          <p:cNvSpPr txBox="1"/>
          <p:nvPr/>
        </p:nvSpPr>
        <p:spPr>
          <a:xfrm>
            <a:off x="14039850" y="4629150"/>
            <a:ext cx="3495675" cy="3333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10893"/>
              </a:lnSpc>
              <a:defRPr sz="1700">
                <a:solidFill>
                  <a:srgbClr val="FFFFFF">
                    <a:alpha val="88000"/>
                  </a:srgbClr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orderings with no measurement</a:t>
            </a:r>
          </a:p>
        </p:txBody>
      </p:sp>
      <p:sp>
        <p:nvSpPr>
          <p:cNvPr id="646" name="t"/>
          <p:cNvSpPr txBox="1"/>
          <p:nvPr/>
        </p:nvSpPr>
        <p:spPr>
          <a:xfrm>
            <a:off x="14039850" y="5334000"/>
            <a:ext cx="3495675" cy="15906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19107"/>
              </a:lnSpc>
              <a:defRPr sz="1700">
                <a:solidFill>
                  <a:srgbClr val="FFFFFF">
                    <a:alpha val="64000"/>
                  </a:srgbClr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Soniox ahead of Deepgram, the voice order, and punctuation off. A batch result also reaches this repository only by being pasted in, so no pass rate is claimed.</a:t>
            </a:r>
          </a:p>
        </p:txBody>
      </p:sp>
      <p:sp>
        <p:nvSpPr>
          <p:cNvPr id="647" name="footnote"/>
          <p:cNvSpPr txBox="1"/>
          <p:nvPr/>
        </p:nvSpPr>
        <p:spPr>
          <a:xfrm>
            <a:off x="419100" y="8477250"/>
            <a:ext cx="17449800" cy="3619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19107"/>
              </a:lnSpc>
              <a:defRPr sz="1700">
                <a:solidFill>
                  <a:srgbClr val="FFFFFF">
                    <a:alpha val="42000"/>
                  </a:srgbClr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An eval that tries to prove a tool-internal limit through dialogue is the wrong test. Where that came up, the answer was a unit test and not a looser assertion.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eyebrow"/>
          <p:cNvSpPr txBox="1"/>
          <p:nvPr/>
        </p:nvSpPr>
        <p:spPr>
          <a:xfrm>
            <a:off x="419100" y="342900"/>
            <a:ext cx="16344900" cy="3714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08000"/>
              </a:lnSpc>
              <a:defRPr sz="2000">
                <a:solidFill>
                  <a:srgbClr val="FFFFFF">
                    <a:alpha val="42000"/>
                  </a:srgbClr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Live demo</a:t>
            </a:r>
          </a:p>
        </p:txBody>
      </p:sp>
      <p:sp>
        <p:nvSpPr>
          <p:cNvPr id="650" name="h1"/>
          <p:cNvSpPr txBox="1"/>
          <p:nvPr/>
        </p:nvSpPr>
        <p:spPr>
          <a:xfrm>
            <a:off x="419100" y="790575"/>
            <a:ext cx="16344900" cy="5524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81930"/>
              </a:lnSpc>
              <a:defRPr sz="3200">
                <a:solidFill>
                  <a:srgbClr val="FFFFFF"/>
                </a:solidFill>
                <a:latin typeface="Inter ExtraLight"/>
                <a:ea typeface="Inter ExtraLight"/>
                <a:cs typeface="Inter ExtraLight"/>
                <a:sym typeface="Inter ExtraLight"/>
              </a:defRPr>
            </a:lvl1pPr>
          </a:lstStyle>
          <a:p>
            <a:pPr/>
            <a:r>
              <a:t>Live demo</a:t>
            </a:r>
          </a:p>
        </p:txBody>
      </p:sp>
      <p:sp>
        <p:nvSpPr>
          <p:cNvPr id="651" name="deck"/>
          <p:cNvSpPr txBox="1"/>
          <p:nvPr/>
        </p:nvSpPr>
        <p:spPr>
          <a:xfrm>
            <a:off x="419100" y="1390650"/>
            <a:ext cx="14325600" cy="7334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12153"/>
              </a:lnSpc>
              <a:defRPr sz="2000">
                <a:solidFill>
                  <a:srgbClr val="B5B5B7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Let’s watch live how the agent handles with questions, limits asks, investment blocking and transaction disputes</a:t>
            </a:r>
          </a:p>
        </p:txBody>
      </p:sp>
      <p:pic>
        <p:nvPicPr>
          <p:cNvPr id="652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6725900" y="9620250"/>
            <a:ext cx="1143000" cy="285750"/>
          </a:xfrm>
          <a:prstGeom prst="rect">
            <a:avLst/>
          </a:prstGeom>
          <a:ln w="12700">
            <a:miter lim="400000"/>
          </a:ln>
        </p:spPr>
      </p:pic>
      <p:sp>
        <p:nvSpPr>
          <p:cNvPr id="653" name="Rectangle 5"/>
          <p:cNvSpPr/>
          <p:nvPr/>
        </p:nvSpPr>
        <p:spPr>
          <a:xfrm>
            <a:off x="419100" y="4475162"/>
            <a:ext cx="17449800" cy="12701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654" name="t"/>
          <p:cNvSpPr txBox="1"/>
          <p:nvPr/>
        </p:nvSpPr>
        <p:spPr>
          <a:xfrm>
            <a:off x="419100" y="4886325"/>
            <a:ext cx="1028700" cy="2952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74769"/>
              </a:lnSpc>
              <a:defRPr sz="1500">
                <a:solidFill>
                  <a:srgbClr val="4285F4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01</a:t>
            </a:r>
          </a:p>
        </p:txBody>
      </p:sp>
      <p:sp>
        <p:nvSpPr>
          <p:cNvPr id="655" name="t"/>
          <p:cNvSpPr txBox="1"/>
          <p:nvPr/>
        </p:nvSpPr>
        <p:spPr>
          <a:xfrm>
            <a:off x="1714500" y="4762500"/>
            <a:ext cx="5905500" cy="457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85500"/>
              </a:lnSpc>
              <a:defRPr sz="2600">
                <a:solidFill>
                  <a:srgbClr val="FFFFFF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A question, then their account</a:t>
            </a:r>
          </a:p>
        </p:txBody>
      </p:sp>
      <p:sp>
        <p:nvSpPr>
          <p:cNvPr id="656" name="t"/>
          <p:cNvSpPr txBox="1"/>
          <p:nvPr/>
        </p:nvSpPr>
        <p:spPr>
          <a:xfrm>
            <a:off x="7810500" y="4829175"/>
            <a:ext cx="10058400" cy="4000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16308"/>
              </a:lnSpc>
              <a:defRPr sz="2000">
                <a:solidFill>
                  <a:srgbClr val="FFFFFF">
                    <a:alpha val="64000"/>
                  </a:srgbClr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A policy answer needs nothing; the next question needs L1</a:t>
            </a:r>
          </a:p>
        </p:txBody>
      </p:sp>
      <p:sp>
        <p:nvSpPr>
          <p:cNvPr id="657" name="Rectangle 9"/>
          <p:cNvSpPr/>
          <p:nvPr/>
        </p:nvSpPr>
        <p:spPr>
          <a:xfrm>
            <a:off x="419100" y="5465762"/>
            <a:ext cx="17449800" cy="12701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658" name="t"/>
          <p:cNvSpPr txBox="1"/>
          <p:nvPr/>
        </p:nvSpPr>
        <p:spPr>
          <a:xfrm>
            <a:off x="419100" y="5876925"/>
            <a:ext cx="1028700" cy="2952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74769"/>
              </a:lnSpc>
              <a:defRPr sz="1500">
                <a:solidFill>
                  <a:srgbClr val="4285F4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659" name="t"/>
          <p:cNvSpPr txBox="1"/>
          <p:nvPr/>
        </p:nvSpPr>
        <p:spPr>
          <a:xfrm>
            <a:off x="1714500" y="5753100"/>
            <a:ext cx="5905500" cy="457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85500"/>
              </a:lnSpc>
              <a:defRPr sz="2600">
                <a:solidFill>
                  <a:srgbClr val="FFFFFF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More limit than they are approved for</a:t>
            </a:r>
          </a:p>
        </p:txBody>
      </p:sp>
      <p:sp>
        <p:nvSpPr>
          <p:cNvPr id="660" name="t"/>
          <p:cNvSpPr txBox="1"/>
          <p:nvPr/>
        </p:nvSpPr>
        <p:spPr>
          <a:xfrm>
            <a:off x="7810500" y="5819775"/>
            <a:ext cx="10058400" cy="4000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16308"/>
              </a:lnSpc>
              <a:defRPr sz="2000">
                <a:solidFill>
                  <a:srgbClr val="FFFFFF">
                    <a:alpha val="64000"/>
                  </a:srgbClr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Refused as asked, then priced against the investments they hold</a:t>
            </a:r>
          </a:p>
        </p:txBody>
      </p:sp>
      <p:sp>
        <p:nvSpPr>
          <p:cNvPr id="661" name="Rectangle 13"/>
          <p:cNvSpPr/>
          <p:nvPr/>
        </p:nvSpPr>
        <p:spPr>
          <a:xfrm>
            <a:off x="419100" y="6456362"/>
            <a:ext cx="17449800" cy="12701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662" name="t"/>
          <p:cNvSpPr txBox="1"/>
          <p:nvPr/>
        </p:nvSpPr>
        <p:spPr>
          <a:xfrm>
            <a:off x="419100" y="6867525"/>
            <a:ext cx="1028700" cy="2952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74769"/>
              </a:lnSpc>
              <a:defRPr sz="1500">
                <a:solidFill>
                  <a:srgbClr val="4285F4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03</a:t>
            </a:r>
          </a:p>
        </p:txBody>
      </p:sp>
      <p:sp>
        <p:nvSpPr>
          <p:cNvPr id="663" name="t"/>
          <p:cNvSpPr txBox="1"/>
          <p:nvPr/>
        </p:nvSpPr>
        <p:spPr>
          <a:xfrm>
            <a:off x="1714500" y="6743700"/>
            <a:ext cx="5905500" cy="457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85500"/>
              </a:lnSpc>
              <a:defRPr sz="2600">
                <a:solidFill>
                  <a:srgbClr val="FFFFFF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A charge they do not recognize</a:t>
            </a:r>
          </a:p>
        </p:txBody>
      </p:sp>
      <p:sp>
        <p:nvSpPr>
          <p:cNvPr id="664" name="t"/>
          <p:cNvSpPr txBox="1"/>
          <p:nvPr/>
        </p:nvSpPr>
        <p:spPr>
          <a:xfrm>
            <a:off x="7810500" y="6810375"/>
            <a:ext cx="10058400" cy="4000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16308"/>
              </a:lnSpc>
              <a:defRPr sz="2000">
                <a:solidFill>
                  <a:srgbClr val="FFFFFF">
                    <a:alpha val="64000"/>
                  </a:srgbClr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Read the charges, recommend the block, file the dispute, give the reference</a:t>
            </a:r>
          </a:p>
        </p:txBody>
      </p:sp>
      <p:sp>
        <p:nvSpPr>
          <p:cNvPr id="665" name="Rectangle 17"/>
          <p:cNvSpPr/>
          <p:nvPr/>
        </p:nvSpPr>
        <p:spPr>
          <a:xfrm>
            <a:off x="419100" y="7446962"/>
            <a:ext cx="17449800" cy="12701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666" name="t"/>
          <p:cNvSpPr txBox="1"/>
          <p:nvPr/>
        </p:nvSpPr>
        <p:spPr>
          <a:xfrm>
            <a:off x="419100" y="7858125"/>
            <a:ext cx="1028700" cy="2952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74769"/>
              </a:lnSpc>
              <a:defRPr sz="1500">
                <a:solidFill>
                  <a:srgbClr val="4285F4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04</a:t>
            </a:r>
          </a:p>
        </p:txBody>
      </p:sp>
      <p:sp>
        <p:nvSpPr>
          <p:cNvPr id="667" name="t"/>
          <p:cNvSpPr txBox="1"/>
          <p:nvPr/>
        </p:nvSpPr>
        <p:spPr>
          <a:xfrm>
            <a:off x="1714500" y="7734300"/>
            <a:ext cx="5905500" cy="457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85500"/>
              </a:lnSpc>
              <a:defRPr sz="2600">
                <a:solidFill>
                  <a:srgbClr val="FFFFFF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A card that is already blocked</a:t>
            </a:r>
          </a:p>
        </p:txBody>
      </p:sp>
      <p:sp>
        <p:nvSpPr>
          <p:cNvPr id="668" name="t"/>
          <p:cNvSpPr txBox="1"/>
          <p:nvPr/>
        </p:nvSpPr>
        <p:spPr>
          <a:xfrm>
            <a:off x="7810500" y="7800975"/>
            <a:ext cx="10058400" cy="4000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16308"/>
              </a:lnSpc>
              <a:defRPr sz="2000">
                <a:solidFill>
                  <a:srgbClr val="FFFFFF">
                    <a:alpha val="64000"/>
                  </a:srgbClr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Why it is blocked decides what is offered, and a stolen card stays blocked</a:t>
            </a:r>
          </a:p>
        </p:txBody>
      </p:sp>
      <p:sp>
        <p:nvSpPr>
          <p:cNvPr id="669" name="Rectangle 21"/>
          <p:cNvSpPr/>
          <p:nvPr/>
        </p:nvSpPr>
        <p:spPr>
          <a:xfrm>
            <a:off x="419100" y="8437562"/>
            <a:ext cx="17449800" cy="12701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670" name="t"/>
          <p:cNvSpPr txBox="1"/>
          <p:nvPr/>
        </p:nvSpPr>
        <p:spPr>
          <a:xfrm>
            <a:off x="419100" y="8848725"/>
            <a:ext cx="1028700" cy="2952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74769"/>
              </a:lnSpc>
              <a:defRPr sz="1500">
                <a:solidFill>
                  <a:srgbClr val="4285F4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05</a:t>
            </a:r>
          </a:p>
        </p:txBody>
      </p:sp>
      <p:sp>
        <p:nvSpPr>
          <p:cNvPr id="671" name="t"/>
          <p:cNvSpPr txBox="1"/>
          <p:nvPr/>
        </p:nvSpPr>
        <p:spPr>
          <a:xfrm>
            <a:off x="1714500" y="8724900"/>
            <a:ext cx="5905500" cy="457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85500"/>
              </a:lnSpc>
              <a:defRPr sz="2600">
                <a:solidFill>
                  <a:srgbClr val="FFFFFF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Pressure that changes nothing</a:t>
            </a:r>
          </a:p>
        </p:txBody>
      </p:sp>
      <p:sp>
        <p:nvSpPr>
          <p:cNvPr id="672" name="t"/>
          <p:cNvSpPr txBox="1"/>
          <p:nvPr/>
        </p:nvSpPr>
        <p:spPr>
          <a:xfrm>
            <a:off x="7810500" y="8791575"/>
            <a:ext cx="10058400" cy="4000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16308"/>
              </a:lnSpc>
              <a:defRPr sz="2000">
                <a:solidFill>
                  <a:srgbClr val="FFFFFF">
                    <a:alpha val="64000"/>
                  </a:srgbClr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A title, a relative, a threat to sue: the same checks, and no softer answer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4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  <a:ln w="12700">
            <a:miter lim="400000"/>
          </a:ln>
        </p:spPr>
      </p:pic>
      <p:sp>
        <p:nvSpPr>
          <p:cNvPr id="675" name="t"/>
          <p:cNvSpPr txBox="1"/>
          <p:nvPr/>
        </p:nvSpPr>
        <p:spPr>
          <a:xfrm>
            <a:off x="419100" y="7305675"/>
            <a:ext cx="15716250" cy="3714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08000"/>
              </a:lnSpc>
              <a:defRPr sz="2000">
                <a:solidFill>
                  <a:srgbClr val="FFFFFF">
                    <a:alpha val="64000"/>
                  </a:srgbClr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Royal Finance  ↗</a:t>
            </a:r>
          </a:p>
        </p:txBody>
      </p:sp>
      <p:sp>
        <p:nvSpPr>
          <p:cNvPr id="676" name="t"/>
          <p:cNvSpPr txBox="1"/>
          <p:nvPr/>
        </p:nvSpPr>
        <p:spPr>
          <a:xfrm>
            <a:off x="419100" y="7848600"/>
            <a:ext cx="15716250" cy="1466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84236"/>
              </a:lnSpc>
              <a:defRPr sz="9100">
                <a:solidFill>
                  <a:srgbClr val="FFFFFF"/>
                </a:solidFill>
                <a:latin typeface="Inter ExtraLight"/>
                <a:ea typeface="Inter ExtraLight"/>
                <a:cs typeface="Inter ExtraLight"/>
                <a:sym typeface="Inter ExtraLight"/>
              </a:defRPr>
            </a:lvl1pPr>
          </a:lstStyle>
          <a:p>
            <a:pPr/>
            <a:r>
              <a:t>Appendix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eyebrow"/>
          <p:cNvSpPr txBox="1"/>
          <p:nvPr/>
        </p:nvSpPr>
        <p:spPr>
          <a:xfrm>
            <a:off x="419100" y="342900"/>
            <a:ext cx="16344900" cy="3714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08000"/>
              </a:lnSpc>
              <a:defRPr sz="2000">
                <a:solidFill>
                  <a:srgbClr val="FFFFFF">
                    <a:alpha val="42000"/>
                  </a:srgbClr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Trade-offs</a:t>
            </a:r>
          </a:p>
        </p:txBody>
      </p:sp>
      <p:sp>
        <p:nvSpPr>
          <p:cNvPr id="679" name="h1"/>
          <p:cNvSpPr txBox="1"/>
          <p:nvPr/>
        </p:nvSpPr>
        <p:spPr>
          <a:xfrm>
            <a:off x="419100" y="790575"/>
            <a:ext cx="16344900" cy="5524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81930"/>
              </a:lnSpc>
              <a:defRPr sz="3200">
                <a:solidFill>
                  <a:srgbClr val="FFFFFF"/>
                </a:solidFill>
                <a:latin typeface="Inter ExtraLight"/>
                <a:ea typeface="Inter ExtraLight"/>
                <a:cs typeface="Inter ExtraLight"/>
                <a:sym typeface="Inter ExtraLight"/>
              </a:defRPr>
            </a:lvl1pPr>
          </a:lstStyle>
          <a:p>
            <a:pPr/>
            <a:r>
              <a:t>Trade-offs, and what I would do differently</a:t>
            </a:r>
          </a:p>
        </p:txBody>
      </p:sp>
      <p:sp>
        <p:nvSpPr>
          <p:cNvPr id="680" name="deck"/>
          <p:cNvSpPr txBox="1"/>
          <p:nvPr/>
        </p:nvSpPr>
        <p:spPr>
          <a:xfrm>
            <a:off x="419100" y="1390650"/>
            <a:ext cx="15297150" cy="3905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12153"/>
              </a:lnSpc>
              <a:defRPr sz="2000">
                <a:solidFill>
                  <a:srgbClr val="B5B5B7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Each of these is a decision with a cost attached, and a next step that would close it.</a:t>
            </a:r>
          </a:p>
        </p:txBody>
      </p:sp>
      <p:pic>
        <p:nvPicPr>
          <p:cNvPr id="681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6725900" y="9620250"/>
            <a:ext cx="1143000" cy="285750"/>
          </a:xfrm>
          <a:prstGeom prst="rect">
            <a:avLst/>
          </a:prstGeom>
          <a:ln w="12700">
            <a:miter lim="400000"/>
          </a:ln>
        </p:spPr>
      </p:pic>
      <p:sp>
        <p:nvSpPr>
          <p:cNvPr id="682" name="Rounded Rectangle 5"/>
          <p:cNvSpPr/>
          <p:nvPr/>
        </p:nvSpPr>
        <p:spPr>
          <a:xfrm>
            <a:off x="419100" y="2857500"/>
            <a:ext cx="5638800" cy="2790825"/>
          </a:xfrm>
          <a:prstGeom prst="roundRect">
            <a:avLst>
              <a:gd name="adj" fmla="val 4096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18000"/>
              </a:srgbClr>
            </a:solidFill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683" name="t"/>
          <p:cNvSpPr txBox="1"/>
          <p:nvPr/>
        </p:nvSpPr>
        <p:spPr>
          <a:xfrm>
            <a:off x="752475" y="3152775"/>
            <a:ext cx="4972050" cy="2571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73928"/>
              </a:lnSpc>
              <a:defRPr sz="1300">
                <a:solidFill>
                  <a:srgbClr val="4285F4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01</a:t>
            </a:r>
          </a:p>
        </p:txBody>
      </p:sp>
      <p:sp>
        <p:nvSpPr>
          <p:cNvPr id="684" name="t"/>
          <p:cNvSpPr txBox="1"/>
          <p:nvPr/>
        </p:nvSpPr>
        <p:spPr>
          <a:xfrm>
            <a:off x="752475" y="3524250"/>
            <a:ext cx="4972050" cy="3714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03846"/>
              </a:lnSpc>
              <a:defRPr sz="2000">
                <a:solidFill>
                  <a:srgbClr val="FFFFFF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Start with the evals</a:t>
            </a:r>
          </a:p>
        </p:txBody>
      </p:sp>
      <p:sp>
        <p:nvSpPr>
          <p:cNvPr id="685" name="t"/>
          <p:cNvSpPr txBox="1"/>
          <p:nvPr/>
        </p:nvSpPr>
        <p:spPr>
          <a:xfrm>
            <a:off x="752475" y="4048125"/>
            <a:ext cx="4972050" cy="12858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19107"/>
              </a:lnSpc>
              <a:defRPr sz="1700">
                <a:solidFill>
                  <a:srgbClr val="FFFFFF">
                    <a:alpha val="64000"/>
                  </a:srgbClr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To start the development process fast, I started building functionalities without thinking about the evals first. TDD would’ve helped me save time at the end of the day.</a:t>
            </a:r>
          </a:p>
        </p:txBody>
      </p:sp>
      <p:sp>
        <p:nvSpPr>
          <p:cNvPr id="686" name="Rounded Rectangle 9"/>
          <p:cNvSpPr/>
          <p:nvPr/>
        </p:nvSpPr>
        <p:spPr>
          <a:xfrm>
            <a:off x="6324600" y="2857500"/>
            <a:ext cx="5638800" cy="2790825"/>
          </a:xfrm>
          <a:prstGeom prst="roundRect">
            <a:avLst>
              <a:gd name="adj" fmla="val 4096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18000"/>
              </a:srgbClr>
            </a:solidFill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687" name="t"/>
          <p:cNvSpPr txBox="1"/>
          <p:nvPr/>
        </p:nvSpPr>
        <p:spPr>
          <a:xfrm>
            <a:off x="6657975" y="3152775"/>
            <a:ext cx="4972050" cy="2571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73928"/>
              </a:lnSpc>
              <a:defRPr sz="1300">
                <a:solidFill>
                  <a:srgbClr val="4285F4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688" name="t"/>
          <p:cNvSpPr txBox="1"/>
          <p:nvPr/>
        </p:nvSpPr>
        <p:spPr>
          <a:xfrm>
            <a:off x="6657975" y="3524250"/>
            <a:ext cx="4972050" cy="685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03846"/>
              </a:lnSpc>
              <a:defRPr sz="2000">
                <a:solidFill>
                  <a:srgbClr val="FFFFFF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The voice stack was wrongly chosen at first</a:t>
            </a:r>
          </a:p>
        </p:txBody>
      </p:sp>
      <p:sp>
        <p:nvSpPr>
          <p:cNvPr id="689" name="t"/>
          <p:cNvSpPr txBox="1"/>
          <p:nvPr/>
        </p:nvSpPr>
        <p:spPr>
          <a:xfrm>
            <a:off x="6657975" y="4362450"/>
            <a:ext cx="4972050" cy="12858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19107"/>
              </a:lnSpc>
              <a:defRPr sz="1700">
                <a:solidFill>
                  <a:srgbClr val="FFFFFF">
                    <a:alpha val="64000"/>
                  </a:srgbClr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All the development and evaluation of the agent was done by using Cartesian voice provider. I was only able to test one other voice configuration, so Cartesian remains as a fallback.</a:t>
            </a:r>
          </a:p>
        </p:txBody>
      </p:sp>
      <p:sp>
        <p:nvSpPr>
          <p:cNvPr id="690" name="Rounded Rectangle 13"/>
          <p:cNvSpPr/>
          <p:nvPr/>
        </p:nvSpPr>
        <p:spPr>
          <a:xfrm>
            <a:off x="12230100" y="2857500"/>
            <a:ext cx="5638800" cy="2790825"/>
          </a:xfrm>
          <a:prstGeom prst="roundRect">
            <a:avLst>
              <a:gd name="adj" fmla="val 4096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18000"/>
              </a:srgbClr>
            </a:solidFill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691" name="t"/>
          <p:cNvSpPr txBox="1"/>
          <p:nvPr/>
        </p:nvSpPr>
        <p:spPr>
          <a:xfrm>
            <a:off x="12563475" y="3152775"/>
            <a:ext cx="4972050" cy="2571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73928"/>
              </a:lnSpc>
              <a:defRPr sz="1300">
                <a:solidFill>
                  <a:srgbClr val="4285F4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03</a:t>
            </a:r>
          </a:p>
        </p:txBody>
      </p:sp>
      <p:sp>
        <p:nvSpPr>
          <p:cNvPr id="692" name="t"/>
          <p:cNvSpPr txBox="1"/>
          <p:nvPr/>
        </p:nvSpPr>
        <p:spPr>
          <a:xfrm>
            <a:off x="12563475" y="3524250"/>
            <a:ext cx="4972050" cy="3714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03846"/>
              </a:lnSpc>
              <a:defRPr sz="2000">
                <a:solidFill>
                  <a:srgbClr val="FFFFFF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No email integration</a:t>
            </a:r>
          </a:p>
        </p:txBody>
      </p:sp>
      <p:sp>
        <p:nvSpPr>
          <p:cNvPr id="693" name="t"/>
          <p:cNvSpPr txBox="1"/>
          <p:nvPr/>
        </p:nvSpPr>
        <p:spPr>
          <a:xfrm>
            <a:off x="12563475" y="4129087"/>
            <a:ext cx="4972050" cy="12858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19107"/>
              </a:lnSpc>
              <a:defRPr sz="1700">
                <a:solidFill>
                  <a:srgbClr val="FFFFFF">
                    <a:alpha val="64000"/>
                  </a:srgbClr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In order to facilitate the development process, no email integration was included, which could be very useful for when a customer increases the limit backed by investment.</a:t>
            </a:r>
          </a:p>
        </p:txBody>
      </p:sp>
      <p:sp>
        <p:nvSpPr>
          <p:cNvPr id="694" name="footnote"/>
          <p:cNvSpPr txBox="1"/>
          <p:nvPr/>
        </p:nvSpPr>
        <p:spPr>
          <a:xfrm>
            <a:off x="419100" y="8829675"/>
            <a:ext cx="17449800" cy="3619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19107"/>
              </a:lnSpc>
              <a:defRPr sz="1700">
                <a:solidFill>
                  <a:srgbClr val="FFFFFF">
                    <a:alpha val="42000"/>
                  </a:srgbClr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A gap that is written down is a plan. A gap that is not is a surprise on somebody's live call.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eyebrow"/>
          <p:cNvSpPr txBox="1"/>
          <p:nvPr/>
        </p:nvSpPr>
        <p:spPr>
          <a:xfrm>
            <a:off x="419100" y="342900"/>
            <a:ext cx="16344900" cy="3714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08000"/>
              </a:lnSpc>
              <a:defRPr sz="2000">
                <a:solidFill>
                  <a:srgbClr val="FFFFFF">
                    <a:alpha val="42000"/>
                  </a:srgbClr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Appendix</a:t>
            </a:r>
          </a:p>
        </p:txBody>
      </p:sp>
      <p:sp>
        <p:nvSpPr>
          <p:cNvPr id="697" name="h1"/>
          <p:cNvSpPr txBox="1"/>
          <p:nvPr/>
        </p:nvSpPr>
        <p:spPr>
          <a:xfrm>
            <a:off x="419100" y="790575"/>
            <a:ext cx="16344900" cy="5524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81930"/>
              </a:lnSpc>
              <a:defRPr sz="3200">
                <a:solidFill>
                  <a:srgbClr val="FFFFFF"/>
                </a:solidFill>
                <a:latin typeface="Inter ExtraLight"/>
                <a:ea typeface="Inter ExtraLight"/>
                <a:cs typeface="Inter ExtraLight"/>
                <a:sym typeface="Inter ExtraLight"/>
              </a:defRPr>
            </a:lvl1pPr>
          </a:lstStyle>
          <a:p>
            <a:pPr/>
            <a:r>
              <a:t>A1 — the ladder, and what a refusal carries</a:t>
            </a:r>
          </a:p>
        </p:txBody>
      </p:sp>
      <p:sp>
        <p:nvSpPr>
          <p:cNvPr id="698" name="deck"/>
          <p:cNvSpPr txBox="1"/>
          <p:nvPr/>
        </p:nvSpPr>
        <p:spPr>
          <a:xfrm>
            <a:off x="419100" y="1390650"/>
            <a:ext cx="15297150" cy="3905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12153"/>
              </a:lnSpc>
              <a:defRPr sz="2000">
                <a:solidFill>
                  <a:srgbClr val="B5B5B7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A tool refuses with the level it needs and the place to come back to. The skill that verifies decides nothing about the request.</a:t>
            </a:r>
          </a:p>
        </p:txBody>
      </p:sp>
      <p:pic>
        <p:nvPicPr>
          <p:cNvPr id="699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6725900" y="9620250"/>
            <a:ext cx="1143000" cy="285750"/>
          </a:xfrm>
          <a:prstGeom prst="rect">
            <a:avLst/>
          </a:prstGeom>
          <a:ln w="12700">
            <a:miter lim="400000"/>
          </a:ln>
        </p:spPr>
      </p:pic>
      <p:sp>
        <p:nvSpPr>
          <p:cNvPr id="700" name="Rounded Rectangle 5"/>
          <p:cNvSpPr/>
          <p:nvPr/>
        </p:nvSpPr>
        <p:spPr>
          <a:xfrm>
            <a:off x="419100" y="4276725"/>
            <a:ext cx="4381500" cy="2819400"/>
          </a:xfrm>
          <a:prstGeom prst="roundRect">
            <a:avLst>
              <a:gd name="adj" fmla="val 4054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18000"/>
              </a:srgbClr>
            </a:solidFill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701" name="Rounded Rectangle 6"/>
          <p:cNvSpPr/>
          <p:nvPr/>
        </p:nvSpPr>
        <p:spPr>
          <a:xfrm>
            <a:off x="752475" y="4572000"/>
            <a:ext cx="1200150" cy="314325"/>
          </a:xfrm>
          <a:prstGeom prst="roundRect">
            <a:avLst>
              <a:gd name="adj" fmla="val 50000"/>
            </a:avLst>
          </a:prstGeom>
          <a:ln w="12700">
            <a:solidFill>
              <a:srgbClr val="4285F4">
                <a:alpha val="26000"/>
              </a:srgbClr>
            </a:solidFill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702" name="pill"/>
          <p:cNvSpPr txBox="1"/>
          <p:nvPr/>
        </p:nvSpPr>
        <p:spPr>
          <a:xfrm>
            <a:off x="752475" y="4610100"/>
            <a:ext cx="1200150" cy="2190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 algn="ctr">
              <a:lnSpc>
                <a:spcPct val="74348"/>
              </a:lnSpc>
              <a:defRPr sz="1000">
                <a:solidFill>
                  <a:srgbClr val="4285F4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any gated tool</a:t>
            </a:r>
          </a:p>
        </p:txBody>
      </p:sp>
      <p:sp>
        <p:nvSpPr>
          <p:cNvPr id="703" name="t"/>
          <p:cNvSpPr txBox="1"/>
          <p:nvPr/>
        </p:nvSpPr>
        <p:spPr>
          <a:xfrm>
            <a:off x="752475" y="5095875"/>
            <a:ext cx="3714750" cy="3619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03846"/>
              </a:lnSpc>
              <a:defRPr sz="2000">
                <a:solidFill>
                  <a:srgbClr val="FFFFFF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gateOrRequest</a:t>
            </a:r>
          </a:p>
        </p:txBody>
      </p:sp>
      <p:sp>
        <p:nvSpPr>
          <p:cNvPr id="704" name="t"/>
          <p:cNvSpPr txBox="1"/>
          <p:nvPr/>
        </p:nvSpPr>
        <p:spPr>
          <a:xfrm>
            <a:off x="752475" y="5514975"/>
            <a:ext cx="3676650" cy="12858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19107"/>
              </a:lnSpc>
              <a:defRPr sz="1700">
                <a:solidFill>
                  <a:srgbClr val="FFFFFF">
                    <a:alpha val="64000"/>
                  </a:srgbClr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Records the level and the return point, and returns a refusal that states nothing at all about the account.</a:t>
            </a:r>
          </a:p>
        </p:txBody>
      </p:sp>
      <p:sp>
        <p:nvSpPr>
          <p:cNvPr id="705" name="Rounded Rectangle 10"/>
          <p:cNvSpPr/>
          <p:nvPr/>
        </p:nvSpPr>
        <p:spPr>
          <a:xfrm>
            <a:off x="5486400" y="4276725"/>
            <a:ext cx="4381500" cy="2819400"/>
          </a:xfrm>
          <a:prstGeom prst="roundRect">
            <a:avLst>
              <a:gd name="adj" fmla="val 4054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18000"/>
              </a:srgbClr>
            </a:solidFill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706" name="Rounded Rectangle 11"/>
          <p:cNvSpPr/>
          <p:nvPr/>
        </p:nvSpPr>
        <p:spPr>
          <a:xfrm>
            <a:off x="5819775" y="4572000"/>
            <a:ext cx="962025" cy="314325"/>
          </a:xfrm>
          <a:prstGeom prst="roundRect">
            <a:avLst>
              <a:gd name="adj" fmla="val 50000"/>
            </a:avLst>
          </a:prstGeom>
          <a:ln w="12700">
            <a:solidFill>
              <a:srgbClr val="FFFFFF">
                <a:alpha val="26000"/>
              </a:srgbClr>
            </a:solidFill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707" name="pill"/>
          <p:cNvSpPr txBox="1"/>
          <p:nvPr/>
        </p:nvSpPr>
        <p:spPr>
          <a:xfrm>
            <a:off x="5819775" y="4610100"/>
            <a:ext cx="962025" cy="2190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 algn="ctr">
              <a:lnSpc>
                <a:spcPct val="74348"/>
              </a:lnSpc>
              <a:defRPr sz="1000">
                <a:solidFill>
                  <a:srgbClr val="FFFFFF">
                    <a:alpha val="64000"/>
                  </a:srgbClr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the ladder</a:t>
            </a:r>
          </a:p>
        </p:txBody>
      </p:sp>
      <p:sp>
        <p:nvSpPr>
          <p:cNvPr id="708" name="t"/>
          <p:cNvSpPr txBox="1"/>
          <p:nvPr/>
        </p:nvSpPr>
        <p:spPr>
          <a:xfrm>
            <a:off x="5819775" y="5095875"/>
            <a:ext cx="3714750" cy="3619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03846"/>
              </a:lnSpc>
              <a:defRPr sz="2000">
                <a:solidFill>
                  <a:srgbClr val="FFFFFF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authenticate_client</a:t>
            </a:r>
          </a:p>
        </p:txBody>
      </p:sp>
      <p:sp>
        <p:nvSpPr>
          <p:cNvPr id="709" name="t"/>
          <p:cNvSpPr txBox="1"/>
          <p:nvPr/>
        </p:nvSpPr>
        <p:spPr>
          <a:xfrm>
            <a:off x="5819775" y="5514975"/>
            <a:ext cx="3676650" cy="12858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19107"/>
              </a:lnSpc>
              <a:defRPr sz="1700">
                <a:solidFill>
                  <a:srgbClr val="FFFFFF">
                    <a:alpha val="64000"/>
                  </a:srgbClr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Knows the level needed and where the call goes back to, so the prompt decides neither. Two rungs, and bounded attempts.</a:t>
            </a:r>
          </a:p>
        </p:txBody>
      </p:sp>
      <p:sp>
        <p:nvSpPr>
          <p:cNvPr id="710" name="arrow"/>
          <p:cNvSpPr txBox="1"/>
          <p:nvPr/>
        </p:nvSpPr>
        <p:spPr>
          <a:xfrm>
            <a:off x="4895850" y="4276725"/>
            <a:ext cx="495300" cy="2819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 anchor="ctr">
            <a:normAutofit fontScale="100000" lnSpcReduction="0"/>
          </a:bodyPr>
          <a:lstStyle>
            <a:lvl1pPr algn="ctr">
              <a:lnSpc>
                <a:spcPct val="82609"/>
              </a:lnSpc>
              <a:defRPr sz="2800">
                <a:solidFill>
                  <a:srgbClr val="FFFFFF">
                    <a:alpha val="42000"/>
                  </a:srgbClr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711" name="arrow"/>
          <p:cNvSpPr txBox="1"/>
          <p:nvPr/>
        </p:nvSpPr>
        <p:spPr>
          <a:xfrm>
            <a:off x="9658350" y="4276725"/>
            <a:ext cx="495300" cy="2819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 anchor="ctr">
            <a:normAutofit fontScale="100000" lnSpcReduction="0"/>
          </a:bodyPr>
          <a:lstStyle>
            <a:lvl1pPr algn="ctr">
              <a:lnSpc>
                <a:spcPct val="82609"/>
              </a:lnSpc>
              <a:defRPr sz="2800">
                <a:solidFill>
                  <a:srgbClr val="FFFFFF">
                    <a:alpha val="42000"/>
                  </a:srgbClr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712" name="Rounded Rectangle 17"/>
          <p:cNvSpPr/>
          <p:nvPr/>
        </p:nvSpPr>
        <p:spPr>
          <a:xfrm>
            <a:off x="10248900" y="3619500"/>
            <a:ext cx="7620000" cy="904875"/>
          </a:xfrm>
          <a:prstGeom prst="roundRect">
            <a:avLst>
              <a:gd name="adj" fmla="val 12632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18000"/>
              </a:srgbClr>
            </a:solidFill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713" name="Rounded Rectangle 18"/>
          <p:cNvSpPr/>
          <p:nvPr/>
        </p:nvSpPr>
        <p:spPr>
          <a:xfrm>
            <a:off x="10506075" y="3914775"/>
            <a:ext cx="1000125" cy="314325"/>
          </a:xfrm>
          <a:prstGeom prst="roundRect">
            <a:avLst>
              <a:gd name="adj" fmla="val 50000"/>
            </a:avLst>
          </a:prstGeom>
          <a:ln w="12700">
            <a:solidFill>
              <a:srgbClr val="4285F4">
                <a:alpha val="26000"/>
              </a:srgbClr>
            </a:solidFill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714" name="pill"/>
          <p:cNvSpPr txBox="1"/>
          <p:nvPr/>
        </p:nvSpPr>
        <p:spPr>
          <a:xfrm>
            <a:off x="10506075" y="3952875"/>
            <a:ext cx="1000125" cy="2190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 algn="ctr">
              <a:lnSpc>
                <a:spcPct val="74348"/>
              </a:lnSpc>
              <a:defRPr sz="1000">
                <a:solidFill>
                  <a:srgbClr val="4285F4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L1 reached</a:t>
            </a:r>
          </a:p>
        </p:txBody>
      </p:sp>
      <p:sp>
        <p:nvSpPr>
          <p:cNvPr id="715" name="t"/>
          <p:cNvSpPr txBox="1"/>
          <p:nvPr/>
        </p:nvSpPr>
        <p:spPr>
          <a:xfrm>
            <a:off x="12287250" y="3933825"/>
            <a:ext cx="2381250" cy="323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02679"/>
              </a:lnSpc>
              <a:defRPr sz="1700">
                <a:solidFill>
                  <a:srgbClr val="FFFFFF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The protocol is minted</a:t>
            </a:r>
          </a:p>
        </p:txBody>
      </p:sp>
      <p:sp>
        <p:nvSpPr>
          <p:cNvPr id="716" name="t"/>
          <p:cNvSpPr txBox="1"/>
          <p:nvPr/>
        </p:nvSpPr>
        <p:spPr>
          <a:xfrm>
            <a:off x="14820900" y="3819525"/>
            <a:ext cx="2800350" cy="5429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15652"/>
              </a:lnSpc>
              <a:defRPr sz="1400">
                <a:solidFill>
                  <a:srgbClr val="FFFFFF">
                    <a:alpha val="64000"/>
                  </a:srgbClr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Once, at the first rung, and kept in call state</a:t>
            </a:r>
          </a:p>
        </p:txBody>
      </p:sp>
      <p:sp>
        <p:nvSpPr>
          <p:cNvPr id="717" name="Rounded Rectangle 22"/>
          <p:cNvSpPr/>
          <p:nvPr/>
        </p:nvSpPr>
        <p:spPr>
          <a:xfrm>
            <a:off x="10248900" y="4686300"/>
            <a:ext cx="7620000" cy="904875"/>
          </a:xfrm>
          <a:prstGeom prst="roundRect">
            <a:avLst>
              <a:gd name="adj" fmla="val 12632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18000"/>
              </a:srgbClr>
            </a:solidFill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718" name="Rounded Rectangle 23"/>
          <p:cNvSpPr/>
          <p:nvPr/>
        </p:nvSpPr>
        <p:spPr>
          <a:xfrm>
            <a:off x="10506075" y="4981575"/>
            <a:ext cx="1028700" cy="314325"/>
          </a:xfrm>
          <a:prstGeom prst="roundRect">
            <a:avLst>
              <a:gd name="adj" fmla="val 50000"/>
            </a:avLst>
          </a:prstGeom>
          <a:ln w="12700">
            <a:solidFill>
              <a:srgbClr val="10B981">
                <a:alpha val="26000"/>
              </a:srgbClr>
            </a:solidFill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719" name="pill"/>
          <p:cNvSpPr txBox="1"/>
          <p:nvPr/>
        </p:nvSpPr>
        <p:spPr>
          <a:xfrm>
            <a:off x="10506075" y="5019675"/>
            <a:ext cx="1028700" cy="2190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 algn="ctr">
              <a:lnSpc>
                <a:spcPct val="74348"/>
              </a:lnSpc>
              <a:defRPr sz="1000">
                <a:solidFill>
                  <a:srgbClr val="10B98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L2 reached</a:t>
            </a:r>
          </a:p>
        </p:txBody>
      </p:sp>
      <p:sp>
        <p:nvSpPr>
          <p:cNvPr id="720" name="t"/>
          <p:cNvSpPr txBox="1"/>
          <p:nvPr/>
        </p:nvSpPr>
        <p:spPr>
          <a:xfrm>
            <a:off x="12287250" y="5000625"/>
            <a:ext cx="2381250" cy="323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02679"/>
              </a:lnSpc>
              <a:defRPr sz="1700">
                <a:solidFill>
                  <a:srgbClr val="FFFFFF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The return point runs</a:t>
            </a:r>
          </a:p>
        </p:txBody>
      </p:sp>
      <p:sp>
        <p:nvSpPr>
          <p:cNvPr id="721" name="t"/>
          <p:cNvSpPr txBox="1"/>
          <p:nvPr/>
        </p:nvSpPr>
        <p:spPr>
          <a:xfrm>
            <a:off x="14820900" y="4886325"/>
            <a:ext cx="2800350" cy="5429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15652"/>
              </a:lnSpc>
              <a:defRPr sz="1400">
                <a:solidFill>
                  <a:srgbClr val="FFFFFF">
                    <a:alpha val="64000"/>
                  </a:srgbClr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The original tool is called again, silently</a:t>
            </a:r>
          </a:p>
        </p:txBody>
      </p:sp>
      <p:sp>
        <p:nvSpPr>
          <p:cNvPr id="722" name="Rounded Rectangle 27"/>
          <p:cNvSpPr/>
          <p:nvPr/>
        </p:nvSpPr>
        <p:spPr>
          <a:xfrm>
            <a:off x="10248900" y="5753100"/>
            <a:ext cx="7620000" cy="904875"/>
          </a:xfrm>
          <a:prstGeom prst="roundRect">
            <a:avLst>
              <a:gd name="adj" fmla="val 12632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18000"/>
              </a:srgbClr>
            </a:solidFill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723" name="Rounded Rectangle 28"/>
          <p:cNvSpPr/>
          <p:nvPr/>
        </p:nvSpPr>
        <p:spPr>
          <a:xfrm>
            <a:off x="10506075" y="6048375"/>
            <a:ext cx="904875" cy="314325"/>
          </a:xfrm>
          <a:prstGeom prst="roundRect">
            <a:avLst>
              <a:gd name="adj" fmla="val 50000"/>
            </a:avLst>
          </a:prstGeom>
          <a:ln w="12700">
            <a:solidFill>
              <a:srgbClr val="FFBB65">
                <a:alpha val="26000"/>
              </a:srgbClr>
            </a:solidFill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724" name="pill"/>
          <p:cNvSpPr txBox="1"/>
          <p:nvPr/>
        </p:nvSpPr>
        <p:spPr>
          <a:xfrm>
            <a:off x="10506075" y="6086475"/>
            <a:ext cx="904875" cy="2190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 algn="ctr">
              <a:lnSpc>
                <a:spcPct val="74348"/>
              </a:lnSpc>
              <a:defRPr sz="1000">
                <a:solidFill>
                  <a:srgbClr val="FFBB65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no match</a:t>
            </a:r>
          </a:p>
        </p:txBody>
      </p:sp>
      <p:sp>
        <p:nvSpPr>
          <p:cNvPr id="725" name="t"/>
          <p:cNvSpPr txBox="1"/>
          <p:nvPr/>
        </p:nvSpPr>
        <p:spPr>
          <a:xfrm>
            <a:off x="12287250" y="6067425"/>
            <a:ext cx="2381250" cy="323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02679"/>
              </a:lnSpc>
              <a:defRPr sz="1700">
                <a:solidFill>
                  <a:srgbClr val="FFFFFF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Ask again, plainly</a:t>
            </a:r>
          </a:p>
        </p:txBody>
      </p:sp>
      <p:sp>
        <p:nvSpPr>
          <p:cNvPr id="726" name="t"/>
          <p:cNvSpPr txBox="1"/>
          <p:nvPr/>
        </p:nvSpPr>
        <p:spPr>
          <a:xfrm>
            <a:off x="14820900" y="5953125"/>
            <a:ext cx="2800350" cy="5429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15652"/>
              </a:lnSpc>
              <a:defRPr sz="1400">
                <a:solidFill>
                  <a:srgbClr val="FFFFFF">
                    <a:alpha val="64000"/>
                  </a:srgbClr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Never say how many attempts are left</a:t>
            </a:r>
          </a:p>
        </p:txBody>
      </p:sp>
      <p:sp>
        <p:nvSpPr>
          <p:cNvPr id="727" name="Rounded Rectangle 32"/>
          <p:cNvSpPr/>
          <p:nvPr/>
        </p:nvSpPr>
        <p:spPr>
          <a:xfrm>
            <a:off x="10248900" y="6819900"/>
            <a:ext cx="7620000" cy="904875"/>
          </a:xfrm>
          <a:prstGeom prst="roundRect">
            <a:avLst>
              <a:gd name="adj" fmla="val 12632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18000"/>
              </a:srgbClr>
            </a:solidFill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728" name="Rounded Rectangle 33"/>
          <p:cNvSpPr/>
          <p:nvPr/>
        </p:nvSpPr>
        <p:spPr>
          <a:xfrm>
            <a:off x="10506075" y="7115175"/>
            <a:ext cx="981075" cy="314325"/>
          </a:xfrm>
          <a:prstGeom prst="roundRect">
            <a:avLst>
              <a:gd name="adj" fmla="val 50000"/>
            </a:avLst>
          </a:prstGeom>
          <a:ln w="12700">
            <a:solidFill>
              <a:srgbClr val="FF7A8C">
                <a:alpha val="26000"/>
              </a:srgbClr>
            </a:solidFill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729" name="pill"/>
          <p:cNvSpPr txBox="1"/>
          <p:nvPr/>
        </p:nvSpPr>
        <p:spPr>
          <a:xfrm>
            <a:off x="10506075" y="7153275"/>
            <a:ext cx="981075" cy="2190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 algn="ctr">
              <a:lnSpc>
                <a:spcPct val="74348"/>
              </a:lnSpc>
              <a:defRPr sz="1000">
                <a:solidFill>
                  <a:srgbClr val="FF7A8C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exhausted</a:t>
            </a:r>
          </a:p>
        </p:txBody>
      </p:sp>
      <p:sp>
        <p:nvSpPr>
          <p:cNvPr id="730" name="t"/>
          <p:cNvSpPr txBox="1"/>
          <p:nvPr/>
        </p:nvSpPr>
        <p:spPr>
          <a:xfrm>
            <a:off x="12287250" y="7134225"/>
            <a:ext cx="2381250" cy="323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02679"/>
              </a:lnSpc>
              <a:defRPr sz="1700">
                <a:solidFill>
                  <a:srgbClr val="FFFFFF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Stop asking</a:t>
            </a:r>
          </a:p>
        </p:txBody>
      </p:sp>
      <p:sp>
        <p:nvSpPr>
          <p:cNvPr id="731" name="t"/>
          <p:cNvSpPr txBox="1"/>
          <p:nvPr/>
        </p:nvSpPr>
        <p:spPr>
          <a:xfrm>
            <a:off x="14820900" y="7019925"/>
            <a:ext cx="2800350" cy="5429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15652"/>
              </a:lnSpc>
              <a:defRPr sz="1400">
                <a:solidFill>
                  <a:srgbClr val="FFFFFF">
                    <a:alpha val="64000"/>
                  </a:srgbClr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Offer what needs no verification, and nothing else</a:t>
            </a:r>
          </a:p>
        </p:txBody>
      </p:sp>
      <p:sp>
        <p:nvSpPr>
          <p:cNvPr id="732" name="footnote"/>
          <p:cNvSpPr txBox="1"/>
          <p:nvPr/>
        </p:nvSpPr>
        <p:spPr>
          <a:xfrm>
            <a:off x="419100" y="8477250"/>
            <a:ext cx="17449800" cy="6667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19107"/>
              </a:lnSpc>
              <a:defRPr sz="1700">
                <a:solidFill>
                  <a:srgbClr val="FFFFFF">
                    <a:alpha val="42000"/>
                  </a:srgbClr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The protocol is spoken as [READ RF412689] — one unbroken sequence, letters included, because on a live call the digits came through and the letters did not. It is minted with no digit repeating the one before it, because the voice layer says a repeated pair once.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eyebrow"/>
          <p:cNvSpPr txBox="1"/>
          <p:nvPr/>
        </p:nvSpPr>
        <p:spPr>
          <a:xfrm>
            <a:off x="419100" y="342900"/>
            <a:ext cx="16344900" cy="3714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08000"/>
              </a:lnSpc>
              <a:defRPr sz="2000">
                <a:solidFill>
                  <a:srgbClr val="FFFFFF">
                    <a:alpha val="42000"/>
                  </a:srgbClr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Appendix</a:t>
            </a:r>
          </a:p>
        </p:txBody>
      </p:sp>
      <p:sp>
        <p:nvSpPr>
          <p:cNvPr id="735" name="h1"/>
          <p:cNvSpPr txBox="1"/>
          <p:nvPr/>
        </p:nvSpPr>
        <p:spPr>
          <a:xfrm>
            <a:off x="419100" y="790575"/>
            <a:ext cx="16344900" cy="5524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81930"/>
              </a:lnSpc>
              <a:defRPr sz="3200">
                <a:solidFill>
                  <a:srgbClr val="FFFFFF"/>
                </a:solidFill>
                <a:latin typeface="Inter ExtraLight"/>
                <a:ea typeface="Inter ExtraLight"/>
                <a:cs typeface="Inter ExtraLight"/>
                <a:sym typeface="Inter ExtraLight"/>
              </a:defRPr>
            </a:lvl1pPr>
          </a:lstStyle>
          <a:p>
            <a:pPr/>
            <a:r>
              <a:t>A3 — the back office is an app over Functions</a:t>
            </a:r>
          </a:p>
        </p:txBody>
      </p:sp>
      <p:sp>
        <p:nvSpPr>
          <p:cNvPr id="736" name="deck"/>
          <p:cNvSpPr txBox="1"/>
          <p:nvPr/>
        </p:nvSpPr>
        <p:spPr>
          <a:xfrm>
            <a:off x="419100" y="1390650"/>
            <a:ext cx="15297150" cy="7334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12153"/>
              </a:lnSpc>
              <a:defRPr sz="2000">
                <a:solidFill>
                  <a:srgbClr val="B5B5B7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A Wonderful App gives an operator the queue, the risk behind each caller, and the metrics over everything that has happened so far.</a:t>
            </a:r>
          </a:p>
        </p:txBody>
      </p:sp>
      <p:pic>
        <p:nvPicPr>
          <p:cNvPr id="737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6725900" y="9620250"/>
            <a:ext cx="1143000" cy="285750"/>
          </a:xfrm>
          <a:prstGeom prst="rect">
            <a:avLst/>
          </a:prstGeom>
          <a:ln w="12700">
            <a:miter lim="400000"/>
          </a:ln>
        </p:spPr>
      </p:pic>
      <p:sp>
        <p:nvSpPr>
          <p:cNvPr id="738" name="Rounded Rectangle 5"/>
          <p:cNvSpPr/>
          <p:nvPr/>
        </p:nvSpPr>
        <p:spPr>
          <a:xfrm>
            <a:off x="419100" y="3619500"/>
            <a:ext cx="5534025" cy="3619500"/>
          </a:xfrm>
          <a:prstGeom prst="roundRect">
            <a:avLst>
              <a:gd name="adj" fmla="val 3158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18000"/>
              </a:srgbClr>
            </a:solidFill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739" name="t"/>
          <p:cNvSpPr txBox="1"/>
          <p:nvPr/>
        </p:nvSpPr>
        <p:spPr>
          <a:xfrm>
            <a:off x="771525" y="3914775"/>
            <a:ext cx="4829175" cy="323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06786"/>
              </a:lnSpc>
              <a:defRPr sz="1700">
                <a:solidFill>
                  <a:srgbClr val="FFFFFF">
                    <a:alpha val="42000"/>
                  </a:srgbClr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Disputes</a:t>
            </a:r>
          </a:p>
        </p:txBody>
      </p:sp>
      <p:sp>
        <p:nvSpPr>
          <p:cNvPr id="740" name="t"/>
          <p:cNvSpPr txBox="1"/>
          <p:nvPr/>
        </p:nvSpPr>
        <p:spPr>
          <a:xfrm>
            <a:off x="771525" y="4314825"/>
            <a:ext cx="4829175" cy="457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85500"/>
              </a:lnSpc>
              <a:defRPr sz="2600">
                <a:solidFill>
                  <a:srgbClr val="FFFFFF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The queue an operator works</a:t>
            </a:r>
          </a:p>
        </p:txBody>
      </p:sp>
      <p:sp>
        <p:nvSpPr>
          <p:cNvPr id="741" name="Rectangle 8"/>
          <p:cNvSpPr/>
          <p:nvPr/>
        </p:nvSpPr>
        <p:spPr>
          <a:xfrm>
            <a:off x="771525" y="4818062"/>
            <a:ext cx="4124325" cy="12701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742" name="t"/>
          <p:cNvSpPr txBox="1"/>
          <p:nvPr/>
        </p:nvSpPr>
        <p:spPr>
          <a:xfrm>
            <a:off x="771525" y="4953000"/>
            <a:ext cx="4829175" cy="3524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15000"/>
              </a:lnSpc>
              <a:defRPr sz="1700">
                <a:solidFill>
                  <a:srgbClr val="FFFFFF">
                    <a:alpha val="64000"/>
                  </a:srgbClr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One row per dispute, by standing</a:t>
            </a:r>
          </a:p>
        </p:txBody>
      </p:sp>
      <p:sp>
        <p:nvSpPr>
          <p:cNvPr id="743" name="Rectangle 10"/>
          <p:cNvSpPr/>
          <p:nvPr/>
        </p:nvSpPr>
        <p:spPr>
          <a:xfrm>
            <a:off x="771525" y="5380037"/>
            <a:ext cx="4124325" cy="12701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744" name="t"/>
          <p:cNvSpPr txBox="1"/>
          <p:nvPr/>
        </p:nvSpPr>
        <p:spPr>
          <a:xfrm>
            <a:off x="771525" y="5514975"/>
            <a:ext cx="4829175" cy="3524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15000"/>
              </a:lnSpc>
              <a:defRPr sz="1700">
                <a:solidFill>
                  <a:srgbClr val="FFFFFF">
                    <a:alpha val="64000"/>
                  </a:srgbClr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Approve in one click</a:t>
            </a:r>
          </a:p>
        </p:txBody>
      </p:sp>
      <p:sp>
        <p:nvSpPr>
          <p:cNvPr id="745" name="Rectangle 12"/>
          <p:cNvSpPr/>
          <p:nvPr/>
        </p:nvSpPr>
        <p:spPr>
          <a:xfrm>
            <a:off x="771525" y="5942012"/>
            <a:ext cx="4124325" cy="12701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746" name="t"/>
          <p:cNvSpPr txBox="1"/>
          <p:nvPr/>
        </p:nvSpPr>
        <p:spPr>
          <a:xfrm>
            <a:off x="771525" y="6076950"/>
            <a:ext cx="4829175" cy="3524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15000"/>
              </a:lnSpc>
              <a:defRPr sz="1700">
                <a:solidFill>
                  <a:srgbClr val="FFFFFF">
                    <a:alpha val="64000"/>
                  </a:srgbClr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Reject and the reason opens inline</a:t>
            </a:r>
          </a:p>
        </p:txBody>
      </p:sp>
      <p:sp>
        <p:nvSpPr>
          <p:cNvPr id="747" name="Rectangle 14"/>
          <p:cNvSpPr/>
          <p:nvPr/>
        </p:nvSpPr>
        <p:spPr>
          <a:xfrm>
            <a:off x="771525" y="6503987"/>
            <a:ext cx="4124325" cy="12701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748" name="t"/>
          <p:cNvSpPr txBox="1"/>
          <p:nvPr/>
        </p:nvSpPr>
        <p:spPr>
          <a:xfrm>
            <a:off x="771525" y="6638925"/>
            <a:ext cx="4829175" cy="3524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15000"/>
              </a:lnSpc>
              <a:defRPr sz="1700">
                <a:solidFill>
                  <a:srgbClr val="FFFFFF">
                    <a:alpha val="64000"/>
                  </a:srgbClr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An unreadable rejection is decided twice</a:t>
            </a:r>
          </a:p>
        </p:txBody>
      </p:sp>
      <p:sp>
        <p:nvSpPr>
          <p:cNvPr id="749" name="Rounded Rectangle 16"/>
          <p:cNvSpPr/>
          <p:nvPr/>
        </p:nvSpPr>
        <p:spPr>
          <a:xfrm>
            <a:off x="6381750" y="3619500"/>
            <a:ext cx="5534025" cy="3619500"/>
          </a:xfrm>
          <a:prstGeom prst="roundRect">
            <a:avLst>
              <a:gd name="adj" fmla="val 3158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18000"/>
              </a:srgbClr>
            </a:solidFill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750" name="t"/>
          <p:cNvSpPr txBox="1"/>
          <p:nvPr/>
        </p:nvSpPr>
        <p:spPr>
          <a:xfrm>
            <a:off x="6734175" y="3914775"/>
            <a:ext cx="4829175" cy="323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06786"/>
              </a:lnSpc>
              <a:defRPr sz="1700">
                <a:solidFill>
                  <a:srgbClr val="FFFFFF">
                    <a:alpha val="42000"/>
                  </a:srgbClr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Risk</a:t>
            </a:r>
          </a:p>
        </p:txBody>
      </p:sp>
      <p:sp>
        <p:nvSpPr>
          <p:cNvPr id="751" name="t"/>
          <p:cNvSpPr txBox="1"/>
          <p:nvPr/>
        </p:nvSpPr>
        <p:spPr>
          <a:xfrm>
            <a:off x="6734175" y="4314825"/>
            <a:ext cx="4829175" cy="457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85500"/>
              </a:lnSpc>
              <a:defRPr sz="2600">
                <a:solidFill>
                  <a:srgbClr val="FFFFFF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Who is worth a second look</a:t>
            </a:r>
          </a:p>
        </p:txBody>
      </p:sp>
      <p:sp>
        <p:nvSpPr>
          <p:cNvPr id="752" name="Rectangle 19"/>
          <p:cNvSpPr/>
          <p:nvPr/>
        </p:nvSpPr>
        <p:spPr>
          <a:xfrm>
            <a:off x="6734175" y="4818062"/>
            <a:ext cx="4124325" cy="12701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753" name="t"/>
          <p:cNvSpPr txBox="1"/>
          <p:nvPr/>
        </p:nvSpPr>
        <p:spPr>
          <a:xfrm>
            <a:off x="6734175" y="4953000"/>
            <a:ext cx="4829175" cy="3524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15000"/>
              </a:lnSpc>
              <a:defRPr sz="1700">
                <a:solidFill>
                  <a:srgbClr val="FFFFFF">
                    <a:alpha val="64000"/>
                  </a:srgbClr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Built from the three judged tags</a:t>
            </a:r>
          </a:p>
        </p:txBody>
      </p:sp>
      <p:sp>
        <p:nvSpPr>
          <p:cNvPr id="754" name="Rectangle 21"/>
          <p:cNvSpPr/>
          <p:nvPr/>
        </p:nvSpPr>
        <p:spPr>
          <a:xfrm>
            <a:off x="6734175" y="5380037"/>
            <a:ext cx="4124325" cy="12701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755" name="t"/>
          <p:cNvSpPr txBox="1"/>
          <p:nvPr/>
        </p:nvSpPr>
        <p:spPr>
          <a:xfrm>
            <a:off x="6734175" y="5514975"/>
            <a:ext cx="4829175" cy="3524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15000"/>
              </a:lnSpc>
              <a:defRPr sz="1700">
                <a:solidFill>
                  <a:srgbClr val="FFFFFF">
                    <a:alpha val="64000"/>
                  </a:srgbClr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Judged, unjudged and no row differ</a:t>
            </a:r>
          </a:p>
        </p:txBody>
      </p:sp>
      <p:sp>
        <p:nvSpPr>
          <p:cNvPr id="756" name="Rectangle 23"/>
          <p:cNvSpPr/>
          <p:nvPr/>
        </p:nvSpPr>
        <p:spPr>
          <a:xfrm>
            <a:off x="6734175" y="5942012"/>
            <a:ext cx="4124325" cy="12701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757" name="t"/>
          <p:cNvSpPr txBox="1"/>
          <p:nvPr/>
        </p:nvSpPr>
        <p:spPr>
          <a:xfrm>
            <a:off x="6734175" y="6076950"/>
            <a:ext cx="4829175" cy="3524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15000"/>
              </a:lnSpc>
              <a:defRPr sz="1700">
                <a:solidFill>
                  <a:srgbClr val="FFFFFF">
                    <a:alpha val="64000"/>
                  </a:srgbClr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An em dash where nothing is known</a:t>
            </a:r>
          </a:p>
        </p:txBody>
      </p:sp>
      <p:sp>
        <p:nvSpPr>
          <p:cNvPr id="758" name="Rectangle 25"/>
          <p:cNvSpPr/>
          <p:nvPr/>
        </p:nvSpPr>
        <p:spPr>
          <a:xfrm>
            <a:off x="6734175" y="6503987"/>
            <a:ext cx="4124325" cy="12701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759" name="t"/>
          <p:cNvSpPr txBox="1"/>
          <p:nvPr/>
        </p:nvSpPr>
        <p:spPr>
          <a:xfrm>
            <a:off x="6734175" y="6638925"/>
            <a:ext cx="4829175" cy="3524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15000"/>
              </a:lnSpc>
              <a:defRPr sz="1700">
                <a:solidFill>
                  <a:srgbClr val="FFFFFF">
                    <a:alpha val="64000"/>
                  </a:srgbClr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Narrowed in a tested pure function, not a filter</a:t>
            </a:r>
          </a:p>
        </p:txBody>
      </p:sp>
      <p:sp>
        <p:nvSpPr>
          <p:cNvPr id="760" name="Rounded Rectangle 27"/>
          <p:cNvSpPr/>
          <p:nvPr/>
        </p:nvSpPr>
        <p:spPr>
          <a:xfrm>
            <a:off x="12344400" y="3619500"/>
            <a:ext cx="5534025" cy="3619500"/>
          </a:xfrm>
          <a:prstGeom prst="roundRect">
            <a:avLst>
              <a:gd name="adj" fmla="val 3158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18000"/>
              </a:srgbClr>
            </a:solidFill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761" name="t"/>
          <p:cNvSpPr txBox="1"/>
          <p:nvPr/>
        </p:nvSpPr>
        <p:spPr>
          <a:xfrm>
            <a:off x="12696825" y="3914775"/>
            <a:ext cx="4829175" cy="323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06786"/>
              </a:lnSpc>
              <a:defRPr sz="1700">
                <a:solidFill>
                  <a:srgbClr val="FFFFFF">
                    <a:alpha val="42000"/>
                  </a:srgbClr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Metrics</a:t>
            </a:r>
          </a:p>
        </p:txBody>
      </p:sp>
      <p:sp>
        <p:nvSpPr>
          <p:cNvPr id="762" name="t"/>
          <p:cNvSpPr txBox="1"/>
          <p:nvPr/>
        </p:nvSpPr>
        <p:spPr>
          <a:xfrm>
            <a:off x="12696825" y="4314825"/>
            <a:ext cx="4829175" cy="457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85500"/>
              </a:lnSpc>
              <a:defRPr sz="2600">
                <a:solidFill>
                  <a:srgbClr val="FFFFFF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The whole history, scored</a:t>
            </a:r>
          </a:p>
        </p:txBody>
      </p:sp>
      <p:sp>
        <p:nvSpPr>
          <p:cNvPr id="763" name="Rectangle 30"/>
          <p:cNvSpPr/>
          <p:nvPr/>
        </p:nvSpPr>
        <p:spPr>
          <a:xfrm>
            <a:off x="12696825" y="4818062"/>
            <a:ext cx="4124325" cy="12701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764" name="t"/>
          <p:cNvSpPr txBox="1"/>
          <p:nvPr/>
        </p:nvSpPr>
        <p:spPr>
          <a:xfrm>
            <a:off x="12696825" y="4953000"/>
            <a:ext cx="4829175" cy="3524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15000"/>
              </a:lnSpc>
              <a:defRPr sz="1700">
                <a:solidFill>
                  <a:srgbClr val="FFFFFF">
                    <a:alpha val="64000"/>
                  </a:srgbClr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Read from the analytics engine</a:t>
            </a:r>
          </a:p>
        </p:txBody>
      </p:sp>
      <p:sp>
        <p:nvSpPr>
          <p:cNvPr id="765" name="Rectangle 32"/>
          <p:cNvSpPr/>
          <p:nvPr/>
        </p:nvSpPr>
        <p:spPr>
          <a:xfrm>
            <a:off x="12696825" y="5380037"/>
            <a:ext cx="4124325" cy="12701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766" name="t"/>
          <p:cNvSpPr txBox="1"/>
          <p:nvPr/>
        </p:nvSpPr>
        <p:spPr>
          <a:xfrm>
            <a:off x="12696825" y="5514975"/>
            <a:ext cx="4829175" cy="3524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15000"/>
              </a:lnSpc>
              <a:defRPr sz="1700">
                <a:solidFill>
                  <a:srgbClr val="FFFFFF">
                    <a:alpha val="64000"/>
                  </a:srgbClr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Grouped by status, never filtered to true</a:t>
            </a:r>
          </a:p>
        </p:txBody>
      </p:sp>
      <p:sp>
        <p:nvSpPr>
          <p:cNvPr id="767" name="Rectangle 34"/>
          <p:cNvSpPr/>
          <p:nvPr/>
        </p:nvSpPr>
        <p:spPr>
          <a:xfrm>
            <a:off x="12696825" y="5942012"/>
            <a:ext cx="4124325" cy="12701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768" name="t"/>
          <p:cNvSpPr txBox="1"/>
          <p:nvPr/>
        </p:nvSpPr>
        <p:spPr>
          <a:xfrm>
            <a:off x="12696825" y="6076950"/>
            <a:ext cx="4829175" cy="3524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15000"/>
              </a:lnSpc>
              <a:defRPr sz="1700">
                <a:solidFill>
                  <a:srgbClr val="FFFFFF">
                    <a:alpha val="64000"/>
                  </a:srgbClr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Matched nobody is a measured zero</a:t>
            </a:r>
          </a:p>
        </p:txBody>
      </p:sp>
      <p:sp>
        <p:nvSpPr>
          <p:cNvPr id="769" name="Rectangle 36"/>
          <p:cNvSpPr/>
          <p:nvPr/>
        </p:nvSpPr>
        <p:spPr>
          <a:xfrm>
            <a:off x="12696825" y="6503987"/>
            <a:ext cx="4124325" cy="12701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770" name="t"/>
          <p:cNvSpPr txBox="1"/>
          <p:nvPr/>
        </p:nvSpPr>
        <p:spPr>
          <a:xfrm>
            <a:off x="12696825" y="6638925"/>
            <a:ext cx="4829175" cy="3524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15000"/>
              </a:lnSpc>
              <a:defRPr sz="1700">
                <a:solidFill>
                  <a:srgbClr val="FFFFFF">
                    <a:alpha val="64000"/>
                  </a:srgbClr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A metric never published is not</a:t>
            </a:r>
          </a:p>
        </p:txBody>
      </p:sp>
      <p:sp>
        <p:nvSpPr>
          <p:cNvPr id="771" name="footnote"/>
          <p:cNvSpPr txBox="1"/>
          <p:nvPr/>
        </p:nvSpPr>
        <p:spPr>
          <a:xfrm>
            <a:off x="419100" y="7620000"/>
            <a:ext cx="17449800" cy="6667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19107"/>
              </a:lnSpc>
              <a:defRPr sz="1700">
                <a:solidFill>
                  <a:srgbClr val="FFFFFF">
                    <a:alpha val="42000"/>
                  </a:srgbClr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Everything except one read goes through a Function: REST filtering is silently ignored, a row update replaces the whole record, and a full card number should never reach a browser. The interaction table is the recorded exception — one table, no join, read only, nothing on it that a browser should not see.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3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315200" y="4686300"/>
            <a:ext cx="3657600" cy="9144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000000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